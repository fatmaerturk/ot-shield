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15600" y="0"/>
            <a:ext cx="1673352" cy="20116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601200" y="0"/>
            <a:ext cx="914400" cy="109728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4B8A6"/>
                </a:solidFill>
                <a:latin typeface="Calibri"/>
              </a:rPr>
              <a:t>OTSHIELD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777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B0C4DE"/>
                </a:solidFill>
                <a:latin typeface="Calibri"/>
              </a:rPr>
              <a:t>Research-first. Offline-ready. Evidence-driven.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4B8A6"/>
                </a:solidFill>
                <a:latin typeface="Calibri"/>
              </a:rPr>
              <a:t>Partnership Proposal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972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Queen's University Belfast  ×  OTShield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CADCFC"/>
                </a:solidFill>
                <a:latin typeface="Calibri"/>
              </a:rPr>
              <a:t>An Innovate UK Calluna Bid: Advanced Cyber Defence for Energy CNI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5029200"/>
            <a:ext cx="2743200" cy="2743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5257800"/>
            <a:ext cx="73152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 i="0">
                <a:solidFill>
                  <a:srgbClr val="B0C4DE"/>
                </a:solidFill>
                <a:latin typeface="Calibri"/>
              </a:rPr>
              <a:t>Presented by: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Fatma Erturk, Founder &amp; CEO, Safetech Global Ltd (trading as OTShield)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0" i="0">
                <a:solidFill>
                  <a:srgbClr val="B0C4DE"/>
                </a:solidFill>
                <a:latin typeface="Calibri"/>
              </a:rPr>
              <a:t>fatma.erturk@otshield.io  |  otshield.io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0350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B0C4DE"/>
                </a:solidFill>
                <a:latin typeface="Calibri"/>
              </a:rPr>
              <a:t>May 2026  |  Online meeting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228600" cy="3657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C7293"/>
                </a:solidFill>
                <a:latin typeface="Calibri"/>
              </a:rPr>
              <a:t>TODAY'S CONVERSATION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1295C"/>
                </a:solidFill>
                <a:latin typeface="Calibri"/>
              </a:rPr>
              <a:t>What we'd like to cover in 25 minutes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1554480"/>
            <a:ext cx="502920" cy="50292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36192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1295C"/>
                </a:solidFill>
                <a:latin typeface="Calibri"/>
              </a:rPr>
              <a:t>Who OTShield 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8288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  <a:latin typeface="Calibri"/>
              </a:rPr>
              <a:t>Our platform, our award track record, what's already operational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2267712"/>
            <a:ext cx="502920" cy="50292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267712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249424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1295C"/>
                </a:solidFill>
                <a:latin typeface="Calibri"/>
              </a:rPr>
              <a:t>The Calluna opportunity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54203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  <a:latin typeface="Calibri"/>
              </a:rPr>
              <a:t>Innovate UK SBRI contract: £300K, 12 months, Energy CNI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2980944"/>
            <a:ext cx="502920" cy="50292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980944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962656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1295C"/>
                </a:solidFill>
                <a:latin typeface="Calibri"/>
              </a:rPr>
              <a:t>Why QUB CSIT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255263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  <a:latin typeface="Calibri"/>
              </a:rPr>
              <a:t>What we need from your SCADA lab and why no one else fits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" y="3694176"/>
            <a:ext cx="502920" cy="50292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694176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675888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1295C"/>
                </a:solidFill>
                <a:latin typeface="Calibri"/>
              </a:rPr>
              <a:t>Proposed partnership structure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968496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  <a:latin typeface="Calibri"/>
              </a:rPr>
              <a:t>Your role as a UK subcontractor — research, validation, IP</a:t>
            </a:r>
          </a:p>
        </p:txBody>
      </p:sp>
      <p:sp>
        <p:nvSpPr>
          <p:cNvPr id="22" name="Oval 21"/>
          <p:cNvSpPr/>
          <p:nvPr/>
        </p:nvSpPr>
        <p:spPr>
          <a:xfrm>
            <a:off x="640080" y="4407408"/>
            <a:ext cx="502920" cy="50292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407408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3891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1295C"/>
                </a:solidFill>
                <a:latin typeface="Calibri"/>
              </a:rPr>
              <a:t>What's in it for QUB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68172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  <a:latin typeface="Calibri"/>
              </a:rPr>
              <a:t>Funding, publications, industry case study, ongoing collaboration</a:t>
            </a:r>
          </a:p>
        </p:txBody>
      </p:sp>
      <p:sp>
        <p:nvSpPr>
          <p:cNvPr id="26" name="Oval 25"/>
          <p:cNvSpPr/>
          <p:nvPr/>
        </p:nvSpPr>
        <p:spPr>
          <a:xfrm>
            <a:off x="640080" y="5120640"/>
            <a:ext cx="502920" cy="50292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512064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102352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1295C"/>
                </a:solidFill>
                <a:latin typeface="Calibri"/>
              </a:rPr>
              <a:t>Next steps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539496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  <a:latin typeface="Calibri"/>
              </a:rPr>
              <a:t>Decision timeline and what we'd like to walk away with today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OTShield  |  Confidential — for Queen's University Belfast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521440" y="6565392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228600" cy="3657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C7293"/>
                </a:solidFill>
                <a:latin typeface="Calibri"/>
              </a:rPr>
              <a:t>ABOUT 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1295C"/>
                </a:solidFill>
                <a:latin typeface="Calibri"/>
              </a:rPr>
              <a:t>OTShield: a UK ICS security platform, not a research prototype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65A82"/>
                </a:solidFill>
                <a:latin typeface="Calibri"/>
              </a:rPr>
              <a:t>Who we 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5669280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1" i="0">
                <a:solidFill>
                  <a:srgbClr val="1E293B"/>
                </a:solidFill>
                <a:latin typeface="Calibri"/>
              </a:rPr>
              <a:t>Safetech Global Limited (trading as OTShield)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00" b="0" i="0">
                <a:solidFill>
                  <a:srgbClr val="64748B"/>
                </a:solidFill>
                <a:latin typeface="Calibri"/>
              </a:rPr>
              <a:t>UK-registered company (Reg. No. 15233187), incorporated October 2023, based at 7 Bell Yard, London.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1" i="0">
                <a:solidFill>
                  <a:srgbClr val="065A82"/>
                </a:solidFill>
                <a:latin typeface="Calibri"/>
              </a:rPr>
              <a:t>What we build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00" b="0" i="0">
                <a:solidFill>
                  <a:srgbClr val="1E293B"/>
                </a:solidFill>
                <a:latin typeface="Calibri"/>
              </a:rPr>
              <a:t>An ICS / OT cyber security platform combining a deception-based SOC layer with an offline research workbench. Purpose-built for critical national infrastructure operators.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1" i="0">
                <a:solidFill>
                  <a:srgbClr val="065A82"/>
                </a:solidFill>
                <a:latin typeface="Calibri"/>
              </a:rPr>
              <a:t>Where we stand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0" i="0">
                <a:solidFill>
                  <a:srgbClr val="1E293B"/>
                </a:solidFill>
                <a:latin typeface="Calibri"/>
              </a:rPr>
              <a:t>Pre-revenue, but commercially structured: three published price tiers (£20K / £50K / £75K per year), active pipeline, NIS2 / IEC 62443 / NCSC CAF alignment.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554480"/>
            <a:ext cx="5212080" cy="128016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69164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4B8A6"/>
                </a:solidFill>
                <a:latin typeface="Calibri"/>
              </a:rPr>
              <a:t>RECOGNITION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96596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Most Innovative OT Security Company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33172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CADCFC"/>
                </a:solidFill>
                <a:latin typeface="Calibri"/>
              </a:rPr>
              <a:t>UK Enterprise Awards  |  12 industry awards to date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3017520"/>
            <a:ext cx="1673352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3127248"/>
            <a:ext cx="16733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 i="0">
                <a:solidFill>
                  <a:srgbClr val="065A82"/>
                </a:solidFill>
                <a:latin typeface="Calibri"/>
              </a:rPr>
              <a:t>157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657600"/>
            <a:ext cx="1673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E293B"/>
                </a:solidFill>
                <a:latin typeface="Calibri"/>
              </a:rPr>
              <a:t>unique attackers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950208"/>
            <a:ext cx="1673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64748B"/>
                </a:solidFill>
                <a:latin typeface="Calibri"/>
              </a:rPr>
              <a:t>captured live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11312" y="3017520"/>
            <a:ext cx="1673352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11312" y="3127248"/>
            <a:ext cx="16733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 i="0">
                <a:solidFill>
                  <a:srgbClr val="065A82"/>
                </a:solidFill>
                <a:latin typeface="Calibri"/>
              </a:rPr>
              <a:t>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11312" y="3657600"/>
            <a:ext cx="1673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E293B"/>
                </a:solidFill>
                <a:latin typeface="Calibri"/>
              </a:rPr>
              <a:t>source countries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11312" y="3950208"/>
            <a:ext cx="1673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64748B"/>
                </a:solidFill>
                <a:latin typeface="Calibri"/>
              </a:rPr>
              <a:t>ICS-aware actors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930384" y="3017520"/>
            <a:ext cx="1673352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30384" y="3127248"/>
            <a:ext cx="16733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 i="0">
                <a:solidFill>
                  <a:srgbClr val="065A82"/>
                </a:solidFill>
                <a:latin typeface="Calibri"/>
              </a:rPr>
              <a:t>12,968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30384" y="3657600"/>
            <a:ext cx="1673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E293B"/>
                </a:solidFill>
                <a:latin typeface="Calibri"/>
              </a:rPr>
              <a:t>real attacks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30384" y="3950208"/>
            <a:ext cx="1673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64748B"/>
                </a:solidFill>
                <a:latin typeface="Calibri"/>
              </a:rPr>
              <a:t>in first days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92240" y="4572000"/>
            <a:ext cx="5212080" cy="1691640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0" y="470916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CCFBF1"/>
                </a:solidFill>
                <a:latin typeface="Calibri"/>
              </a:rPr>
              <a:t>LIVE EVIDENCE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4983480"/>
            <a:ext cx="48463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Internet-exposed decoy fabric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0" i="0">
                <a:solidFill>
                  <a:srgbClr val="E6FFFA"/>
                </a:solidFill>
                <a:latin typeface="Calibri"/>
              </a:rPr>
              <a:t>Operating live today against real attackers. Realistic protocol-aware decoys for Modbus, S7Comm, EtherNet/IP, OPC UA, DNP3.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OTShield  |  Confidential — for Queen's University Belfast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521440" y="6565392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228600" cy="3657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C7293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1295C"/>
                </a:solidFill>
                <a:latin typeface="Calibri"/>
              </a:rPr>
              <a:t>UK Energy CNI is under attack — and current tooling falls short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3794760" cy="4023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1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3794760" cy="731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8308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DC2626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40280"/>
            <a:ext cx="3246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1295C"/>
                </a:solidFill>
                <a:latin typeface="Calibri"/>
              </a:rPr>
              <a:t>Sophisticated actors targeting CNI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08960"/>
            <a:ext cx="32461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State-aligned and criminal groups increasingly probing ICS protocols. UK NCSC publicly warns about CNI compromise.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20640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Annual Review 2024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8264" y="1554480"/>
            <a:ext cx="3794760" cy="4023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1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98264" y="1554480"/>
            <a:ext cx="3794760" cy="731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72584" y="178308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DC2626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2584" y="2240280"/>
            <a:ext cx="3246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1295C"/>
                </a:solidFill>
                <a:latin typeface="Calibri"/>
              </a:rPr>
              <a:t>Legacy OT infrastructure exposure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72584" y="3108960"/>
            <a:ext cx="32461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Decade-old PLCs, RTUs, HMIs running protocols designed without authentication. Patching cycles measured in years, not days.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72584" y="5120640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Modbus, IEC 104, DNP3, S7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39328" y="1554480"/>
            <a:ext cx="3794760" cy="4023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1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39328" y="1554480"/>
            <a:ext cx="3794760" cy="731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13648" y="178308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DC2626"/>
                </a:solidFill>
                <a:latin typeface="Calibr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13648" y="2240280"/>
            <a:ext cx="3246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1295C"/>
                </a:solidFill>
                <a:latin typeface="Calibri"/>
              </a:rPr>
              <a:t>Detection blind spots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13648" y="3108960"/>
            <a:ext cx="32461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Conventional IT security tools don't speak ICS protocols. SOC teams see network anomalies but not OT semantics.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13648" y="5120640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Dragos / Claroty gaps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576072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58521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4B8A6"/>
                </a:solidFill>
                <a:latin typeface="Calibri"/>
              </a:rPr>
              <a:t>The gap Innovate UK wants to close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  <a:latin typeface="Calibri"/>
              </a:rPr>
              <a:t>Proactive, deception-aware defence + threat hunting for CNI — proven in a real operational environment.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OTShield  |  Confidential — for Queen's University Belfast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521440" y="6565392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228600" cy="3657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C7293"/>
                </a:solidFill>
                <a:latin typeface="Calibri"/>
              </a:rPr>
              <a:t>OUR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1295C"/>
                </a:solidFill>
                <a:latin typeface="Calibri"/>
              </a:rPr>
              <a:t>OTShield: deception + research, purpose-built for 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5623560" cy="457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1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5623560" cy="5029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27632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01 — SOC Mode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48840"/>
            <a:ext cx="5074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21295C"/>
                </a:solidFill>
                <a:latin typeface="Calibri"/>
              </a:rPr>
              <a:t>Deception Fabric &amp; Live Threat Intel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43200"/>
            <a:ext cx="507492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 i="0">
                <a:solidFill>
                  <a:srgbClr val="1E293B"/>
                </a:solidFill>
                <a:latin typeface="Calibri"/>
              </a:rPr>
              <a:t>•  Protocol-aware decoys: Modbus, S7Comm, EtherNet/IP, OPC UA, DNP3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 i="0">
                <a:solidFill>
                  <a:srgbClr val="1E293B"/>
                </a:solidFill>
                <a:latin typeface="Calibri"/>
              </a:rPr>
              <a:t>•  Realistic HMIs: Siemens WinCC, Rockwell, Schneider, refinery / substation / water plant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 i="0">
                <a:solidFill>
                  <a:srgbClr val="1E293B"/>
                </a:solidFill>
                <a:latin typeface="Calibri"/>
              </a:rPr>
              <a:t>•  Full MITRE ATT&amp;CK for ICS kill-chain coverage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 i="0">
                <a:solidFill>
                  <a:srgbClr val="1E293B"/>
                </a:solidFill>
                <a:latin typeface="Calibri"/>
              </a:rPr>
              <a:t>•  Internet-exposed live deployment — 12,968 real attacks captured to date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 i="0">
                <a:solidFill>
                  <a:srgbClr val="1E293B"/>
                </a:solidFill>
                <a:latin typeface="Calibri"/>
              </a:rPr>
              <a:t>•  SIEM / SOAR / TAXII / MISP integration ready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5577840"/>
            <a:ext cx="5074920" cy="411480"/>
          </a:xfrm>
          <a:prstGeom prst="rect">
            <a:avLst/>
          </a:prstGeom>
          <a:solidFill>
            <a:srgbClr val="F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632704"/>
            <a:ext cx="48920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065A82"/>
                </a:solidFill>
                <a:latin typeface="Calibri"/>
              </a:rPr>
              <a:t>TRL 7  —  operational, internet-exposed, validated against real attackers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5352" y="1554480"/>
            <a:ext cx="5623560" cy="457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1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45352" y="1554480"/>
            <a:ext cx="5623560" cy="5029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1627632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02 — Research Mode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9672" y="2148840"/>
            <a:ext cx="5074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21295C"/>
                </a:solidFill>
                <a:latin typeface="Calibri"/>
              </a:rPr>
              <a:t>Offline Vulnerability Research Workbench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9672" y="2743200"/>
            <a:ext cx="507492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 i="0">
                <a:solidFill>
                  <a:srgbClr val="1E293B"/>
                </a:solidFill>
                <a:latin typeface="Calibri"/>
              </a:rPr>
              <a:t>•  Java + Spring Boot backend, fully air-gapped (no cloud calls)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 i="0">
                <a:solidFill>
                  <a:srgbClr val="1E293B"/>
                </a:solidFill>
                <a:latin typeface="Calibri"/>
              </a:rPr>
              <a:t>•  Local LLM (Ollama) for offline summarisation and Q&amp;A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 i="0">
                <a:solidFill>
                  <a:srgbClr val="1E293B"/>
                </a:solidFill>
                <a:latin typeface="Calibri"/>
              </a:rPr>
              <a:t>•  Asset inventory, ports &amp; services, PCAP analysis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 i="0">
                <a:solidFill>
                  <a:srgbClr val="1E293B"/>
                </a:solidFill>
                <a:latin typeface="Calibri"/>
              </a:rPr>
              <a:t>•  Bundle-based workspaces with citations and confidence scoring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 i="0">
                <a:solidFill>
                  <a:srgbClr val="1E293B"/>
                </a:solidFill>
                <a:latin typeface="Calibri"/>
              </a:rPr>
              <a:t>•  Originally funded by HMGCC (Phase 1, 2026)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19672" y="5577840"/>
            <a:ext cx="5074920" cy="411480"/>
          </a:xfrm>
          <a:prstGeom prst="rect">
            <a:avLst/>
          </a:prstGeom>
          <a:solidFill>
            <a:srgbClr val="F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02552" y="5632704"/>
            <a:ext cx="48920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C7293"/>
                </a:solidFill>
                <a:latin typeface="Calibri"/>
              </a:rPr>
              <a:t>TRL 6  —  HMGCC Co-Creation deliverable, complementary to SOC Mode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1">
                <a:solidFill>
                  <a:srgbClr val="065A82"/>
                </a:solidFill>
                <a:latin typeface="Calibri"/>
              </a:rPr>
              <a:t>Same code base, two operational modes — already validated against real attackers, ready for CNI deployment.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OTShield  |  Confidential — for Queen's University Belfast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21440" y="6565392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228600" cy="3657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C7293"/>
                </a:solidFill>
                <a:latin typeface="Calibri"/>
              </a:rPr>
              <a:t>THE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1295C"/>
                </a:solidFill>
                <a:latin typeface="Calibri"/>
              </a:rPr>
              <a:t>Innovate UK Calluna  |  SBRI Contract for Cyber Security in CNI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5486400" cy="4846320"/>
          </a:xfrm>
          <a:prstGeom prst="roundRect">
            <a:avLst>
              <a:gd name="adj" fmla="val 8000"/>
            </a:avLst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4B8A6"/>
                </a:solidFill>
                <a:latin typeface="Calibri"/>
              </a:rPr>
              <a:t>PROGRAMME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Calluna — Contracts for Innovation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CADCFC"/>
                </a:solidFill>
                <a:latin typeface="Calibri"/>
              </a:rPr>
              <a:t>Run by Innovate UK (UKRI), under Procurement Act 2023 R&amp;D exemption.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5468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4B8A6"/>
                </a:solidFill>
                <a:latin typeface="Calibri"/>
              </a:rPr>
              <a:t>£3.5M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538728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total programme funding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315468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4B8A6"/>
                </a:solidFill>
                <a:latin typeface="Calibri"/>
              </a:rPr>
              <a:t>Up to 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3538728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contracts awarded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02336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4B8A6"/>
                </a:solidFill>
                <a:latin typeface="Calibri"/>
              </a:rPr>
              <a:t>£300K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407408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max per contract (VAT inc.)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402336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4B8A6"/>
                </a:solidFill>
                <a:latin typeface="Calibri"/>
              </a:rPr>
              <a:t>12 months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4407408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project duration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89204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4B8A6"/>
                </a:solidFill>
                <a:latin typeface="Calibri"/>
              </a:rPr>
              <a:t>Sep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276088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earliest start date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7560" y="489204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4B8A6"/>
                </a:solidFill>
                <a:latin typeface="Calibri"/>
              </a:rPr>
              <a:t>TRL 7 → 8+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37560" y="5276088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expected progression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15544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65A82"/>
                </a:solidFill>
                <a:latin typeface="Calibri"/>
              </a:rPr>
              <a:t>What Calluna requires from us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2057400"/>
            <a:ext cx="54864" cy="64008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205740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1295C"/>
                </a:solidFill>
                <a:latin typeface="Calibri"/>
              </a:rPr>
              <a:t>Sector focus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233172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One of 9 critical sectors — we choose Energy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2770632"/>
            <a:ext cx="54864" cy="64008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2770632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1295C"/>
                </a:solidFill>
                <a:latin typeface="Calibri"/>
              </a:rPr>
              <a:t>R&amp;D content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3044952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At least 50% of contract value attributed to R&amp;D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3483864"/>
            <a:ext cx="54864" cy="64008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3483864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1295C"/>
                </a:solidFill>
                <a:latin typeface="Calibri"/>
              </a:rPr>
              <a:t>UK-only delivery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3758184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All work and deliverables in the UK; subcontractors UK-based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4197096"/>
            <a:ext cx="54864" cy="64008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0" y="4197096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1295C"/>
                </a:solidFill>
                <a:latin typeface="Calibri"/>
              </a:rPr>
              <a:t>Real operational environment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4471416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Deploy in a real critical sector organisation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9360" y="4910328"/>
            <a:ext cx="54864" cy="64008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0" y="491032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1295C"/>
                </a:solidFill>
                <a:latin typeface="Calibri"/>
              </a:rPr>
              <a:t>Commercialisation plan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5184648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Business model + case study at project end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09360" y="5623560"/>
            <a:ext cx="54864" cy="64008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92240" y="562356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1295C"/>
                </a:solidFill>
                <a:latin typeface="Calibri"/>
              </a:rPr>
              <a:t>Single legal entity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2240" y="589788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Contract awarded to one applicant; no consortia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OTShield  |  Confidential — for Queen's University Belfast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521440" y="6565392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228600" cy="3657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C7293"/>
                </a:solidFill>
                <a:latin typeface="Calibri"/>
              </a:rPr>
              <a:t>WHY QUB CSIT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1295C"/>
                </a:solidFill>
                <a:latin typeface="Calibri"/>
              </a:rPr>
              <a:t>We need world-class ICS validation — you are the natural fit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11247120" cy="82296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27632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Calluna requires evidence that this works in a real, complex operational environment.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38528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CADCFC"/>
                </a:solidFill>
                <a:latin typeface="Calibri"/>
              </a:rPr>
              <a:t>Internet-exposed decoy data alone won't be enough — assessors will want independent, controlled validation against ICS systems at scale.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606040"/>
            <a:ext cx="379476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1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1520" y="2880360"/>
            <a:ext cx="640080" cy="64008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88036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703320"/>
            <a:ext cx="3246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1295C"/>
                </a:solidFill>
                <a:latin typeface="Calibri"/>
              </a:rPr>
              <a:t>World-class ICS lab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297680"/>
            <a:ext cx="32461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CSIT operates a full-scale SCADA / ICS testbed with real industrial equipment — exactly the environment Innovate UK assessors will recognise as TRL 7 validation.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8264" y="2606040"/>
            <a:ext cx="379476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1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672584" y="2880360"/>
            <a:ext cx="640080" cy="64008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72584" y="288036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72584" y="3703320"/>
            <a:ext cx="3246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1295C"/>
                </a:solidFill>
                <a:latin typeface="Calibri"/>
              </a:rPr>
              <a:t>Independent academic credibility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72584" y="4297680"/>
            <a:ext cx="32461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Industry tooling needs independent verification. A peer-reviewed validation by QUB carries weight no commercial test house can match.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39328" y="2606040"/>
            <a:ext cx="379476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1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613648" y="2880360"/>
            <a:ext cx="640080" cy="64008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13648" y="288036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13648" y="3703320"/>
            <a:ext cx="3246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1295C"/>
                </a:solidFill>
                <a:latin typeface="Calibri"/>
              </a:rPr>
              <a:t>Industry network in NI energy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13648" y="4297680"/>
            <a:ext cx="32461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CSIT's existing relationships with NIE Networks, SONI and the wider UK energy sector accelerate finding an end-user operator — critical for Calluna eligibility.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065A82"/>
                </a:solidFill>
                <a:latin typeface="Calibri"/>
              </a:rPr>
              <a:t>What this means in practice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327648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1">
                <a:solidFill>
                  <a:srgbClr val="1E293B"/>
                </a:solidFill>
                <a:latin typeface="Calibri"/>
              </a:rPr>
              <a:t>QUB CSIT becomes our UK subcontractor — providing the test environment, validation methodology and industry warm-intro to an Energy end-user.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OTShield  |  Confidential — for Queen's University Belfast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521440" y="6565392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228600" cy="3657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C7293"/>
                </a:solidFill>
                <a:latin typeface="Calibri"/>
              </a:rPr>
              <a:t>PARTNERSHIP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1295C"/>
                </a:solidFill>
                <a:latin typeface="Calibri"/>
              </a:rPr>
              <a:t>How Calluna's rules shape our proposed arrangement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1554480"/>
            <a:ext cx="5760720" cy="86868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0" y="1627632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4B8A6"/>
                </a:solidFill>
                <a:latin typeface="Calibri"/>
              </a:rPr>
              <a:t>LEAD APPLICANT  —  Contract holder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1901952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Safetech Global Ltd (OTShield)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2212848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CADCFC"/>
                </a:solidFill>
                <a:latin typeface="Calibri"/>
              </a:rPr>
              <a:t>Delivery lead, IP owner, primary R&amp;D execution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23360" y="2423160"/>
            <a:ext cx="45720" cy="41148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92440" y="2423160"/>
            <a:ext cx="45720" cy="41148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4400" y="2880360"/>
            <a:ext cx="5029200" cy="2286000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2971800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CCFBF1"/>
                </a:solidFill>
                <a:latin typeface="Calibri"/>
              </a:rPr>
              <a:t>SUBCONTRACTOR  —  Specialist skills (UK-based)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24612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Queen's University Belfast — CSIT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703320"/>
            <a:ext cx="46634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•  Provide ICS / SCADA test laboratory access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•  Independent validation of detection and response performance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•  Co-design of test methodology and threat scenarios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•  Warm-intro to UK Energy end-user operator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•  Co-authorship on resulting publication / case study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2880360"/>
            <a:ext cx="5029200" cy="2286000"/>
          </a:xfrm>
          <a:prstGeom prst="roundRect">
            <a:avLst>
              <a:gd name="adj" fmla="val 8000"/>
            </a:avLst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2971800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4B8A6"/>
                </a:solidFill>
                <a:latin typeface="Calibri"/>
              </a:rPr>
              <a:t>END-USER  —  Real operational environment (LoI)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24612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UK Energy CNI Operator (TBD)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703320"/>
            <a:ext cx="46634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•  Hosts the operational deployment of OTShield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•  Provides user-acceptability feedback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•  Validates business case and commercialisation route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•  Targets: NIE Networks, SONI, or UK mainland DNO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•  Confirmed via Letter of Intent before submission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486400"/>
            <a:ext cx="11247120" cy="960120"/>
          </a:xfrm>
          <a:prstGeom prst="roundRect">
            <a:avLst>
              <a:gd name="adj" fmla="val 8000"/>
            </a:avLst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57784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3B505"/>
                </a:solidFill>
                <a:latin typeface="Calibri"/>
              </a:rPr>
              <a:t>Important Calluna rule: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85216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1E293B"/>
                </a:solidFill>
                <a:latin typeface="Calibri"/>
              </a:rPr>
              <a:t>Calluna awards contracts to a single legal entity only — no consortia or partnerships. QUB participates as a UK-based subcontractor providing specialist skills. This is fully compliant with the programme rules.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OTShield  |  Confidential — for Queen's University Belfast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21440" y="6565392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228600" cy="3657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C7293"/>
                </a:solidFill>
                <a:latin typeface="Calibri"/>
              </a:rPr>
              <a:t>VALUE FOR QUB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1295C"/>
                </a:solidFill>
                <a:latin typeface="Calibri"/>
              </a:rPr>
              <a:t>What CSIT gets from this partnership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08760"/>
            <a:ext cx="3794760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1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91440" cy="22402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640080" cy="45720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8308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331720"/>
            <a:ext cx="3337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1295C"/>
                </a:solidFill>
                <a:latin typeface="Calibri"/>
              </a:rPr>
              <a:t>Funded R&amp;D engagement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743200"/>
            <a:ext cx="3337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Subcontract budget in the £40–60K range over 12 months — supports a post-doc / research engineer line and covers lab time.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8264" y="1508760"/>
            <a:ext cx="3794760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1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98264" y="1508760"/>
            <a:ext cx="91440" cy="224028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72584" y="1783080"/>
            <a:ext cx="640080" cy="457200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72584" y="178308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PUB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72584" y="2331720"/>
            <a:ext cx="3337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1295C"/>
                </a:solidFill>
                <a:latin typeface="Calibri"/>
              </a:rPr>
              <a:t>Publication-grade output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72584" y="2743200"/>
            <a:ext cx="3337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Co-authored conference paper (target: ICS-CSR, ESORICS, ACSAC) and an Innovate UK case study with national visibility.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39328" y="1508760"/>
            <a:ext cx="3794760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1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39328" y="1508760"/>
            <a:ext cx="91440" cy="224028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613648" y="1783080"/>
            <a:ext cx="640080" cy="45720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13648" y="178308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IND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13648" y="2331720"/>
            <a:ext cx="3337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1295C"/>
                </a:solidFill>
                <a:latin typeface="Calibri"/>
              </a:rPr>
              <a:t>Industry case study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13648" y="2743200"/>
            <a:ext cx="3337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Real-world deployment with a UK Energy operator — research bridges directly into operational impact, which counts for REF and KEF.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886200"/>
            <a:ext cx="3794760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1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3886200"/>
            <a:ext cx="91440" cy="224028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31520" y="4160520"/>
            <a:ext cx="640080" cy="457200"/>
          </a:xfrm>
          <a:prstGeom prst="roundRect">
            <a:avLst>
              <a:gd name="adj" fmla="val 8000"/>
            </a:avLst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16052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IP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709160"/>
            <a:ext cx="3337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1295C"/>
                </a:solidFill>
                <a:latin typeface="Calibri"/>
              </a:rPr>
              <a:t>Clear and fair IP terms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120640"/>
            <a:ext cx="3337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OTShield retains product IP; QUB retains all academic IP and publication rights. Background IP fully respected and ring-fenced.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98264" y="3886200"/>
            <a:ext cx="3794760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1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98264" y="3886200"/>
            <a:ext cx="91440" cy="22402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672584" y="4160520"/>
            <a:ext cx="640080" cy="457200"/>
          </a:xfrm>
          <a:prstGeom prst="roundRect">
            <a:avLst>
              <a:gd name="adj" fmla="val 8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72584" y="416052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NET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72584" y="4709160"/>
            <a:ext cx="3337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1295C"/>
                </a:solidFill>
                <a:latin typeface="Calibri"/>
              </a:rPr>
              <a:t>Ongoing collaboration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72584" y="5120640"/>
            <a:ext cx="3337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Foundation for future joint bids — EPSRC, Innovate UK follow-on rounds, NCSC programmes. OTShield platform stays available to CSIT.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339328" y="3886200"/>
            <a:ext cx="3794760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1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339328" y="3886200"/>
            <a:ext cx="91440" cy="2240280"/>
          </a:xfrm>
          <a:prstGeom prst="rect">
            <a:avLst/>
          </a:prstGeom>
          <a:solidFill>
            <a:srgbClr val="E3B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613648" y="4160520"/>
            <a:ext cx="640080" cy="457200"/>
          </a:xfrm>
          <a:prstGeom prst="roundRect">
            <a:avLst>
              <a:gd name="adj" fmla="val 8000"/>
            </a:avLst>
          </a:prstGeom>
          <a:solidFill>
            <a:srgbClr val="E3B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13648" y="416052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REC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13648" y="4709160"/>
            <a:ext cx="3337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1295C"/>
                </a:solidFill>
                <a:latin typeface="Calibri"/>
              </a:rPr>
              <a:t>Recognition with Innovate UK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13648" y="5120640"/>
            <a:ext cx="3337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QUB named on the application as the validated subcontractor and on all programme outputs. Strengthens CSIT's industry track record.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6309360"/>
            <a:ext cx="11247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065A82"/>
                </a:solidFill>
                <a:latin typeface="Calibri"/>
              </a:rPr>
              <a:t>A genuinely two-way partnership: research output and revenue for QUB, validation and credibility for OTShield.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OTShield  |  Confidential — for Queen's University Belfast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521440" y="6565392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228600" cy="3657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C7293"/>
                </a:solidFill>
                <a:latin typeface="Calibri"/>
              </a:rPr>
              <a:t>INDICATIVE BUDGET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1295C"/>
                </a:solidFill>
                <a:latin typeface="Calibri"/>
              </a:rPr>
              <a:t>What QUB's role looks like in numbers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65A82"/>
                </a:solidFill>
                <a:latin typeface="Calibri"/>
              </a:rPr>
              <a:t>Total project envelope: £300,000 (VAT inclusive)  •  12 months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6373368" cy="5486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30568" y="2103120"/>
            <a:ext cx="1874519" cy="5486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705088" y="2103120"/>
            <a:ext cx="1124712" cy="5486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829800" y="2103120"/>
            <a:ext cx="749808" cy="548640"/>
          </a:xfrm>
          <a:prstGeom prst="rect">
            <a:avLst/>
          </a:prstGeom>
          <a:solidFill>
            <a:srgbClr val="E3B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579608" y="2103120"/>
            <a:ext cx="562356" cy="54864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141964" y="2103120"/>
            <a:ext cx="562356" cy="54864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697479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64748B"/>
                </a:solidFill>
                <a:latin typeface="Calibri"/>
              </a:rPr>
              <a:t>Total: £300K (indicative split, VAT-inclusive)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017520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1295C"/>
                </a:solidFill>
                <a:latin typeface="Calibri"/>
              </a:rPr>
              <a:t>Budget 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01752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21295C"/>
                </a:solidFill>
                <a:latin typeface="Calibri"/>
              </a:rPr>
              <a:t>Amount (£K)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30175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1295C"/>
                </a:solidFill>
                <a:latin typeface="Calibri"/>
              </a:rPr>
              <a:t>Notes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291839"/>
            <a:ext cx="11247120" cy="1828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383280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OTShield labour + delivery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38328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065A82"/>
                </a:solidFill>
                <a:latin typeface="Calibri"/>
              </a:rPr>
              <a:t>170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33832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Founder + senior eng + advisor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675888"/>
            <a:ext cx="1124712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712464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QUB CSIT subcontract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712464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065A82"/>
                </a:solidFill>
                <a:latin typeface="Calibri"/>
              </a:rPr>
              <a:t>50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0" y="3712464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Lab access, validation, paper, intro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005072"/>
            <a:ext cx="1124712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041648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End-user engagement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04164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065A82"/>
                </a:solidFill>
                <a:latin typeface="Calibri"/>
              </a:rPr>
              <a:t>30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0" y="404164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Deployment support, on-site days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334256"/>
            <a:ext cx="1124712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4370832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Independent security review + HW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437083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065A82"/>
                </a:solidFill>
                <a:latin typeface="Calibri"/>
              </a:rPr>
              <a:t>20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0" y="437083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External assurance, test laptop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4663440"/>
            <a:ext cx="1124712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4700016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Travel + project mgmt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470001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065A82"/>
                </a:solidFill>
                <a:latin typeface="Calibri"/>
              </a:rPr>
              <a:t>15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20" y="4700016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On-site visits, PM overhead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4992624"/>
            <a:ext cx="1124712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5029200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Contingency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502920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065A82"/>
                </a:solidFill>
                <a:latin typeface="Calibri"/>
              </a:rPr>
              <a:t>15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61120" y="50292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5% of total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5321808"/>
            <a:ext cx="1124712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457200" y="5715000"/>
            <a:ext cx="11247120" cy="64008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5779008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1">
                <a:solidFill>
                  <a:srgbClr val="16A34A"/>
                </a:solidFill>
                <a:latin typeface="Calibri"/>
              </a:rPr>
              <a:t>Final QUB allocation tunable: we can flex this between £40K and £60K based on the scope of lab time and academic resource you'd bring in.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OTShield  |  Confidential — for Queen's University Belfast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521440" y="6565392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228600" cy="3657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C7293"/>
                </a:solidFill>
                <a:latin typeface="Calibri"/>
              </a:rPr>
              <a:t>PROJECT TIMELINE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1295C"/>
                </a:solidFill>
                <a:latin typeface="Calibri"/>
              </a:rPr>
              <a:t>12 months, with QUB engagement points marked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274320"/>
          </a:xfrm>
          <a:prstGeom prst="roundRect">
            <a:avLst>
              <a:gd name="adj" fmla="val 8000"/>
            </a:avLst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35657" y="1783080"/>
            <a:ext cx="365760" cy="36576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35657" y="17830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Q1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94560"/>
            <a:ext cx="27203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/>
              </a:rPr>
              <a:t>Months 1–3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19" y="2606040"/>
            <a:ext cx="253746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1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19" y="2606040"/>
            <a:ext cx="2537460" cy="7315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2770632"/>
            <a:ext cx="23545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65A82"/>
                </a:solidFill>
                <a:latin typeface="Calibri"/>
              </a:rPr>
              <a:t>Foundation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3108960"/>
            <a:ext cx="23545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Kick-off; threat model; lab setup; baseline build</a:t>
            </a:r>
          </a:p>
        </p:txBody>
      </p:sp>
      <p:sp>
        <p:nvSpPr>
          <p:cNvPr id="14" name="Oval 13"/>
          <p:cNvSpPr/>
          <p:nvPr/>
        </p:nvSpPr>
        <p:spPr>
          <a:xfrm>
            <a:off x="4555998" y="1783080"/>
            <a:ext cx="365760" cy="36576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55998" y="17830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Q2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60420" y="2194560"/>
            <a:ext cx="27203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/>
              </a:rPr>
              <a:t>Months 4–6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51860" y="2606040"/>
            <a:ext cx="253746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1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51860" y="2606040"/>
            <a:ext cx="2537460" cy="7315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43300" y="2770632"/>
            <a:ext cx="23545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C7293"/>
                </a:solidFill>
                <a:latin typeface="Calibri"/>
              </a:rPr>
              <a:t>Validation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43300" y="3108960"/>
            <a:ext cx="23545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Integrate at QUB SCADA lab; baseline detection metrics</a:t>
            </a:r>
          </a:p>
        </p:txBody>
      </p:sp>
      <p:sp>
        <p:nvSpPr>
          <p:cNvPr id="21" name="Oval 20"/>
          <p:cNvSpPr/>
          <p:nvPr/>
        </p:nvSpPr>
        <p:spPr>
          <a:xfrm>
            <a:off x="7276338" y="1783080"/>
            <a:ext cx="365760" cy="36576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76338" y="17830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Q3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2194560"/>
            <a:ext cx="27203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/>
              </a:rPr>
              <a:t>Months 7–9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2606040"/>
            <a:ext cx="253746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1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72200" y="2606040"/>
            <a:ext cx="2537460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63640" y="2770632"/>
            <a:ext cx="23545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4B8A6"/>
                </a:solidFill>
                <a:latin typeface="Calibri"/>
              </a:rPr>
              <a:t>Deployment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3108960"/>
            <a:ext cx="23545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Deploy at Energy end-user; collect operational feedback</a:t>
            </a:r>
          </a:p>
        </p:txBody>
      </p:sp>
      <p:sp>
        <p:nvSpPr>
          <p:cNvPr id="28" name="Oval 27"/>
          <p:cNvSpPr/>
          <p:nvPr/>
        </p:nvSpPr>
        <p:spPr>
          <a:xfrm>
            <a:off x="9996678" y="1783080"/>
            <a:ext cx="365760" cy="365760"/>
          </a:xfrm>
          <a:prstGeom prst="ellipse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96678" y="17830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Q4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01100" y="2194560"/>
            <a:ext cx="27203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/>
              </a:rPr>
              <a:t>Months 10–12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92540" y="2606040"/>
            <a:ext cx="253746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1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92540" y="2606040"/>
            <a:ext cx="2537460" cy="73152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83980" y="2770632"/>
            <a:ext cx="23545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1295C"/>
                </a:solidFill>
                <a:latin typeface="Calibri"/>
              </a:rPr>
              <a:t>Hardening + commercialisation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83980" y="3108960"/>
            <a:ext cx="23545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TRL 8 evidence; business case; final demos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470916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C7293"/>
                </a:solidFill>
                <a:latin typeface="Calibri"/>
              </a:rPr>
              <a:t>QUB engagement moments across the project</a:t>
            </a:r>
          </a:p>
        </p:txBody>
      </p:sp>
      <p:sp>
        <p:nvSpPr>
          <p:cNvPr id="36" name="Oval 35"/>
          <p:cNvSpPr/>
          <p:nvPr/>
        </p:nvSpPr>
        <p:spPr>
          <a:xfrm>
            <a:off x="457200" y="5074920"/>
            <a:ext cx="365760" cy="36576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50749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Q1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512064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Kick-off workshop, lab access agreement, joint test plan</a:t>
            </a:r>
          </a:p>
        </p:txBody>
      </p:sp>
      <p:sp>
        <p:nvSpPr>
          <p:cNvPr id="39" name="Oval 38"/>
          <p:cNvSpPr/>
          <p:nvPr/>
        </p:nvSpPr>
        <p:spPr>
          <a:xfrm>
            <a:off x="457200" y="5404104"/>
            <a:ext cx="365760" cy="36576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5404104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Q2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0120" y="5449824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Full lab validation campaign, mid-project review (on-site at QUB)</a:t>
            </a:r>
          </a:p>
        </p:txBody>
      </p:sp>
      <p:sp>
        <p:nvSpPr>
          <p:cNvPr id="42" name="Oval 41"/>
          <p:cNvSpPr/>
          <p:nvPr/>
        </p:nvSpPr>
        <p:spPr>
          <a:xfrm>
            <a:off x="457200" y="5733288"/>
            <a:ext cx="365760" cy="36576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573328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Q3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0120" y="5779008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Independent assessment, cross-site comparison with end-user data</a:t>
            </a:r>
          </a:p>
        </p:txBody>
      </p:sp>
      <p:sp>
        <p:nvSpPr>
          <p:cNvPr id="45" name="Oval 44"/>
          <p:cNvSpPr/>
          <p:nvPr/>
        </p:nvSpPr>
        <p:spPr>
          <a:xfrm>
            <a:off x="457200" y="6062472"/>
            <a:ext cx="365760" cy="36576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606247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Q4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0120" y="6108192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Co-authored paper draft, final independent validation report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OTShield  |  Confidential — for Queen's University Belfast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521440" y="6565392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228600" cy="3657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C7293"/>
                </a:solidFill>
                <a:latin typeface="Calibri"/>
              </a:rPr>
              <a:t>IP, RISK &amp;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1295C"/>
                </a:solidFill>
                <a:latin typeface="Calibri"/>
              </a:rPr>
              <a:t>Clean terms, clear boundaries, low surprise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3794760" cy="4572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27632"/>
            <a:ext cx="3429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INTELLECTUAL PROPERTY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3794760" cy="4069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1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14884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65A82"/>
                </a:solidFill>
                <a:latin typeface="Calibri"/>
              </a:rPr>
              <a:t>OTShield platform 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23160"/>
            <a:ext cx="3429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Retained by Safetech Global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92608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65A82"/>
                </a:solidFill>
                <a:latin typeface="Calibri"/>
              </a:rPr>
              <a:t>Background IP (CSIT)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200400"/>
            <a:ext cx="3429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Fully retained by QUB; ring-fenced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0332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65A82"/>
                </a:solidFill>
                <a:latin typeface="Calibri"/>
              </a:rPr>
              <a:t>Research outputs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977639"/>
            <a:ext cx="3429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Co-owned where jointly created; QUB free to publish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480559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65A82"/>
                </a:solidFill>
                <a:latin typeface="Calibri"/>
              </a:rPr>
              <a:t>End-user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754879"/>
            <a:ext cx="3429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Handled per data-sharing agreement; QUB access for validation only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257799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65A82"/>
                </a:solidFill>
                <a:latin typeface="Calibri"/>
              </a:rPr>
              <a:t>Innovate UK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532119"/>
            <a:ext cx="3429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Standard SBRI R&amp;D licence; commercial exploitation by OTShield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98264" y="1554480"/>
            <a:ext cx="3794760" cy="4572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81144" y="1627632"/>
            <a:ext cx="3429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RISK &amp; MITIGATION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98264" y="2011680"/>
            <a:ext cx="3794760" cy="4069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1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81144" y="214884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C7293"/>
                </a:solidFill>
                <a:latin typeface="Calibri"/>
              </a:rPr>
              <a:t>End-user delay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81144" y="2423160"/>
            <a:ext cx="3429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QUB warm-intro + parallel CyLon / Catapult outreach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81144" y="292608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C7293"/>
                </a:solidFill>
                <a:latin typeface="Calibri"/>
              </a:rPr>
              <a:t>Lab access scheduling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81144" y="3200400"/>
            <a:ext cx="3429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12-month window; QUB and OTShield jointly plan ahead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81144" y="370332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C7293"/>
                </a:solidFill>
                <a:latin typeface="Calibri"/>
              </a:rPr>
              <a:t>Publication timing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81144" y="3977639"/>
            <a:ext cx="3429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Coordinated with Innovate UK case-study release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81144" y="4480559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C7293"/>
                </a:solidFill>
                <a:latin typeface="Calibri"/>
              </a:rPr>
              <a:t>Sensitive end-user data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81144" y="4754879"/>
            <a:ext cx="3429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Anonymised in any publication; QUB sees lab data only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81144" y="5257799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C7293"/>
                </a:solidFill>
                <a:latin typeface="Calibri"/>
              </a:rPr>
              <a:t>Calluna competitive process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81144" y="5532119"/>
            <a:ext cx="3429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We assume some bid risk; QUB engagement is contingent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339328" y="1554480"/>
            <a:ext cx="3794760" cy="4572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22208" y="1627632"/>
            <a:ext cx="3429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GOVERNANCE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339328" y="2011680"/>
            <a:ext cx="3794760" cy="4069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1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22208" y="214884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4B8A6"/>
                </a:solidFill>
                <a:latin typeface="Calibri"/>
              </a:rPr>
              <a:t>Steering group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22208" y="2423160"/>
            <a:ext cx="3429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Monthly — OTShield lead + QUB PI + end-user rep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22208" y="292608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4B8A6"/>
                </a:solidFill>
                <a:latin typeface="Calibri"/>
              </a:rPr>
              <a:t>Working sessions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22208" y="3200400"/>
            <a:ext cx="3429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Bi-weekly tech sync (lab cadence)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22208" y="370332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4B8A6"/>
                </a:solidFill>
                <a:latin typeface="Calibri"/>
              </a:rPr>
              <a:t>Reporting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22208" y="3977639"/>
            <a:ext cx="3429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Joint quarterly report to Innovate UK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22208" y="4480559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4B8A6"/>
                </a:solidFill>
                <a:latin typeface="Calibri"/>
              </a:rPr>
              <a:t>Change control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22208" y="4754879"/>
            <a:ext cx="3429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Joint sign-off on any scope changes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22208" y="5257799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4B8A6"/>
                </a:solidFill>
                <a:latin typeface="Calibri"/>
              </a:rPr>
              <a:t>Decision rights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22208" y="5532119"/>
            <a:ext cx="3429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OTShield owns delivery; QUB owns lab methodology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309360"/>
            <a:ext cx="11247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64748B"/>
                </a:solidFill>
                <a:latin typeface="Calibri"/>
              </a:rPr>
              <a:t>We'll formalise these in a Subcontract Agreement and Data Sharing Agreement before the Calluna submission.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OTShield  |  Confidential — for Queen's University Belfast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521440" y="6565392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228600" cy="3657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C7293"/>
                </a:solidFill>
                <a:latin typeface="Calibri"/>
              </a:rP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1295C"/>
                </a:solidFill>
                <a:latin typeface="Calibri"/>
              </a:rPr>
              <a:t>What we'd like to walk away with today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379476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1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920240"/>
            <a:ext cx="2286000" cy="3657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TODAY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68880"/>
            <a:ext cx="3246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21295C"/>
                </a:solidFill>
                <a:latin typeface="Calibri"/>
              </a:rPr>
              <a:t>Confirm interest in principle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20440"/>
            <a:ext cx="324612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A signal that QUB sees this as a fit — enough for us to keep building the bid around the partnership.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8264" y="1645920"/>
            <a:ext cx="379476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1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672584" y="1920240"/>
            <a:ext cx="2286000" cy="36576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72584" y="19202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NEXT 2 WEEKS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72584" y="2468880"/>
            <a:ext cx="3246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21295C"/>
                </a:solidFill>
                <a:latin typeface="Calibri"/>
              </a:rPr>
              <a:t>Letter of Intent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2584" y="3520440"/>
            <a:ext cx="324612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A non-binding LoI from QUB confirming intention to subcontract under specific terms. Critical evidence for the Innovate UK submission.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39328" y="1645920"/>
            <a:ext cx="379476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1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13648" y="1920240"/>
            <a:ext cx="2286000" cy="36576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13648" y="19202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BEFORE SUBMISSION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13648" y="2468880"/>
            <a:ext cx="3246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21295C"/>
                </a:solidFill>
                <a:latin typeface="Calibri"/>
              </a:rPr>
              <a:t>Warm-intro to Energy operator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13648" y="3520440"/>
            <a:ext cx="324612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CSIT's existing relationship with NIE Networks / SONI / UK Energy operator — even a 30-min intro call would unlock end-user LoI.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577840"/>
            <a:ext cx="11247120" cy="960120"/>
          </a:xfrm>
          <a:prstGeom prst="roundRect">
            <a:avLst>
              <a:gd name="adj" fmla="val 8000"/>
            </a:avLst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66928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4B8A6"/>
                </a:solidFill>
                <a:latin typeface="Calibri"/>
              </a:rPr>
              <a:t>OUR DEADLINE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94360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Calluna submission window — Innovate UK closes at 11am UK time on the published deadline.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CADCFC"/>
                </a:solidFill>
                <a:latin typeface="Calibri"/>
              </a:rPr>
              <a:t>We're working back from that: LoI in place 2 weeks before, end-user confirmed by then too.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OTShield  |  Confidential — for Queen's University Belfast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21440" y="6565392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15600" y="0"/>
            <a:ext cx="1673352" cy="20116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601200" y="0"/>
            <a:ext cx="914400" cy="109728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4B8A6"/>
                </a:solidFill>
                <a:latin typeface="Calibri"/>
              </a:rPr>
              <a:t>OTSHIELD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14B8A6"/>
                </a:solidFill>
                <a:latin typeface="Calibri"/>
              </a:rPr>
              <a:t>Questions, thoughts, concerns?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68880"/>
            <a:ext cx="10972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Let's discuss.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114800"/>
            <a:ext cx="2743200" cy="2743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389120"/>
            <a:ext cx="91440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Fatma Erturk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300" b="0" i="1">
                <a:solidFill>
                  <a:srgbClr val="CADCFC"/>
                </a:solidFill>
                <a:latin typeface="Calibri"/>
              </a:rPr>
              <a:t>Founder &amp; CEO, Safetech Global Ltd (trading as OTShield)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400" b="1" i="0">
                <a:solidFill>
                  <a:srgbClr val="14B8A6"/>
                </a:solidFill>
                <a:latin typeface="Calibri"/>
              </a:rPr>
              <a:t>fatma.erturk@otshield.io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0" i="0">
                <a:solidFill>
                  <a:srgbClr val="CADCFC"/>
                </a:solidFill>
                <a:latin typeface="Calibri"/>
              </a:rPr>
              <a:t>otshield.io  |  +44 (0) 7453 641903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008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CADCFC"/>
                </a:solidFill>
                <a:latin typeface="Calibri"/>
              </a:rPr>
              <a:t>Thank you to Queen's University Belfast — Centre for Secure Information Technologies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