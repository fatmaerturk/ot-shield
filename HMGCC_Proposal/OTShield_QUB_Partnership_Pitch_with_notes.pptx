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(30-45 sec)</a:t>
            </a:r>
          </a:p>
          <a:p/>
          <a:p>
            <a:r>
              <a:t>Welcome them warmly and thank them for the time.</a:t>
            </a:r>
          </a:p>
          <a:p/>
          <a:p>
            <a:r>
              <a:t>"Thanks so much for making the time today. I know the QUB team has a lot on, so I really appreciate the chance to walk you through this.</a:t>
            </a:r>
          </a:p>
          <a:p/>
          <a:p>
            <a:r>
              <a:t>I'm Fatma, founder and CEO of OTShield. The reason we asked for this call is that we're putting together an Innovate UK bid for advanced cyber defence in the energy critical national infrastructure space — and Queen's CSIT is genuinely the most natural validation partner we could think of.</a:t>
            </a:r>
          </a:p>
          <a:p/>
          <a:p>
            <a:r>
              <a:t>The aim today isn't to ask you to commit to anything. It's to walk you through the opportunity, show you exactly what role we're proposing for QUB, and most importantly hear your thoughts and concerns. We've left plenty of time for discussion at the end."</a:t>
            </a:r>
          </a:p>
          <a:p/>
          <a:p>
            <a:r>
              <a:t>Then move to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(45 sec)</a:t>
            </a:r>
          </a:p>
          <a:p/>
          <a:p>
            <a:r>
              <a:t>Quick orientation so they know what to expect.</a:t>
            </a:r>
          </a:p>
          <a:p/>
          <a:p>
            <a:r>
              <a:t>"Here's roughly how I'd like to use our time. About 5 minutes on who OTShield is — just enough context so the rest makes sense. Then 5 minutes on the Innovate UK programme itself, because that frames why we're here. The next 10 minutes is the substance: why QUB, what role we'd propose, and what's in it for you. We close with next steps.</a:t>
            </a:r>
          </a:p>
          <a:p/>
          <a:p>
            <a:r>
              <a:t>I'll aim to leave about 15 minutes at the end for questions — but please jump in any time. This is a conversation, not a pitch."</a:t>
            </a:r>
          </a:p>
          <a:p/>
          <a:p>
            <a:r>
              <a:t>Pause briefly. Move to slide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OTSHIELD (90 sec)</a:t>
            </a:r>
          </a:p>
          <a:p/>
          <a:p>
            <a:r>
              <a:t>Establish credibility and prove we're not a research prototype.</a:t>
            </a:r>
          </a:p>
          <a:p/>
          <a:p>
            <a:r>
              <a:t>Key points to hit:</a:t>
            </a:r>
          </a:p>
          <a:p>
            <a:r>
              <a:t>- "Safetech Global is the legal entity — UK-registered, London-based, incorporated October 2023. OTShield is the product. We're a young company but we've already built a working platform."</a:t>
            </a:r>
          </a:p>
          <a:p>
            <a:r>
              <a:t>- "Pre-revenue, but commercially structured. We have published pricing tiers — £20K, £50K, £75K per year. NIS2, IEC 62443 and NCSC CAF aligned."</a:t>
            </a:r>
          </a:p>
          <a:p>
            <a:r>
              <a:t>- Recognition: "UK Enterprise Awards recently named us Most Innovative OT Security Company 2026 — public announcement is in July under embargo, but we've been notified."</a:t>
            </a:r>
          </a:p>
          <a:p>
            <a:r>
              <a:t>- Live evidence: "The 157 attackers, 20 countries, 12,968 attacks aren't lab numbers. They came from a few days of internet-exposed live deployment of our decoy fabric against real attackers. That's important context for what comes next."</a:t>
            </a:r>
          </a:p>
          <a:p/>
          <a:p>
            <a:r>
              <a:t>DON'T over-sell. Let the numbers do the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(60 sec)</a:t>
            </a:r>
          </a:p>
          <a:p/>
          <a:p>
            <a:r>
              <a:t>Set up the threat landscape so the Calluna programme makes sense.</a:t>
            </a:r>
          </a:p>
          <a:p/>
          <a:p>
            <a:r>
              <a:t>"This is the part most of you already know well, so I'll be brief. UK energy CNI is being probed by increasingly sophisticated actors. The OT estate is built on legacy protocols designed without authentication. And the conventional IT security stack — even mature OT platforms like Dragos or Claroty — has gaps in proactive, deception-based defence and threat hunting at the protocol level.</a:t>
            </a:r>
          </a:p>
          <a:p/>
          <a:p>
            <a:r>
              <a:t>Innovate UK looked at this gap and decided to put £3.5 million into closing it. That's the programme we're applying to. Which brings me to..."</a:t>
            </a:r>
          </a:p>
          <a:p/>
          <a:p>
            <a:r>
              <a:t>Move to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(90 sec)</a:t>
            </a:r>
          </a:p>
          <a:p/>
          <a:p>
            <a:r>
              <a:t>Show that we already have a working platform, not a concept.</a:t>
            </a:r>
          </a:p>
          <a:p/>
          <a:p>
            <a:r>
              <a:t>"Two operational modes from the same code base.</a:t>
            </a:r>
          </a:p>
          <a:p/>
          <a:p>
            <a:r>
              <a:t>SOC Mode is the deception layer — protocol-aware decoys for the major ICS protocols, full MITRE ATT&amp;CK for ICS kill chain coverage, SIEM and SOAR integrations. This is at TRL 7 today — already validated against real attackers on our internet-exposed deployment.</a:t>
            </a:r>
          </a:p>
          <a:p/>
          <a:p>
            <a:r>
              <a:t>Research Mode is the offline vulnerability research workbench — fully air-gapped, runs a local LLM, evidence-driven, with citations and confidence scoring. This is the one HMGCC just funded under their Co-Creation programme, so it's also operational.</a:t>
            </a:r>
          </a:p>
          <a:p/>
          <a:p>
            <a:r>
              <a:t>The point: this isn't 'we plan to build'. This is 'here's what already works, and Calluna takes it from TRL 7 to TRL 8 by deploying it in a real Energy operator's environment'.</a:t>
            </a:r>
          </a:p>
          <a:p/>
          <a:p>
            <a:r>
              <a:t>That's what brings us here."</a:t>
            </a:r>
          </a:p>
          <a:p/>
          <a:p>
            <a:r>
              <a:t>Move to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CALLUNA PROGRAMME (2-3 min) — CRITICAL SLIDE</a:t>
            </a:r>
          </a:p>
          <a:p/>
          <a:p>
            <a:r>
              <a:t>This is the framing for everything that follows. Take your time here.</a:t>
            </a:r>
          </a:p>
          <a:p/>
          <a:p>
            <a:r>
              <a:t>KEY MESSAGES:</a:t>
            </a:r>
          </a:p>
          <a:p>
            <a:r>
              <a:t>1. "Calluna is run by Innovate UK — that's the innovation agency of UKRI, fully part of UK government. £3.5 million total, up to 20 contracts. So roughly £175K average, but our slot is the maximum £300K, VAT inclusive."</a:t>
            </a:r>
          </a:p>
          <a:p/>
          <a:p>
            <a:r>
              <a:t>2. "It's a contract, not a grant. Procurement under the Procurement Act 2023 R&amp;D exemption. That matters for two reasons: a) the full project value is paid — no match funding — and b) it's competitive but structured like a commercial procurement."</a:t>
            </a:r>
          </a:p>
          <a:p/>
          <a:p>
            <a:r>
              <a:t>3. "12-month project, starting earliest 1 September 2026. So if we win, we'd be starting work this autumn."</a:t>
            </a:r>
          </a:p>
          <a:p/>
          <a:p>
            <a:r>
              <a:t>4. "TRL 7 going in, TRL 8 or above coming out. That's significant — Innovate UK is funding the step from 'works in a representative environment' to 'works in the real CNI environment'."</a:t>
            </a:r>
          </a:p>
          <a:p/>
          <a:p>
            <a:r>
              <a:t>5. POINT TO THE 6 REQUIREMENTS ON THE RIGHT. Walk through them deliberately:</a:t>
            </a:r>
          </a:p>
          <a:p>
            <a:r>
              <a:t>   - "One sector — we've chosen Energy."</a:t>
            </a:r>
          </a:p>
          <a:p>
            <a:r>
              <a:t>   - "Half the contract value has to be R&amp;D."</a:t>
            </a:r>
          </a:p>
          <a:p>
            <a:r>
              <a:t>   - "All work in the UK. Subcontractors UK-based."</a:t>
            </a:r>
          </a:p>
          <a:p>
            <a:r>
              <a:t>   - "Real operational environment — not a lab."</a:t>
            </a:r>
          </a:p>
          <a:p>
            <a:r>
              <a:t>   - "Commercialisation plan at the end."</a:t>
            </a:r>
          </a:p>
          <a:p>
            <a:r>
              <a:t>   - "Single legal entity — no consortia."</a:t>
            </a:r>
          </a:p>
          <a:p/>
          <a:p>
            <a:r>
              <a:t>THE PUNCH LINE: "This last rule — 'single legal entity' — is what shapes everything we'll talk about next. It means QUB can't be a co-applicant. But you can be our subcontractor, and that's actually a cleaner arrangement for you anyway."</a:t>
            </a:r>
          </a:p>
          <a:p/>
          <a:p>
            <a:r>
              <a:t>Move to slide 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QUB (2 min) — CRITICAL SLIDE</a:t>
            </a:r>
          </a:p>
          <a:p/>
          <a:p>
            <a:r>
              <a:t>Make the case clearly. Show you've thought about who else and ruled them out.</a:t>
            </a:r>
          </a:p>
          <a:p/>
          <a:p>
            <a:r>
              <a:t>OPENING: "Now — the obvious question. Why QUB specifically? We could have approached a commercial test house, or another university. We didn't, for three reasons."</a:t>
            </a:r>
          </a:p>
          <a:p/>
          <a:p>
            <a:r>
              <a:t>REASON 1 — Lab capability:</a:t>
            </a:r>
          </a:p>
          <a:p>
            <a:r>
              <a:t>"CSIT operates a world-class ICS testbed. Real industrial equipment, real protocols, full SCADA representation. When an Innovate UK assessor reads our application and asks 'where is the evidence this works in a complex operational environment?' — naming Queen's CSIT lab is an answer they immediately understand and trust."</a:t>
            </a:r>
          </a:p>
          <a:p/>
          <a:p>
            <a:r>
              <a:t>REASON 2 — Independent academic credibility:</a:t>
            </a:r>
          </a:p>
          <a:p>
            <a:r>
              <a:t>"This is procurement, but it's also research. Innovate UK doesn't want us marking our own homework. An independent academic validation by QUB is a different category of evidence than anything we could generate ourselves — or even buy from a commercial test house."</a:t>
            </a:r>
          </a:p>
          <a:p/>
          <a:p>
            <a:r>
              <a:t>REASON 3 — Industry network in NI energy:</a:t>
            </a:r>
          </a:p>
          <a:p>
            <a:r>
              <a:t>"This is where the story gets practical. We need an end-user energy operator. CSIT already has working relationships with NIE Networks, SONI, and across the UK energy sector. A warm introduction from you accelerates by months what would otherwise be cold outreach."</a:t>
            </a:r>
          </a:p>
          <a:p/>
          <a:p>
            <a:r>
              <a:t>CLOSING: "So this isn't us shopping around. This is us saying — based on Calluna's requirements, you're the natural fit, and we'd like to make that fit work."</a:t>
            </a:r>
          </a:p>
          <a:p/>
          <a:p>
            <a:r>
              <a:t>Move to slide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PARTNERSHIP STRUCTURE (2-3 min) — CRITICAL SLIDE</a:t>
            </a:r>
          </a:p>
          <a:p/>
          <a:p>
            <a:r>
              <a:t>This is where you explain the contractual reality. Be precise.</a:t>
            </a:r>
          </a:p>
          <a:p/>
          <a:p>
            <a:r>
              <a:t>WALK THROUGH THE DIAGRAM TOP-DOWN:</a:t>
            </a:r>
          </a:p>
          <a:p/>
          <a:p>
            <a:r>
              <a:t>"At the top — Safetech Global Limited as lead applicant. That's a Calluna rule, contract goes to one legal entity. We're the IP owner of the OTShield platform, we lead delivery, we carry the primary R&amp;D obligation."</a:t>
            </a:r>
          </a:p>
          <a:p/>
          <a:p>
            <a:r>
              <a:t>"Bottom-left — Queen's University Belfast as our subcontractor. Note the language carefully: this is fully compliant with Calluna's rules. They allow UK-based subcontractors for specialist skills, which is exactly what your SCADA lab and validation methodology represent.</a:t>
            </a:r>
          </a:p>
          <a:p/>
          <a:p>
            <a:r>
              <a:t>What QUB does in the project: provides lab access, designs and runs the validation programme, contributes to the test methodology, hopefully introduces us to the end-user operator, and co-authors any publications coming out of the project."</a:t>
            </a:r>
          </a:p>
          <a:p/>
          <a:p>
            <a:r>
              <a:t>"Bottom-right — the end-user. A UK energy operator confirmed with a Letter of Intent before submission. This is where Calluna's 'real operational environment' requirement is satisfied. The end-user hosts the deployment, provides user-acceptability feedback, and validates our commercialisation case. We haven't named them yet — Northern Ireland operators like NIE Networks or SONI are obvious candidates given your local relationships."</a:t>
            </a:r>
          </a:p>
          <a:p/>
          <a:p>
            <a:r>
              <a:t>IMPORTANT NUANCE — POINT TO THE GOLD BOX AT BOTTOM:</a:t>
            </a:r>
          </a:p>
          <a:p>
            <a:r>
              <a:t>"I want to be transparent about why we're structuring it this way and not as a partnership. Calluna explicitly excludes consortia and partnerships. So even if we wanted to make this a 50/50 academic-industry partnership, we couldn't. The subcontract route is the only way Calluna lets us work together — and it's actually cleaner for QUB because there's a clear scope, clear deliverables, and a clear funding line."</a:t>
            </a:r>
          </a:p>
          <a:p/>
          <a:p>
            <a:r>
              <a:t>Pause for questions. This is often where partners want to clarify their role.</a:t>
            </a:r>
          </a:p>
          <a:p/>
          <a:p>
            <a:r>
              <a:t>Move to slide 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FOR QUB (2-3 min) — CRITICAL SLIDE</a:t>
            </a:r>
          </a:p>
          <a:p/>
          <a:p>
            <a:r>
              <a:t>This is the 'what's in it for you' slide. Make it concrete, not abstract.</a:t>
            </a:r>
          </a:p>
          <a:p/>
          <a:p>
            <a:r>
              <a:t>FRAMING: "I want to be clear — we're not just looking for QUB's name on the cover sheet. We're proposing a genuine working partnership, with six concrete benefits."</a:t>
            </a:r>
          </a:p>
          <a:p/>
          <a:p>
            <a:r>
              <a:t>Walk through the six cards. Don't just read them — add a sentence of substance each:</a:t>
            </a:r>
          </a:p>
          <a:p/>
          <a:p>
            <a:r>
              <a:t>1. FUNDING: "Subcontract budget in the £40K to £60K range. That's a meaningful line — enough to fund a post-doc or research engineer time, plus lab costs and overheads."</a:t>
            </a:r>
          </a:p>
          <a:p/>
          <a:p>
            <a:r>
              <a:t>2. PUBLICATION: "Co-authored conference paper at the end. Target venues like ICS-CSR, ESORICS, ACSAC. We commit upfront to academic publication rights — your team will lead the paper."</a:t>
            </a:r>
          </a:p>
          <a:p/>
          <a:p>
            <a:r>
              <a:t>3. INDUSTRY CASE STUDY: "This is real-world impact, which feeds REF and KEF. A live deployment with a UK energy operator, validated by you, is the kind of case study that pulls weight in research assessment exercises."</a:t>
            </a:r>
          </a:p>
          <a:p/>
          <a:p>
            <a:r>
              <a:t>4. CLEAN IP: "We retain product IP — that's commercial reality. But QUB retains all academic IP, background IP, and full publication rights. We'll put this in writing in the subcontract."</a:t>
            </a:r>
          </a:p>
          <a:p/>
          <a:p>
            <a:r>
              <a:t>5. ONGOING COLLABORATION: "This isn't a one-off. The OTShield platform stays available to CSIT after the project — for teaching, for follow-on research, for joint bids into EPSRC, NCSC programmes, future Innovate UK rounds."</a:t>
            </a:r>
          </a:p>
          <a:p/>
          <a:p>
            <a:r>
              <a:t>6. RECOGNITION WITH INNOVATE UK: "QUB is named in the application, named in programme outputs, named in any Innovate UK case studies. That's real visibility with a key UK funding agency."</a:t>
            </a:r>
          </a:p>
          <a:p/>
          <a:p>
            <a:r>
              <a:t>CLOSING LINE: "We've designed this so the partnership stands on its own — even outside the Calluna context, this would be a worthwhile research engagement for both sides."</a:t>
            </a:r>
          </a:p>
          <a:p/>
          <a:p>
            <a:r>
              <a:t>Move to slide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BUDGET (2 min) — CRITICAL SLIDE</a:t>
            </a:r>
          </a:p>
          <a:p/>
          <a:p>
            <a:r>
              <a:t>Be transparent about numbers. Don't dance around them.</a:t>
            </a:r>
          </a:p>
          <a:p/>
          <a:p>
            <a:r>
              <a:t>OPENING: "Now — the part where I show you our working hypothesis on the numbers. This isn't final, and I'm genuinely open to your input on what feels right for QUB."</a:t>
            </a:r>
          </a:p>
          <a:p/>
          <a:p>
            <a:r>
              <a:t>WALK THROUGH:</a:t>
            </a:r>
          </a:p>
          <a:p/>
          <a:p>
            <a:r>
              <a:t>"Total envelope is £300K VAT inclusive — that's the Calluna ceiling. We can't go over that.</a:t>
            </a:r>
          </a:p>
          <a:p/>
          <a:p>
            <a:r>
              <a:t>Of that, roughly £170K stays with OTShield for the lead delivery — founder time, senior engineer time, our cybersecurity advisor, and the core R&amp;D obligation.</a:t>
            </a:r>
          </a:p>
          <a:p/>
          <a:p>
            <a:r>
              <a:t>£50K is our current hypothesis for QUB. That's about 17% of the total — substantial but proportionate.</a:t>
            </a:r>
          </a:p>
          <a:p/>
          <a:p>
            <a:r>
              <a:t>£30K for end-user engagement — deployment work, on-site days at the energy operator.</a:t>
            </a:r>
          </a:p>
          <a:p/>
          <a:p>
            <a:r>
              <a:t>£20K for independent security review and hardware — that's separate from QUB validation; it's a third-party penetration-test style assurance.</a:t>
            </a:r>
          </a:p>
          <a:p/>
          <a:p>
            <a:r>
              <a:t>£15K project management and travel. £15K contingency."</a:t>
            </a:r>
          </a:p>
          <a:p/>
          <a:p>
            <a:r>
              <a:t>CRITICAL POINT — point to the green box at bottom:</a:t>
            </a:r>
          </a:p>
          <a:p>
            <a:r>
              <a:t>"The QUB allocation is flexible. We've put a £40-60K range out there because we genuinely don't know yet what your team's time commitment looks like. If your scoping comes back and you tell us 'we want to put two people on this part-time across 12 months', that changes the number. We'd rather size it to what makes sense for you than fix it prematurely."</a:t>
            </a:r>
          </a:p>
          <a:p/>
          <a:p>
            <a:r>
              <a:t>INVITE INPUT: "Once you've had a chance to think about scope on your side, we'd love to refine this together before the bid goes in."</a:t>
            </a:r>
          </a:p>
          <a:p/>
          <a:p>
            <a:r>
              <a:t>Move to slide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TIMELINE (90 sec)</a:t>
            </a:r>
          </a:p>
          <a:p/>
          <a:p>
            <a:r>
              <a:t>Show pace and where QUB fits in over the 12 months.</a:t>
            </a:r>
          </a:p>
          <a:p/>
          <a:p>
            <a:r>
              <a:t>"Four quarters, broadly:</a:t>
            </a:r>
          </a:p>
          <a:p/>
          <a:p>
            <a:r>
              <a:t>Q1 is foundation — kick-off at QUB, threat-model alignment, lab setup, baseline build. This is where the joint test plan gets signed off.</a:t>
            </a:r>
          </a:p>
          <a:p/>
          <a:p>
            <a:r>
              <a:t>Q2 is validation at the QUB lab. Full integration of OTShield in your SCADA testbed, baseline detection and response metrics, mid-project review on-site at Queen's.</a:t>
            </a:r>
          </a:p>
          <a:p/>
          <a:p>
            <a:r>
              <a:t>Q3 is deployment at the energy operator. Real operational environment — that's the Calluna TRL 8 demonstration. QUB still actively involved with the cross-site comparison and independent assessment.</a:t>
            </a:r>
          </a:p>
          <a:p/>
          <a:p>
            <a:r>
              <a:t>Q4 is hardening, commercialisation, final demos, and the co-authored paper."</a:t>
            </a:r>
          </a:p>
          <a:p/>
          <a:p>
            <a:r>
              <a:t>POINT TO BOTTOM ROW (QUB engagement):</a:t>
            </a:r>
          </a:p>
          <a:p>
            <a:r>
              <a:t>"For QUB specifically — Q1 kick-off workshop, Q2 lab validation campaign, Q3 independent assessment, Q4 the paper. So your engagement is steady across the project, not a one-off."</a:t>
            </a:r>
          </a:p>
          <a:p/>
          <a:p>
            <a:r>
              <a:t>Move to slide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 RISK &amp; GOVERNANCE (90 sec)</a:t>
            </a:r>
          </a:p>
          <a:p/>
          <a:p>
            <a:r>
              <a:t>This is the slide that reassures the business development team. Keep it factual.</a:t>
            </a:r>
          </a:p>
          <a:p/>
          <a:p>
            <a:r>
              <a:t>"I want to flag three areas where I know your team will want clarity.</a:t>
            </a:r>
          </a:p>
          <a:p/>
          <a:p>
            <a:r>
              <a:t>IP — left column. We're being explicit: OTShield platform IP stays with Safetech Global. QUB background IP — anything you bring in from prior research — is fully ring-fenced and retained by you. Research outputs created jointly are co-owned, and you have full publication rights. We're not going to fight you on this; it's the standard pattern.</a:t>
            </a:r>
          </a:p>
          <a:p/>
          <a:p>
            <a:r>
              <a:t>Risk — middle column. The main risks are end-user delays, lab scheduling, publication timing around the Innovate UK case study, and the competitive bid process itself. We're mitigating each — QUB's network helps with end-user; we plan lab time jointly; publication is coordinated; and we're absorbing the bid risk on our side."</a:t>
            </a:r>
          </a:p>
          <a:p/>
          <a:p>
            <a:r>
              <a:t>"Governance — right column. Monthly steering with all three parties, bi-weekly tech sync between OTShield and QUB at the lab cadence, joint reporting to Innovate UK, joint sign-off on any scope changes."</a:t>
            </a:r>
          </a:p>
          <a:p/>
          <a:p>
            <a:r>
              <a:t>"Before submission, we'll have a Subcontract Agreement and Data Sharing Agreement drafted — we can use QUB's standard templates if you have them, which usually speeds things up."</a:t>
            </a:r>
          </a:p>
          <a:p/>
          <a:p>
            <a:r>
              <a:t>Move to slide 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(2 min) — CRITICAL SLIDE</a:t>
            </a:r>
          </a:p>
          <a:p/>
          <a:p>
            <a:r>
              <a:t>This is the slide that defines what you want to walk away with. Be explicit.</a:t>
            </a:r>
          </a:p>
          <a:p/>
          <a:p>
            <a:r>
              <a:t>OPENING: "So practically, what would I like to walk away with today, and what comes next."</a:t>
            </a:r>
          </a:p>
          <a:p/>
          <a:p>
            <a:r>
              <a:t>THREE ASKS — walk through deliberately:</a:t>
            </a:r>
          </a:p>
          <a:p/>
          <a:p>
            <a:r>
              <a:t>ASK 1 — TODAY:</a:t>
            </a:r>
          </a:p>
          <a:p>
            <a:r>
              <a:t>"What I'd really like before we end the call is a sense from you — in principle, is this the right kind of partnership for QUB? You don't need to commit to anything. I'd just want to know: does this make sense, are there immediate blockers, is there interest worth us continuing to build the bid around."</a:t>
            </a:r>
          </a:p>
          <a:p/>
          <a:p>
            <a:r>
              <a:t>ASK 2 — NEXT 2 WEEKS:</a:t>
            </a:r>
          </a:p>
          <a:p>
            <a:r>
              <a:t>"Within two weeks, we'd love a non-binding Letter of Intent. Standard format — confirms QUB's intention to subcontract under the broad terms we've discussed today, subject to a successful Calluna award. That LoI is critical evidence in the bid — Innovate UK assessors look for it directly."</a:t>
            </a:r>
          </a:p>
          <a:p/>
          <a:p>
            <a:r>
              <a:t>ASK 3 — BEFORE SUBMISSION:</a:t>
            </a:r>
          </a:p>
          <a:p>
            <a:r>
              <a:t>"At some point before we submit, a warm introduction to an energy operator on your network. NIE Networks, SONI, or whoever you think fits best. Even a 30-minute intro call from your side opens that door for us. Without an end-user LoI, the Calluna bid is significantly weaker."</a:t>
            </a:r>
          </a:p>
          <a:p/>
          <a:p>
            <a:r>
              <a:t>POINT TO THE DARK DEADLINE BAR:</a:t>
            </a:r>
          </a:p>
          <a:p>
            <a:r>
              <a:t>"On timing — Innovate UK's deadline is 11am UK on the closing date in the brief. We're working backwards from there. LoI in place 2 weeks before that. End-user confirmed by then too. So we're looking at quick turnaround for the LoI piece."</a:t>
            </a:r>
          </a:p>
          <a:p/>
          <a:p>
            <a:r>
              <a:t>INVITE THE RESPONSE: "How does that timeline feel from your end?"</a:t>
            </a:r>
          </a:p>
          <a:p/>
          <a:p>
            <a:r>
              <a:t>Move to slide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AND CLOSE (15 min)</a:t>
            </a:r>
          </a:p>
          <a:p/>
          <a:p>
            <a:r>
              <a:t>Open the floor and let them lead. Don't fill silence.</a:t>
            </a:r>
          </a:p>
          <a:p/>
          <a:p>
            <a:r>
              <a:t>OPENING: "That's the substance of what I wanted to share. I'd really like to hear your reactions, questions, concerns — anything. The floor is yours."</a:t>
            </a:r>
          </a:p>
          <a:p/>
          <a:p>
            <a:r>
              <a:t>LIKELY QUESTIONS TO PREPARE FOR:</a:t>
            </a:r>
          </a:p>
          <a:p/>
          <a:p>
            <a:r>
              <a:t>1. "What's the actual end-user situation right now?"</a:t>
            </a:r>
          </a:p>
          <a:p>
            <a:r>
              <a:t>   → Be honest: "We haven't named one yet. That's part of why we're hoping QUB can help with an intro. We're also exploring cold outreach to mainland UK DNOs in parallel."</a:t>
            </a:r>
          </a:p>
          <a:p/>
          <a:p>
            <a:r>
              <a:t>2. "What other commitments do you have on the platform commercially?"</a:t>
            </a:r>
          </a:p>
          <a:p>
            <a:r>
              <a:t>   → "Pre-revenue, active pipeline, 3 pricing tiers published. We're talking to multiple energy operators but nothing has converted to revenue yet. The platform stays alive even if Calluna doesn't fund."</a:t>
            </a:r>
          </a:p>
          <a:p/>
          <a:p>
            <a:r>
              <a:t>3. "How does this interact with the HMGCC project you mentioned?"</a:t>
            </a:r>
          </a:p>
          <a:p>
            <a:r>
              <a:t>   → "HMGCC funded Research Mode under their Co-Creation programme. Calluna funds SOC Mode validation. They're complementary — same code base, different operational use cases."</a:t>
            </a:r>
          </a:p>
          <a:p/>
          <a:p>
            <a:r>
              <a:t>4. "What if the bid isn't successful?"</a:t>
            </a:r>
          </a:p>
          <a:p>
            <a:r>
              <a:t>   → "We'll have invested in scoping with QUB. We're prepared for that — the conversations we've had won't be wasted, and we'd want to look at follow-on bids together."</a:t>
            </a:r>
          </a:p>
          <a:p/>
          <a:p>
            <a:r>
              <a:t>5. "When do you need an answer by?"</a:t>
            </a:r>
          </a:p>
          <a:p>
            <a:r>
              <a:t>   → "We're flexible on the conversation continuing. But for the bid itself, LoI needs to be in place 2 weeks before submission. Anything sooner than that is appreciated; later than that and we'd have to consider alternatives."</a:t>
            </a:r>
          </a:p>
          <a:p/>
          <a:p>
            <a:r>
              <a:t>CLOSING: "Thank you for the time today. I'll send through a follow-up email tomorrow with the slides and a draft LoI template for your team to review. Looking forward to working with you on this."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0"/>
            <a:ext cx="1673352" cy="201168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914400" cy="109728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57200"/>
            <a:ext cx="3657600" cy="365760"/>
          </a:xfrm>
          <a:prstGeom prst="rect">
            <a:avLst/>
          </a:prstGeom>
          <a:noFill/>
        </p:spPr>
        <p:txBody>
          <a:bodyPr wrap="square" lIns="0" rIns="0" tIns="0" bIns="0" anchor="t">
            <a:spAutoFit/>
          </a:bodyPr>
          <a:lstStyle/>
          <a:p>
            <a:pPr algn="l"/>
            <a:r>
              <a:rPr sz="1400" b="1" i="0">
                <a:solidFill>
                  <a:srgbClr val="14B8A6"/>
                </a:solidFill>
                <a:latin typeface="Calibri"/>
              </a:rPr>
              <a:t>OTSHIELD</a:t>
            </a:r>
          </a:p>
        </p:txBody>
      </p:sp>
      <p:sp>
        <p:nvSpPr>
          <p:cNvPr id="7" name="TextBox 6"/>
          <p:cNvSpPr txBox="1"/>
          <p:nvPr/>
        </p:nvSpPr>
        <p:spPr>
          <a:xfrm>
            <a:off x="640080" y="777240"/>
            <a:ext cx="5486400" cy="274320"/>
          </a:xfrm>
          <a:prstGeom prst="rect">
            <a:avLst/>
          </a:prstGeom>
          <a:noFill/>
        </p:spPr>
        <p:txBody>
          <a:bodyPr wrap="square" lIns="0" rIns="0" tIns="0" bIns="0" anchor="t">
            <a:spAutoFit/>
          </a:bodyPr>
          <a:lstStyle/>
          <a:p>
            <a:pPr algn="l"/>
            <a:r>
              <a:rPr sz="1100" b="0" i="1">
                <a:solidFill>
                  <a:srgbClr val="B0C4DE"/>
                </a:solidFill>
                <a:latin typeface="Calibri"/>
              </a:rPr>
              <a:t>Research-first. Offline-ready. Evidence-driven.</a:t>
            </a:r>
          </a:p>
        </p:txBody>
      </p:sp>
      <p:sp>
        <p:nvSpPr>
          <p:cNvPr id="8" name="TextBox 7"/>
          <p:cNvSpPr txBox="1"/>
          <p:nvPr/>
        </p:nvSpPr>
        <p:spPr>
          <a:xfrm>
            <a:off x="640080" y="2194560"/>
            <a:ext cx="10972800" cy="914400"/>
          </a:xfrm>
          <a:prstGeom prst="rect">
            <a:avLst/>
          </a:prstGeom>
          <a:noFill/>
        </p:spPr>
        <p:txBody>
          <a:bodyPr wrap="square" lIns="0" rIns="0" tIns="0" bIns="0" anchor="t">
            <a:spAutoFit/>
          </a:bodyPr>
          <a:lstStyle/>
          <a:p>
            <a:pPr algn="l"/>
            <a:r>
              <a:rPr sz="1800" b="0" i="0">
                <a:solidFill>
                  <a:srgbClr val="14B8A6"/>
                </a:solidFill>
                <a:latin typeface="Calibri"/>
              </a:rPr>
              <a:t>Partnership Proposal</a:t>
            </a:r>
          </a:p>
        </p:txBody>
      </p:sp>
      <p:sp>
        <p:nvSpPr>
          <p:cNvPr id="9" name="TextBox 8"/>
          <p:cNvSpPr txBox="1"/>
          <p:nvPr/>
        </p:nvSpPr>
        <p:spPr>
          <a:xfrm>
            <a:off x="640080" y="2651760"/>
            <a:ext cx="10972800" cy="1463040"/>
          </a:xfrm>
          <a:prstGeom prst="rect">
            <a:avLst/>
          </a:prstGeom>
          <a:noFill/>
        </p:spPr>
        <p:txBody>
          <a:bodyPr wrap="square" lIns="0" rIns="0" tIns="0" bIns="0" anchor="t">
            <a:spAutoFit/>
          </a:bodyPr>
          <a:lstStyle/>
          <a:p>
            <a:pPr algn="l"/>
            <a:r>
              <a:rPr sz="4200" b="1" i="0">
                <a:solidFill>
                  <a:srgbClr val="FFFFFF"/>
                </a:solidFill>
                <a:latin typeface="Calibri"/>
              </a:rPr>
              <a:t>Queen's University Belfast  ×  OTShield</a:t>
            </a:r>
          </a:p>
        </p:txBody>
      </p:sp>
      <p:sp>
        <p:nvSpPr>
          <p:cNvPr id="10" name="TextBox 9"/>
          <p:cNvSpPr txBox="1"/>
          <p:nvPr/>
        </p:nvSpPr>
        <p:spPr>
          <a:xfrm>
            <a:off x="640080" y="4114800"/>
            <a:ext cx="10972800" cy="640080"/>
          </a:xfrm>
          <a:prstGeom prst="rect">
            <a:avLst/>
          </a:prstGeom>
          <a:noFill/>
        </p:spPr>
        <p:txBody>
          <a:bodyPr wrap="square" lIns="0" rIns="0" tIns="0" bIns="0" anchor="t">
            <a:spAutoFit/>
          </a:bodyPr>
          <a:lstStyle/>
          <a:p>
            <a:pPr algn="l"/>
            <a:r>
              <a:rPr sz="2200" b="0" i="0">
                <a:solidFill>
                  <a:srgbClr val="CADCFC"/>
                </a:solidFill>
                <a:latin typeface="Calibri"/>
              </a:rPr>
              <a:t>An Innovate UK Calluna Bid: Advanced Cyber Defence for Energy CNI</a:t>
            </a:r>
          </a:p>
        </p:txBody>
      </p:sp>
      <p:sp>
        <p:nvSpPr>
          <p:cNvPr id="11" name="Rectangle 10"/>
          <p:cNvSpPr/>
          <p:nvPr/>
        </p:nvSpPr>
        <p:spPr>
          <a:xfrm>
            <a:off x="640080" y="5029200"/>
            <a:ext cx="2743200" cy="2743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257800"/>
            <a:ext cx="7315200" cy="1371600"/>
          </a:xfrm>
          <a:prstGeom prst="rect">
            <a:avLst/>
          </a:prstGeom>
          <a:noFill/>
        </p:spPr>
        <p:txBody>
          <a:bodyPr wrap="square" lIns="0" rIns="0" tIns="0" bIns="0" anchor="t">
            <a:spAutoFit/>
          </a:bodyPr>
          <a:lstStyle/>
          <a:p>
            <a:pPr algn="l">
              <a:lnSpc>
                <a:spcPct val="120000"/>
              </a:lnSpc>
              <a:spcAft>
                <a:spcPts val="200"/>
              </a:spcAft>
            </a:pPr>
            <a:r>
              <a:rPr sz="1100" b="1" i="0">
                <a:solidFill>
                  <a:srgbClr val="B0C4DE"/>
                </a:solidFill>
                <a:latin typeface="Calibri"/>
              </a:rPr>
              <a:t>Presented by:</a:t>
            </a:r>
          </a:p>
          <a:p>
            <a:pPr algn="l">
              <a:lnSpc>
                <a:spcPct val="120000"/>
              </a:lnSpc>
              <a:spcAft>
                <a:spcPts val="200"/>
              </a:spcAft>
            </a:pPr>
            <a:r>
              <a:rPr sz="1400" b="1" i="0">
                <a:solidFill>
                  <a:srgbClr val="FFFFFF"/>
                </a:solidFill>
                <a:latin typeface="Calibri"/>
              </a:rPr>
              <a:t>Fatma Erturk, Founder &amp; CEO, Safetech Global Ltd (trading as OTShield)</a:t>
            </a:r>
          </a:p>
          <a:p>
            <a:pPr algn="l">
              <a:lnSpc>
                <a:spcPct val="120000"/>
              </a:lnSpc>
              <a:spcAft>
                <a:spcPts val="200"/>
              </a:spcAft>
            </a:pPr>
            <a:r>
              <a:rPr sz="1100" b="0" i="0">
                <a:solidFill>
                  <a:srgbClr val="B0C4DE"/>
                </a:solidFill>
                <a:latin typeface="Calibri"/>
              </a:rPr>
              <a:t>fatma.erturk@otshield.io  |  otshield.io</a:t>
            </a:r>
          </a:p>
        </p:txBody>
      </p:sp>
      <p:sp>
        <p:nvSpPr>
          <p:cNvPr id="13" name="TextBox 12"/>
          <p:cNvSpPr txBox="1"/>
          <p:nvPr/>
        </p:nvSpPr>
        <p:spPr>
          <a:xfrm>
            <a:off x="8686800" y="6035040"/>
            <a:ext cx="3200400" cy="365760"/>
          </a:xfrm>
          <a:prstGeom prst="rect">
            <a:avLst/>
          </a:prstGeom>
          <a:noFill/>
        </p:spPr>
        <p:txBody>
          <a:bodyPr wrap="square" lIns="0" rIns="0" tIns="0" bIns="0" anchor="t">
            <a:spAutoFit/>
          </a:bodyPr>
          <a:lstStyle/>
          <a:p>
            <a:pPr algn="r"/>
            <a:r>
              <a:rPr sz="1100" b="0" i="0">
                <a:solidFill>
                  <a:srgbClr val="B0C4DE"/>
                </a:solidFill>
                <a:latin typeface="Calibri"/>
              </a:rPr>
              <a:t>May 2026  |  Online meeting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TODAY'S CONVERSATION</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What we'd like to cover in 25 minutes</a:t>
            </a:r>
          </a:p>
        </p:txBody>
      </p:sp>
      <p:sp>
        <p:nvSpPr>
          <p:cNvPr id="6" name="Oval 5"/>
          <p:cNvSpPr/>
          <p:nvPr/>
        </p:nvSpPr>
        <p:spPr>
          <a:xfrm>
            <a:off x="640080" y="155448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502920" cy="502920"/>
          </a:xfrm>
          <a:prstGeom prst="rect">
            <a:avLst/>
          </a:prstGeom>
          <a:noFill/>
        </p:spPr>
        <p:txBody>
          <a:bodyPr wrap="square" lIns="0" rIns="0" tIns="0" bIns="0" anchor="ctr">
            <a:spAutoFit/>
          </a:bodyPr>
          <a:lstStyle/>
          <a:p>
            <a:pPr algn="ctr"/>
            <a:r>
              <a:rPr sz="1400" b="1" i="0">
                <a:solidFill>
                  <a:srgbClr val="FFFFFF"/>
                </a:solidFill>
                <a:latin typeface="Calibri"/>
              </a:rPr>
              <a:t>01</a:t>
            </a:r>
          </a:p>
        </p:txBody>
      </p:sp>
      <p:sp>
        <p:nvSpPr>
          <p:cNvPr id="8" name="TextBox 7"/>
          <p:cNvSpPr txBox="1"/>
          <p:nvPr/>
        </p:nvSpPr>
        <p:spPr>
          <a:xfrm>
            <a:off x="1371600" y="1536192"/>
            <a:ext cx="10058400" cy="320040"/>
          </a:xfrm>
          <a:prstGeom prst="rect">
            <a:avLst/>
          </a:prstGeom>
          <a:noFill/>
        </p:spPr>
        <p:txBody>
          <a:bodyPr wrap="square" lIns="0" rIns="0" tIns="0" bIns="0" anchor="t">
            <a:spAutoFit/>
          </a:bodyPr>
          <a:lstStyle/>
          <a:p>
            <a:pPr algn="l"/>
            <a:r>
              <a:rPr sz="1600" b="1" i="0">
                <a:solidFill>
                  <a:srgbClr val="21295C"/>
                </a:solidFill>
                <a:latin typeface="Calibri"/>
              </a:rPr>
              <a:t>Who OTShield is</a:t>
            </a:r>
          </a:p>
        </p:txBody>
      </p:sp>
      <p:sp>
        <p:nvSpPr>
          <p:cNvPr id="9" name="TextBox 8"/>
          <p:cNvSpPr txBox="1"/>
          <p:nvPr/>
        </p:nvSpPr>
        <p:spPr>
          <a:xfrm>
            <a:off x="1371600" y="1828800"/>
            <a:ext cx="10058400" cy="274320"/>
          </a:xfrm>
          <a:prstGeom prst="rect">
            <a:avLst/>
          </a:prstGeom>
          <a:noFill/>
        </p:spPr>
        <p:txBody>
          <a:bodyPr wrap="square" lIns="0" rIns="0" tIns="0" bIns="0" anchor="t">
            <a:spAutoFit/>
          </a:bodyPr>
          <a:lstStyle/>
          <a:p>
            <a:pPr algn="l"/>
            <a:r>
              <a:rPr sz="1200" b="0" i="1">
                <a:solidFill>
                  <a:srgbClr val="64748B"/>
                </a:solidFill>
                <a:latin typeface="Calibri"/>
              </a:rPr>
              <a:t>Our platform, our award track record, what's already operational</a:t>
            </a:r>
          </a:p>
        </p:txBody>
      </p:sp>
      <p:sp>
        <p:nvSpPr>
          <p:cNvPr id="10" name="Oval 9"/>
          <p:cNvSpPr/>
          <p:nvPr/>
        </p:nvSpPr>
        <p:spPr>
          <a:xfrm>
            <a:off x="640080" y="2267712"/>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67712"/>
            <a:ext cx="502920" cy="502920"/>
          </a:xfrm>
          <a:prstGeom prst="rect">
            <a:avLst/>
          </a:prstGeom>
          <a:noFill/>
        </p:spPr>
        <p:txBody>
          <a:bodyPr wrap="square" lIns="0" rIns="0" tIns="0" bIns="0" anchor="ctr">
            <a:spAutoFit/>
          </a:bodyPr>
          <a:lstStyle/>
          <a:p>
            <a:pPr algn="ctr"/>
            <a:r>
              <a:rPr sz="1400" b="1" i="0">
                <a:solidFill>
                  <a:srgbClr val="FFFFFF"/>
                </a:solidFill>
                <a:latin typeface="Calibri"/>
              </a:rPr>
              <a:t>02</a:t>
            </a:r>
          </a:p>
        </p:txBody>
      </p:sp>
      <p:sp>
        <p:nvSpPr>
          <p:cNvPr id="12" name="TextBox 11"/>
          <p:cNvSpPr txBox="1"/>
          <p:nvPr/>
        </p:nvSpPr>
        <p:spPr>
          <a:xfrm>
            <a:off x="1371600" y="2249424"/>
            <a:ext cx="10058400" cy="320040"/>
          </a:xfrm>
          <a:prstGeom prst="rect">
            <a:avLst/>
          </a:prstGeom>
          <a:noFill/>
        </p:spPr>
        <p:txBody>
          <a:bodyPr wrap="square" lIns="0" rIns="0" tIns="0" bIns="0" anchor="t">
            <a:spAutoFit/>
          </a:bodyPr>
          <a:lstStyle/>
          <a:p>
            <a:pPr algn="l"/>
            <a:r>
              <a:rPr sz="1600" b="1" i="0">
                <a:solidFill>
                  <a:srgbClr val="21295C"/>
                </a:solidFill>
                <a:latin typeface="Calibri"/>
              </a:rPr>
              <a:t>The Calluna opportunity</a:t>
            </a:r>
          </a:p>
        </p:txBody>
      </p:sp>
      <p:sp>
        <p:nvSpPr>
          <p:cNvPr id="13" name="TextBox 12"/>
          <p:cNvSpPr txBox="1"/>
          <p:nvPr/>
        </p:nvSpPr>
        <p:spPr>
          <a:xfrm>
            <a:off x="1371600" y="2542032"/>
            <a:ext cx="10058400" cy="274320"/>
          </a:xfrm>
          <a:prstGeom prst="rect">
            <a:avLst/>
          </a:prstGeom>
          <a:noFill/>
        </p:spPr>
        <p:txBody>
          <a:bodyPr wrap="square" lIns="0" rIns="0" tIns="0" bIns="0" anchor="t">
            <a:spAutoFit/>
          </a:bodyPr>
          <a:lstStyle/>
          <a:p>
            <a:pPr algn="l"/>
            <a:r>
              <a:rPr sz="1200" b="0" i="1">
                <a:solidFill>
                  <a:srgbClr val="64748B"/>
                </a:solidFill>
                <a:latin typeface="Calibri"/>
              </a:rPr>
              <a:t>Innovate UK SBRI contract: £300K, 12 months, Energy CNI</a:t>
            </a:r>
          </a:p>
        </p:txBody>
      </p:sp>
      <p:sp>
        <p:nvSpPr>
          <p:cNvPr id="14" name="Oval 13"/>
          <p:cNvSpPr/>
          <p:nvPr/>
        </p:nvSpPr>
        <p:spPr>
          <a:xfrm>
            <a:off x="640080" y="2980944"/>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80944"/>
            <a:ext cx="502920" cy="502920"/>
          </a:xfrm>
          <a:prstGeom prst="rect">
            <a:avLst/>
          </a:prstGeom>
          <a:noFill/>
        </p:spPr>
        <p:txBody>
          <a:bodyPr wrap="square" lIns="0" rIns="0" tIns="0" bIns="0" anchor="ctr">
            <a:spAutoFit/>
          </a:bodyPr>
          <a:lstStyle/>
          <a:p>
            <a:pPr algn="ctr"/>
            <a:r>
              <a:rPr sz="1400" b="1" i="0">
                <a:solidFill>
                  <a:srgbClr val="FFFFFF"/>
                </a:solidFill>
                <a:latin typeface="Calibri"/>
              </a:rPr>
              <a:t>03</a:t>
            </a:r>
          </a:p>
        </p:txBody>
      </p:sp>
      <p:sp>
        <p:nvSpPr>
          <p:cNvPr id="16" name="TextBox 15"/>
          <p:cNvSpPr txBox="1"/>
          <p:nvPr/>
        </p:nvSpPr>
        <p:spPr>
          <a:xfrm>
            <a:off x="1371600" y="2962656"/>
            <a:ext cx="10058400" cy="320040"/>
          </a:xfrm>
          <a:prstGeom prst="rect">
            <a:avLst/>
          </a:prstGeom>
          <a:noFill/>
        </p:spPr>
        <p:txBody>
          <a:bodyPr wrap="square" lIns="0" rIns="0" tIns="0" bIns="0" anchor="t">
            <a:spAutoFit/>
          </a:bodyPr>
          <a:lstStyle/>
          <a:p>
            <a:pPr algn="l"/>
            <a:r>
              <a:rPr sz="1600" b="1" i="0">
                <a:solidFill>
                  <a:srgbClr val="21295C"/>
                </a:solidFill>
                <a:latin typeface="Calibri"/>
              </a:rPr>
              <a:t>Why QUB CSIT</a:t>
            </a:r>
          </a:p>
        </p:txBody>
      </p:sp>
      <p:sp>
        <p:nvSpPr>
          <p:cNvPr id="17" name="TextBox 16"/>
          <p:cNvSpPr txBox="1"/>
          <p:nvPr/>
        </p:nvSpPr>
        <p:spPr>
          <a:xfrm>
            <a:off x="1371600" y="3255263"/>
            <a:ext cx="10058400" cy="274320"/>
          </a:xfrm>
          <a:prstGeom prst="rect">
            <a:avLst/>
          </a:prstGeom>
          <a:noFill/>
        </p:spPr>
        <p:txBody>
          <a:bodyPr wrap="square" lIns="0" rIns="0" tIns="0" bIns="0" anchor="t">
            <a:spAutoFit/>
          </a:bodyPr>
          <a:lstStyle/>
          <a:p>
            <a:pPr algn="l"/>
            <a:r>
              <a:rPr sz="1200" b="0" i="1">
                <a:solidFill>
                  <a:srgbClr val="64748B"/>
                </a:solidFill>
                <a:latin typeface="Calibri"/>
              </a:rPr>
              <a:t>What we need from your SCADA lab and why no one else fits</a:t>
            </a:r>
          </a:p>
        </p:txBody>
      </p:sp>
      <p:sp>
        <p:nvSpPr>
          <p:cNvPr id="18" name="Oval 17"/>
          <p:cNvSpPr/>
          <p:nvPr/>
        </p:nvSpPr>
        <p:spPr>
          <a:xfrm>
            <a:off x="640080" y="3694176"/>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694176"/>
            <a:ext cx="502920" cy="502920"/>
          </a:xfrm>
          <a:prstGeom prst="rect">
            <a:avLst/>
          </a:prstGeom>
          <a:noFill/>
        </p:spPr>
        <p:txBody>
          <a:bodyPr wrap="square" lIns="0" rIns="0" tIns="0" bIns="0" anchor="ctr">
            <a:spAutoFit/>
          </a:bodyPr>
          <a:lstStyle/>
          <a:p>
            <a:pPr algn="ctr"/>
            <a:r>
              <a:rPr sz="1400" b="1" i="0">
                <a:solidFill>
                  <a:srgbClr val="FFFFFF"/>
                </a:solidFill>
                <a:latin typeface="Calibri"/>
              </a:rPr>
              <a:t>04</a:t>
            </a:r>
          </a:p>
        </p:txBody>
      </p:sp>
      <p:sp>
        <p:nvSpPr>
          <p:cNvPr id="20" name="TextBox 19"/>
          <p:cNvSpPr txBox="1"/>
          <p:nvPr/>
        </p:nvSpPr>
        <p:spPr>
          <a:xfrm>
            <a:off x="1371600" y="3675888"/>
            <a:ext cx="10058400" cy="320040"/>
          </a:xfrm>
          <a:prstGeom prst="rect">
            <a:avLst/>
          </a:prstGeom>
          <a:noFill/>
        </p:spPr>
        <p:txBody>
          <a:bodyPr wrap="square" lIns="0" rIns="0" tIns="0" bIns="0" anchor="t">
            <a:spAutoFit/>
          </a:bodyPr>
          <a:lstStyle/>
          <a:p>
            <a:pPr algn="l"/>
            <a:r>
              <a:rPr sz="1600" b="1" i="0">
                <a:solidFill>
                  <a:srgbClr val="21295C"/>
                </a:solidFill>
                <a:latin typeface="Calibri"/>
              </a:rPr>
              <a:t>Proposed partnership structure</a:t>
            </a:r>
          </a:p>
        </p:txBody>
      </p:sp>
      <p:sp>
        <p:nvSpPr>
          <p:cNvPr id="21" name="TextBox 20"/>
          <p:cNvSpPr txBox="1"/>
          <p:nvPr/>
        </p:nvSpPr>
        <p:spPr>
          <a:xfrm>
            <a:off x="1371600" y="3968496"/>
            <a:ext cx="10058400" cy="274320"/>
          </a:xfrm>
          <a:prstGeom prst="rect">
            <a:avLst/>
          </a:prstGeom>
          <a:noFill/>
        </p:spPr>
        <p:txBody>
          <a:bodyPr wrap="square" lIns="0" rIns="0" tIns="0" bIns="0" anchor="t">
            <a:spAutoFit/>
          </a:bodyPr>
          <a:lstStyle/>
          <a:p>
            <a:pPr algn="l"/>
            <a:r>
              <a:rPr sz="1200" b="0" i="1">
                <a:solidFill>
                  <a:srgbClr val="64748B"/>
                </a:solidFill>
                <a:latin typeface="Calibri"/>
              </a:rPr>
              <a:t>Your role as a UK subcontractor — research, validation, IP</a:t>
            </a:r>
          </a:p>
        </p:txBody>
      </p:sp>
      <p:sp>
        <p:nvSpPr>
          <p:cNvPr id="22" name="Oval 21"/>
          <p:cNvSpPr/>
          <p:nvPr/>
        </p:nvSpPr>
        <p:spPr>
          <a:xfrm>
            <a:off x="640080" y="4407408"/>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407408"/>
            <a:ext cx="502920" cy="502920"/>
          </a:xfrm>
          <a:prstGeom prst="rect">
            <a:avLst/>
          </a:prstGeom>
          <a:noFill/>
        </p:spPr>
        <p:txBody>
          <a:bodyPr wrap="square" lIns="0" rIns="0" tIns="0" bIns="0" anchor="ctr">
            <a:spAutoFit/>
          </a:bodyPr>
          <a:lstStyle/>
          <a:p>
            <a:pPr algn="ctr"/>
            <a:r>
              <a:rPr sz="1400" b="1" i="0">
                <a:solidFill>
                  <a:srgbClr val="FFFFFF"/>
                </a:solidFill>
                <a:latin typeface="Calibri"/>
              </a:rPr>
              <a:t>05</a:t>
            </a:r>
          </a:p>
        </p:txBody>
      </p:sp>
      <p:sp>
        <p:nvSpPr>
          <p:cNvPr id="24" name="TextBox 23"/>
          <p:cNvSpPr txBox="1"/>
          <p:nvPr/>
        </p:nvSpPr>
        <p:spPr>
          <a:xfrm>
            <a:off x="1371600" y="4389120"/>
            <a:ext cx="10058400" cy="320040"/>
          </a:xfrm>
          <a:prstGeom prst="rect">
            <a:avLst/>
          </a:prstGeom>
          <a:noFill/>
        </p:spPr>
        <p:txBody>
          <a:bodyPr wrap="square" lIns="0" rIns="0" tIns="0" bIns="0" anchor="t">
            <a:spAutoFit/>
          </a:bodyPr>
          <a:lstStyle/>
          <a:p>
            <a:pPr algn="l"/>
            <a:r>
              <a:rPr sz="1600" b="1" i="0">
                <a:solidFill>
                  <a:srgbClr val="21295C"/>
                </a:solidFill>
                <a:latin typeface="Calibri"/>
              </a:rPr>
              <a:t>What's in it for QUB</a:t>
            </a:r>
          </a:p>
        </p:txBody>
      </p:sp>
      <p:sp>
        <p:nvSpPr>
          <p:cNvPr id="25" name="TextBox 24"/>
          <p:cNvSpPr txBox="1"/>
          <p:nvPr/>
        </p:nvSpPr>
        <p:spPr>
          <a:xfrm>
            <a:off x="1371600" y="4681728"/>
            <a:ext cx="10058400" cy="274320"/>
          </a:xfrm>
          <a:prstGeom prst="rect">
            <a:avLst/>
          </a:prstGeom>
          <a:noFill/>
        </p:spPr>
        <p:txBody>
          <a:bodyPr wrap="square" lIns="0" rIns="0" tIns="0" bIns="0" anchor="t">
            <a:spAutoFit/>
          </a:bodyPr>
          <a:lstStyle/>
          <a:p>
            <a:pPr algn="l"/>
            <a:r>
              <a:rPr sz="1200" b="0" i="1">
                <a:solidFill>
                  <a:srgbClr val="64748B"/>
                </a:solidFill>
                <a:latin typeface="Calibri"/>
              </a:rPr>
              <a:t>Funding, publications, industry case study, ongoing collaboration</a:t>
            </a:r>
          </a:p>
        </p:txBody>
      </p:sp>
      <p:sp>
        <p:nvSpPr>
          <p:cNvPr id="26" name="Oval 25"/>
          <p:cNvSpPr/>
          <p:nvPr/>
        </p:nvSpPr>
        <p:spPr>
          <a:xfrm>
            <a:off x="640080" y="5120640"/>
            <a:ext cx="502920" cy="50292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5120640"/>
            <a:ext cx="502920" cy="502920"/>
          </a:xfrm>
          <a:prstGeom prst="rect">
            <a:avLst/>
          </a:prstGeom>
          <a:noFill/>
        </p:spPr>
        <p:txBody>
          <a:bodyPr wrap="square" lIns="0" rIns="0" tIns="0" bIns="0" anchor="ctr">
            <a:spAutoFit/>
          </a:bodyPr>
          <a:lstStyle/>
          <a:p>
            <a:pPr algn="ctr"/>
            <a:r>
              <a:rPr sz="1400" b="1" i="0">
                <a:solidFill>
                  <a:srgbClr val="FFFFFF"/>
                </a:solidFill>
                <a:latin typeface="Calibri"/>
              </a:rPr>
              <a:t>06</a:t>
            </a:r>
          </a:p>
        </p:txBody>
      </p:sp>
      <p:sp>
        <p:nvSpPr>
          <p:cNvPr id="28" name="TextBox 27"/>
          <p:cNvSpPr txBox="1"/>
          <p:nvPr/>
        </p:nvSpPr>
        <p:spPr>
          <a:xfrm>
            <a:off x="1371600" y="5102352"/>
            <a:ext cx="10058400" cy="320040"/>
          </a:xfrm>
          <a:prstGeom prst="rect">
            <a:avLst/>
          </a:prstGeom>
          <a:noFill/>
        </p:spPr>
        <p:txBody>
          <a:bodyPr wrap="square" lIns="0" rIns="0" tIns="0" bIns="0" anchor="t">
            <a:spAutoFit/>
          </a:bodyPr>
          <a:lstStyle/>
          <a:p>
            <a:pPr algn="l"/>
            <a:r>
              <a:rPr sz="1600" b="1" i="0">
                <a:solidFill>
                  <a:srgbClr val="21295C"/>
                </a:solidFill>
                <a:latin typeface="Calibri"/>
              </a:rPr>
              <a:t>Next steps</a:t>
            </a:r>
          </a:p>
        </p:txBody>
      </p:sp>
      <p:sp>
        <p:nvSpPr>
          <p:cNvPr id="29" name="TextBox 28"/>
          <p:cNvSpPr txBox="1"/>
          <p:nvPr/>
        </p:nvSpPr>
        <p:spPr>
          <a:xfrm>
            <a:off x="1371600" y="5394960"/>
            <a:ext cx="10058400" cy="274320"/>
          </a:xfrm>
          <a:prstGeom prst="rect">
            <a:avLst/>
          </a:prstGeom>
          <a:noFill/>
        </p:spPr>
        <p:txBody>
          <a:bodyPr wrap="square" lIns="0" rIns="0" tIns="0" bIns="0" anchor="t">
            <a:spAutoFit/>
          </a:bodyPr>
          <a:lstStyle/>
          <a:p>
            <a:pPr algn="l"/>
            <a:r>
              <a:rPr sz="1200" b="0" i="1">
                <a:solidFill>
                  <a:srgbClr val="64748B"/>
                </a:solidFill>
                <a:latin typeface="Calibri"/>
              </a:rPr>
              <a:t>Decision timeline and what we'd like to walk away with today</a:t>
            </a:r>
          </a:p>
        </p:txBody>
      </p:sp>
      <p:sp>
        <p:nvSpPr>
          <p:cNvPr id="30" name="TextBox 29"/>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31" name="TextBox 30"/>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ABOUT US</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OTShield: a UK ICS security platform, not a research prototype</a:t>
            </a:r>
          </a:p>
        </p:txBody>
      </p:sp>
      <p:sp>
        <p:nvSpPr>
          <p:cNvPr id="6" name="TextBox 5"/>
          <p:cNvSpPr txBox="1"/>
          <p:nvPr/>
        </p:nvSpPr>
        <p:spPr>
          <a:xfrm>
            <a:off x="457200" y="1554480"/>
            <a:ext cx="5486400" cy="365760"/>
          </a:xfrm>
          <a:prstGeom prst="rect">
            <a:avLst/>
          </a:prstGeom>
          <a:noFill/>
        </p:spPr>
        <p:txBody>
          <a:bodyPr wrap="square" lIns="0" rIns="0" tIns="0" bIns="0" anchor="t">
            <a:spAutoFit/>
          </a:bodyPr>
          <a:lstStyle/>
          <a:p>
            <a:pPr algn="l"/>
            <a:r>
              <a:rPr sz="1800" b="1" i="0">
                <a:solidFill>
                  <a:srgbClr val="065A82"/>
                </a:solidFill>
                <a:latin typeface="Calibri"/>
              </a:rPr>
              <a:t>Who we are</a:t>
            </a:r>
          </a:p>
        </p:txBody>
      </p:sp>
      <p:sp>
        <p:nvSpPr>
          <p:cNvPr id="7" name="TextBox 6"/>
          <p:cNvSpPr txBox="1"/>
          <p:nvPr/>
        </p:nvSpPr>
        <p:spPr>
          <a:xfrm>
            <a:off x="457200" y="1965960"/>
            <a:ext cx="5669280" cy="4114800"/>
          </a:xfrm>
          <a:prstGeom prst="rect">
            <a:avLst/>
          </a:prstGeom>
          <a:noFill/>
        </p:spPr>
        <p:txBody>
          <a:bodyPr wrap="square" lIns="0" rIns="0" tIns="0" bIns="0" anchor="t">
            <a:spAutoFit/>
          </a:bodyPr>
          <a:lstStyle/>
          <a:p>
            <a:pPr algn="l">
              <a:lnSpc>
                <a:spcPct val="120000"/>
              </a:lnSpc>
              <a:spcAft>
                <a:spcPts val="200"/>
              </a:spcAft>
            </a:pPr>
            <a:r>
              <a:rPr sz="1300" b="1" i="0">
                <a:solidFill>
                  <a:srgbClr val="1E293B"/>
                </a:solidFill>
                <a:latin typeface="Calibri"/>
              </a:rPr>
              <a:t>Safetech Global Limited (trading as OTShield)</a:t>
            </a:r>
          </a:p>
          <a:p>
            <a:pPr algn="l">
              <a:lnSpc>
                <a:spcPct val="120000"/>
              </a:lnSpc>
              <a:spcAft>
                <a:spcPts val="800"/>
              </a:spcAft>
            </a:pPr>
            <a:r>
              <a:rPr sz="1200" b="0" i="0">
                <a:solidFill>
                  <a:srgbClr val="64748B"/>
                </a:solidFill>
                <a:latin typeface="Calibri"/>
              </a:rPr>
              <a:t>UK-registered company (Reg. No. 15233187), incorporated October 2023, based at 7 Bell Yard, London.</a:t>
            </a:r>
          </a:p>
          <a:p>
            <a:pPr algn="l">
              <a:lnSpc>
                <a:spcPct val="120000"/>
              </a:lnSpc>
              <a:spcAft>
                <a:spcPts val="200"/>
              </a:spcAft>
            </a:pPr>
            <a:r>
              <a:rPr sz="1300" b="1" i="0">
                <a:solidFill>
                  <a:srgbClr val="065A82"/>
                </a:solidFill>
                <a:latin typeface="Calibri"/>
              </a:rPr>
              <a:t>What we build</a:t>
            </a:r>
          </a:p>
          <a:p>
            <a:pPr algn="l">
              <a:lnSpc>
                <a:spcPct val="120000"/>
              </a:lnSpc>
              <a:spcAft>
                <a:spcPts val="800"/>
              </a:spcAft>
            </a:pPr>
            <a:r>
              <a:rPr sz="1200" b="0" i="0">
                <a:solidFill>
                  <a:srgbClr val="1E293B"/>
                </a:solidFill>
                <a:latin typeface="Calibri"/>
              </a:rPr>
              <a:t>An ICS / OT cyber security platform combining a deception-based SOC layer with an offline research workbench. Purpose-built for critical national infrastructure operators.</a:t>
            </a:r>
          </a:p>
          <a:p>
            <a:pPr algn="l">
              <a:lnSpc>
                <a:spcPct val="120000"/>
              </a:lnSpc>
              <a:spcAft>
                <a:spcPts val="200"/>
              </a:spcAft>
            </a:pPr>
            <a:r>
              <a:rPr sz="1300" b="1" i="0">
                <a:solidFill>
                  <a:srgbClr val="065A82"/>
                </a:solidFill>
                <a:latin typeface="Calibri"/>
              </a:rPr>
              <a:t>Where we stand</a:t>
            </a:r>
          </a:p>
          <a:p>
            <a:pPr algn="l">
              <a:lnSpc>
                <a:spcPct val="120000"/>
              </a:lnSpc>
              <a:spcAft>
                <a:spcPts val="200"/>
              </a:spcAft>
            </a:pPr>
            <a:r>
              <a:rPr sz="1200" b="0" i="0">
                <a:solidFill>
                  <a:srgbClr val="1E293B"/>
                </a:solidFill>
                <a:latin typeface="Calibri"/>
              </a:rPr>
              <a:t>Pre-revenue, but commercially structured: three published price tiers (£20K / £50K / £75K per year), active pipeline, NIS2 / IEC 62443 / NCSC CAF alignment.</a:t>
            </a:r>
          </a:p>
        </p:txBody>
      </p:sp>
      <p:sp>
        <p:nvSpPr>
          <p:cNvPr id="8" name="Rounded Rectangle 7"/>
          <p:cNvSpPr/>
          <p:nvPr/>
        </p:nvSpPr>
        <p:spPr>
          <a:xfrm>
            <a:off x="6492240" y="1554480"/>
            <a:ext cx="5212080" cy="1280160"/>
          </a:xfrm>
          <a:prstGeom prst="roundRect">
            <a:avLst>
              <a:gd name="adj" fmla="val 8000"/>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91640"/>
            <a:ext cx="4846320" cy="365760"/>
          </a:xfrm>
          <a:prstGeom prst="rect">
            <a:avLst/>
          </a:prstGeom>
          <a:noFill/>
        </p:spPr>
        <p:txBody>
          <a:bodyPr wrap="square" lIns="0" rIns="0" tIns="0" bIns="0" anchor="t">
            <a:spAutoFit/>
          </a:bodyPr>
          <a:lstStyle/>
          <a:p>
            <a:pPr algn="l"/>
            <a:r>
              <a:rPr sz="1000" b="1" i="0">
                <a:solidFill>
                  <a:srgbClr val="14B8A6"/>
                </a:solidFill>
                <a:latin typeface="Calibri"/>
              </a:rPr>
              <a:t>RECOGNITION</a:t>
            </a:r>
          </a:p>
        </p:txBody>
      </p:sp>
      <p:sp>
        <p:nvSpPr>
          <p:cNvPr id="10" name="TextBox 9"/>
          <p:cNvSpPr txBox="1"/>
          <p:nvPr/>
        </p:nvSpPr>
        <p:spPr>
          <a:xfrm>
            <a:off x="6675120" y="1965960"/>
            <a:ext cx="4846320" cy="457200"/>
          </a:xfrm>
          <a:prstGeom prst="rect">
            <a:avLst/>
          </a:prstGeom>
          <a:noFill/>
        </p:spPr>
        <p:txBody>
          <a:bodyPr wrap="square" lIns="0" rIns="0" tIns="0" bIns="0" anchor="t">
            <a:spAutoFit/>
          </a:bodyPr>
          <a:lstStyle/>
          <a:p>
            <a:pPr algn="l"/>
            <a:r>
              <a:rPr sz="1700" b="1" i="0">
                <a:solidFill>
                  <a:srgbClr val="FFFFFF"/>
                </a:solidFill>
                <a:latin typeface="Calibri"/>
              </a:rPr>
              <a:t>Most Innovative OT Security Company 2026</a:t>
            </a:r>
          </a:p>
        </p:txBody>
      </p:sp>
      <p:sp>
        <p:nvSpPr>
          <p:cNvPr id="11" name="TextBox 10"/>
          <p:cNvSpPr txBox="1"/>
          <p:nvPr/>
        </p:nvSpPr>
        <p:spPr>
          <a:xfrm>
            <a:off x="6675120" y="2331720"/>
            <a:ext cx="4846320" cy="457200"/>
          </a:xfrm>
          <a:prstGeom prst="rect">
            <a:avLst/>
          </a:prstGeom>
          <a:noFill/>
        </p:spPr>
        <p:txBody>
          <a:bodyPr wrap="square" lIns="0" rIns="0" tIns="0" bIns="0" anchor="t">
            <a:spAutoFit/>
          </a:bodyPr>
          <a:lstStyle/>
          <a:p>
            <a:pPr algn="l"/>
            <a:r>
              <a:rPr sz="1100" b="0" i="1">
                <a:solidFill>
                  <a:srgbClr val="CADCFC"/>
                </a:solidFill>
                <a:latin typeface="Calibri"/>
              </a:rPr>
              <a:t>UK Enterprise Awards  |  12 industry awards to date</a:t>
            </a:r>
          </a:p>
        </p:txBody>
      </p:sp>
      <p:sp>
        <p:nvSpPr>
          <p:cNvPr id="12" name="Rounded Rectangle 11"/>
          <p:cNvSpPr/>
          <p:nvPr/>
        </p:nvSpPr>
        <p:spPr>
          <a:xfrm>
            <a:off x="6492240" y="3017520"/>
            <a:ext cx="1673352" cy="1371600"/>
          </a:xfrm>
          <a:prstGeom prst="roundRect">
            <a:avLst>
              <a:gd name="adj" fmla="val 8000"/>
            </a:avLst>
          </a:prstGeom>
          <a:solidFill>
            <a:srgbClr val="FFFFFF"/>
          </a:solidFill>
          <a:ln w="9525">
            <a:solidFill>
              <a:srgbClr val="C9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127248"/>
            <a:ext cx="1673352" cy="502920"/>
          </a:xfrm>
          <a:prstGeom prst="rect">
            <a:avLst/>
          </a:prstGeom>
          <a:noFill/>
        </p:spPr>
        <p:txBody>
          <a:bodyPr wrap="square" lIns="0" rIns="0" tIns="0" bIns="0" anchor="t">
            <a:spAutoFit/>
          </a:bodyPr>
          <a:lstStyle/>
          <a:p>
            <a:pPr algn="ctr"/>
            <a:r>
              <a:rPr sz="2600" b="1" i="0">
                <a:solidFill>
                  <a:srgbClr val="065A82"/>
                </a:solidFill>
                <a:latin typeface="Calibri"/>
              </a:rPr>
              <a:t>157</a:t>
            </a:r>
          </a:p>
        </p:txBody>
      </p:sp>
      <p:sp>
        <p:nvSpPr>
          <p:cNvPr id="14" name="TextBox 13"/>
          <p:cNvSpPr txBox="1"/>
          <p:nvPr/>
        </p:nvSpPr>
        <p:spPr>
          <a:xfrm>
            <a:off x="6492240" y="3657600"/>
            <a:ext cx="1673352" cy="274320"/>
          </a:xfrm>
          <a:prstGeom prst="rect">
            <a:avLst/>
          </a:prstGeom>
          <a:noFill/>
        </p:spPr>
        <p:txBody>
          <a:bodyPr wrap="square" lIns="0" rIns="0" tIns="0" bIns="0" anchor="t">
            <a:spAutoFit/>
          </a:bodyPr>
          <a:lstStyle/>
          <a:p>
            <a:pPr algn="ctr"/>
            <a:r>
              <a:rPr sz="1100" b="1" i="0">
                <a:solidFill>
                  <a:srgbClr val="1E293B"/>
                </a:solidFill>
                <a:latin typeface="Calibri"/>
              </a:rPr>
              <a:t>unique attackers</a:t>
            </a:r>
          </a:p>
        </p:txBody>
      </p:sp>
      <p:sp>
        <p:nvSpPr>
          <p:cNvPr id="15" name="TextBox 14"/>
          <p:cNvSpPr txBox="1"/>
          <p:nvPr/>
        </p:nvSpPr>
        <p:spPr>
          <a:xfrm>
            <a:off x="6492240" y="3950208"/>
            <a:ext cx="1673352" cy="274320"/>
          </a:xfrm>
          <a:prstGeom prst="rect">
            <a:avLst/>
          </a:prstGeom>
          <a:noFill/>
        </p:spPr>
        <p:txBody>
          <a:bodyPr wrap="square" lIns="0" rIns="0" tIns="0" bIns="0" anchor="t">
            <a:spAutoFit/>
          </a:bodyPr>
          <a:lstStyle/>
          <a:p>
            <a:pPr algn="ctr"/>
            <a:r>
              <a:rPr sz="1000" b="0" i="1">
                <a:solidFill>
                  <a:srgbClr val="64748B"/>
                </a:solidFill>
                <a:latin typeface="Calibri"/>
              </a:rPr>
              <a:t>captured live</a:t>
            </a:r>
          </a:p>
        </p:txBody>
      </p:sp>
      <p:sp>
        <p:nvSpPr>
          <p:cNvPr id="16" name="Rounded Rectangle 15"/>
          <p:cNvSpPr/>
          <p:nvPr/>
        </p:nvSpPr>
        <p:spPr>
          <a:xfrm>
            <a:off x="8211312" y="3017520"/>
            <a:ext cx="1673352" cy="1371600"/>
          </a:xfrm>
          <a:prstGeom prst="roundRect">
            <a:avLst>
              <a:gd name="adj" fmla="val 8000"/>
            </a:avLst>
          </a:prstGeom>
          <a:solidFill>
            <a:srgbClr val="FFFFFF"/>
          </a:solidFill>
          <a:ln w="9525">
            <a:solidFill>
              <a:srgbClr val="C9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127248"/>
            <a:ext cx="1673352" cy="502920"/>
          </a:xfrm>
          <a:prstGeom prst="rect">
            <a:avLst/>
          </a:prstGeom>
          <a:noFill/>
        </p:spPr>
        <p:txBody>
          <a:bodyPr wrap="square" lIns="0" rIns="0" tIns="0" bIns="0" anchor="t">
            <a:spAutoFit/>
          </a:bodyPr>
          <a:lstStyle/>
          <a:p>
            <a:pPr algn="ctr"/>
            <a:r>
              <a:rPr sz="2600" b="1" i="0">
                <a:solidFill>
                  <a:srgbClr val="065A82"/>
                </a:solidFill>
                <a:latin typeface="Calibri"/>
              </a:rPr>
              <a:t>20</a:t>
            </a:r>
          </a:p>
        </p:txBody>
      </p:sp>
      <p:sp>
        <p:nvSpPr>
          <p:cNvPr id="18" name="TextBox 17"/>
          <p:cNvSpPr txBox="1"/>
          <p:nvPr/>
        </p:nvSpPr>
        <p:spPr>
          <a:xfrm>
            <a:off x="8211312" y="3657600"/>
            <a:ext cx="1673352" cy="274320"/>
          </a:xfrm>
          <a:prstGeom prst="rect">
            <a:avLst/>
          </a:prstGeom>
          <a:noFill/>
        </p:spPr>
        <p:txBody>
          <a:bodyPr wrap="square" lIns="0" rIns="0" tIns="0" bIns="0" anchor="t">
            <a:spAutoFit/>
          </a:bodyPr>
          <a:lstStyle/>
          <a:p>
            <a:pPr algn="ctr"/>
            <a:r>
              <a:rPr sz="1100" b="1" i="0">
                <a:solidFill>
                  <a:srgbClr val="1E293B"/>
                </a:solidFill>
                <a:latin typeface="Calibri"/>
              </a:rPr>
              <a:t>source countries</a:t>
            </a:r>
          </a:p>
        </p:txBody>
      </p:sp>
      <p:sp>
        <p:nvSpPr>
          <p:cNvPr id="19" name="TextBox 18"/>
          <p:cNvSpPr txBox="1"/>
          <p:nvPr/>
        </p:nvSpPr>
        <p:spPr>
          <a:xfrm>
            <a:off x="8211312" y="3950208"/>
            <a:ext cx="1673352" cy="274320"/>
          </a:xfrm>
          <a:prstGeom prst="rect">
            <a:avLst/>
          </a:prstGeom>
          <a:noFill/>
        </p:spPr>
        <p:txBody>
          <a:bodyPr wrap="square" lIns="0" rIns="0" tIns="0" bIns="0" anchor="t">
            <a:spAutoFit/>
          </a:bodyPr>
          <a:lstStyle/>
          <a:p>
            <a:pPr algn="ctr"/>
            <a:r>
              <a:rPr sz="1000" b="0" i="1">
                <a:solidFill>
                  <a:srgbClr val="64748B"/>
                </a:solidFill>
                <a:latin typeface="Calibri"/>
              </a:rPr>
              <a:t>ICS-aware actors</a:t>
            </a:r>
          </a:p>
        </p:txBody>
      </p:sp>
      <p:sp>
        <p:nvSpPr>
          <p:cNvPr id="20" name="Rounded Rectangle 19"/>
          <p:cNvSpPr/>
          <p:nvPr/>
        </p:nvSpPr>
        <p:spPr>
          <a:xfrm>
            <a:off x="9930384" y="3017520"/>
            <a:ext cx="1673352" cy="1371600"/>
          </a:xfrm>
          <a:prstGeom prst="roundRect">
            <a:avLst>
              <a:gd name="adj" fmla="val 8000"/>
            </a:avLst>
          </a:prstGeom>
          <a:solidFill>
            <a:srgbClr val="FFFFFF"/>
          </a:solidFill>
          <a:ln w="9525">
            <a:solidFill>
              <a:srgbClr val="C9D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30384" y="3127248"/>
            <a:ext cx="1673352" cy="502920"/>
          </a:xfrm>
          <a:prstGeom prst="rect">
            <a:avLst/>
          </a:prstGeom>
          <a:noFill/>
        </p:spPr>
        <p:txBody>
          <a:bodyPr wrap="square" lIns="0" rIns="0" tIns="0" bIns="0" anchor="t">
            <a:spAutoFit/>
          </a:bodyPr>
          <a:lstStyle/>
          <a:p>
            <a:pPr algn="ctr"/>
            <a:r>
              <a:rPr sz="2600" b="1" i="0">
                <a:solidFill>
                  <a:srgbClr val="065A82"/>
                </a:solidFill>
                <a:latin typeface="Calibri"/>
              </a:rPr>
              <a:t>12,968</a:t>
            </a:r>
          </a:p>
        </p:txBody>
      </p:sp>
      <p:sp>
        <p:nvSpPr>
          <p:cNvPr id="22" name="TextBox 21"/>
          <p:cNvSpPr txBox="1"/>
          <p:nvPr/>
        </p:nvSpPr>
        <p:spPr>
          <a:xfrm>
            <a:off x="9930384" y="3657600"/>
            <a:ext cx="1673352" cy="274320"/>
          </a:xfrm>
          <a:prstGeom prst="rect">
            <a:avLst/>
          </a:prstGeom>
          <a:noFill/>
        </p:spPr>
        <p:txBody>
          <a:bodyPr wrap="square" lIns="0" rIns="0" tIns="0" bIns="0" anchor="t">
            <a:spAutoFit/>
          </a:bodyPr>
          <a:lstStyle/>
          <a:p>
            <a:pPr algn="ctr"/>
            <a:r>
              <a:rPr sz="1100" b="1" i="0">
                <a:solidFill>
                  <a:srgbClr val="1E293B"/>
                </a:solidFill>
                <a:latin typeface="Calibri"/>
              </a:rPr>
              <a:t>real attacks</a:t>
            </a:r>
          </a:p>
        </p:txBody>
      </p:sp>
      <p:sp>
        <p:nvSpPr>
          <p:cNvPr id="23" name="TextBox 22"/>
          <p:cNvSpPr txBox="1"/>
          <p:nvPr/>
        </p:nvSpPr>
        <p:spPr>
          <a:xfrm>
            <a:off x="9930384" y="3950208"/>
            <a:ext cx="1673352" cy="274320"/>
          </a:xfrm>
          <a:prstGeom prst="rect">
            <a:avLst/>
          </a:prstGeom>
          <a:noFill/>
        </p:spPr>
        <p:txBody>
          <a:bodyPr wrap="square" lIns="0" rIns="0" tIns="0" bIns="0" anchor="t">
            <a:spAutoFit/>
          </a:bodyPr>
          <a:lstStyle/>
          <a:p>
            <a:pPr algn="ctr"/>
            <a:r>
              <a:rPr sz="1000" b="0" i="1">
                <a:solidFill>
                  <a:srgbClr val="64748B"/>
                </a:solidFill>
                <a:latin typeface="Calibri"/>
              </a:rPr>
              <a:t>in first days</a:t>
            </a:r>
          </a:p>
        </p:txBody>
      </p:sp>
      <p:sp>
        <p:nvSpPr>
          <p:cNvPr id="24" name="Rounded Rectangle 23"/>
          <p:cNvSpPr/>
          <p:nvPr/>
        </p:nvSpPr>
        <p:spPr>
          <a:xfrm>
            <a:off x="6492240" y="4572000"/>
            <a:ext cx="5212080" cy="1691640"/>
          </a:xfrm>
          <a:prstGeom prst="roundRect">
            <a:avLst>
              <a:gd name="adj" fmla="val 8000"/>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4709160"/>
            <a:ext cx="4846320" cy="320040"/>
          </a:xfrm>
          <a:prstGeom prst="rect">
            <a:avLst/>
          </a:prstGeom>
          <a:noFill/>
        </p:spPr>
        <p:txBody>
          <a:bodyPr wrap="square" lIns="0" rIns="0" tIns="0" bIns="0" anchor="t">
            <a:spAutoFit/>
          </a:bodyPr>
          <a:lstStyle/>
          <a:p>
            <a:pPr algn="l"/>
            <a:r>
              <a:rPr sz="1000" b="1" i="0">
                <a:solidFill>
                  <a:srgbClr val="CCFBF1"/>
                </a:solidFill>
                <a:latin typeface="Calibri"/>
              </a:rPr>
              <a:t>LIVE EVIDENCE</a:t>
            </a:r>
          </a:p>
        </p:txBody>
      </p:sp>
      <p:sp>
        <p:nvSpPr>
          <p:cNvPr id="26" name="TextBox 25"/>
          <p:cNvSpPr txBox="1"/>
          <p:nvPr/>
        </p:nvSpPr>
        <p:spPr>
          <a:xfrm>
            <a:off x="6675120" y="4983480"/>
            <a:ext cx="4846320" cy="1371600"/>
          </a:xfrm>
          <a:prstGeom prst="rect">
            <a:avLst/>
          </a:prstGeom>
          <a:noFill/>
        </p:spPr>
        <p:txBody>
          <a:bodyPr wrap="square" lIns="0" rIns="0" tIns="0" bIns="0" anchor="t">
            <a:spAutoFit/>
          </a:bodyPr>
          <a:lstStyle/>
          <a:p>
            <a:pPr algn="l">
              <a:lnSpc>
                <a:spcPct val="120000"/>
              </a:lnSpc>
              <a:spcAft>
                <a:spcPts val="200"/>
              </a:spcAft>
            </a:pPr>
            <a:r>
              <a:rPr sz="1400" b="1" i="0">
                <a:solidFill>
                  <a:srgbClr val="FFFFFF"/>
                </a:solidFill>
                <a:latin typeface="Calibri"/>
              </a:rPr>
              <a:t>Internet-exposed decoy fabric</a:t>
            </a:r>
          </a:p>
          <a:p>
            <a:pPr algn="l">
              <a:lnSpc>
                <a:spcPct val="120000"/>
              </a:lnSpc>
              <a:spcAft>
                <a:spcPts val="200"/>
              </a:spcAft>
            </a:pPr>
            <a:r>
              <a:rPr sz="1100" b="0" i="0">
                <a:solidFill>
                  <a:srgbClr val="E6FFFA"/>
                </a:solidFill>
                <a:latin typeface="Calibri"/>
              </a:rPr>
              <a:t>Operating live today against real attackers. Realistic protocol-aware decoys for Modbus, S7Comm, EtherNet/IP, OPC UA, DNP3.</a:t>
            </a:r>
          </a:p>
        </p:txBody>
      </p:sp>
      <p:sp>
        <p:nvSpPr>
          <p:cNvPr id="27" name="TextBox 26"/>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28" name="TextBox 27"/>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THE PROBLEM</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UK Energy CNI is under attack — and current tooling falls short</a:t>
            </a:r>
          </a:p>
        </p:txBody>
      </p:sp>
      <p:sp>
        <p:nvSpPr>
          <p:cNvPr id="6" name="Rounded Rectangle 5"/>
          <p:cNvSpPr/>
          <p:nvPr/>
        </p:nvSpPr>
        <p:spPr>
          <a:xfrm>
            <a:off x="457200" y="1554480"/>
            <a:ext cx="3794760" cy="402336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379476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83080"/>
            <a:ext cx="457200" cy="365760"/>
          </a:xfrm>
          <a:prstGeom prst="rect">
            <a:avLst/>
          </a:prstGeom>
          <a:noFill/>
        </p:spPr>
        <p:txBody>
          <a:bodyPr wrap="square" lIns="0" rIns="0" tIns="0" bIns="0" anchor="t">
            <a:spAutoFit/>
          </a:bodyPr>
          <a:lstStyle/>
          <a:p>
            <a:pPr algn="l"/>
            <a:r>
              <a:rPr sz="2400" b="1" i="0">
                <a:solidFill>
                  <a:srgbClr val="DC2626"/>
                </a:solidFill>
                <a:latin typeface="Calibri"/>
              </a:rPr>
              <a:t>01</a:t>
            </a:r>
          </a:p>
        </p:txBody>
      </p:sp>
      <p:sp>
        <p:nvSpPr>
          <p:cNvPr id="9" name="TextBox 8"/>
          <p:cNvSpPr txBox="1"/>
          <p:nvPr/>
        </p:nvSpPr>
        <p:spPr>
          <a:xfrm>
            <a:off x="731520" y="2240280"/>
            <a:ext cx="3246120" cy="731520"/>
          </a:xfrm>
          <a:prstGeom prst="rect">
            <a:avLst/>
          </a:prstGeom>
          <a:noFill/>
        </p:spPr>
        <p:txBody>
          <a:bodyPr wrap="square" lIns="0" rIns="0" tIns="0" bIns="0" anchor="t">
            <a:spAutoFit/>
          </a:bodyPr>
          <a:lstStyle/>
          <a:p>
            <a:pPr algn="l"/>
            <a:r>
              <a:rPr sz="1500" b="1" i="0">
                <a:solidFill>
                  <a:srgbClr val="21295C"/>
                </a:solidFill>
                <a:latin typeface="Calibri"/>
              </a:rPr>
              <a:t>Sophisticated actors targeting CNI</a:t>
            </a:r>
          </a:p>
        </p:txBody>
      </p:sp>
      <p:sp>
        <p:nvSpPr>
          <p:cNvPr id="10" name="TextBox 9"/>
          <p:cNvSpPr txBox="1"/>
          <p:nvPr/>
        </p:nvSpPr>
        <p:spPr>
          <a:xfrm>
            <a:off x="731520" y="3108960"/>
            <a:ext cx="3246120" cy="1828800"/>
          </a:xfrm>
          <a:prstGeom prst="rect">
            <a:avLst/>
          </a:prstGeom>
          <a:noFill/>
        </p:spPr>
        <p:txBody>
          <a:bodyPr wrap="square" lIns="0" rIns="0" tIns="0" bIns="0" anchor="t">
            <a:spAutoFit/>
          </a:bodyPr>
          <a:lstStyle/>
          <a:p>
            <a:pPr algn="l"/>
            <a:r>
              <a:rPr sz="1200" b="0" i="0">
                <a:solidFill>
                  <a:srgbClr val="1E293B"/>
                </a:solidFill>
                <a:latin typeface="Calibri"/>
              </a:rPr>
              <a:t>State-aligned and criminal groups increasingly probing ICS protocols. UK NCSC publicly warns about CNI compromise.</a:t>
            </a:r>
          </a:p>
        </p:txBody>
      </p:sp>
      <p:sp>
        <p:nvSpPr>
          <p:cNvPr id="11" name="TextBox 10"/>
          <p:cNvSpPr txBox="1"/>
          <p:nvPr/>
        </p:nvSpPr>
        <p:spPr>
          <a:xfrm>
            <a:off x="731520" y="5120640"/>
            <a:ext cx="3246120" cy="274320"/>
          </a:xfrm>
          <a:prstGeom prst="rect">
            <a:avLst/>
          </a:prstGeom>
          <a:noFill/>
        </p:spPr>
        <p:txBody>
          <a:bodyPr wrap="square" lIns="0" rIns="0" tIns="0" bIns="0" anchor="t">
            <a:spAutoFit/>
          </a:bodyPr>
          <a:lstStyle/>
          <a:p>
            <a:pPr algn="l"/>
            <a:r>
              <a:rPr sz="1000" b="0" i="1">
                <a:solidFill>
                  <a:srgbClr val="64748B"/>
                </a:solidFill>
                <a:latin typeface="Calibri"/>
              </a:rPr>
              <a:t>Annual Review 2024</a:t>
            </a:r>
          </a:p>
        </p:txBody>
      </p:sp>
      <p:sp>
        <p:nvSpPr>
          <p:cNvPr id="12" name="Rounded Rectangle 11"/>
          <p:cNvSpPr/>
          <p:nvPr/>
        </p:nvSpPr>
        <p:spPr>
          <a:xfrm>
            <a:off x="4398264" y="1554480"/>
            <a:ext cx="3794760" cy="402336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8264" y="1554480"/>
            <a:ext cx="379476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72584" y="1783080"/>
            <a:ext cx="457200" cy="365760"/>
          </a:xfrm>
          <a:prstGeom prst="rect">
            <a:avLst/>
          </a:prstGeom>
          <a:noFill/>
        </p:spPr>
        <p:txBody>
          <a:bodyPr wrap="square" lIns="0" rIns="0" tIns="0" bIns="0" anchor="t">
            <a:spAutoFit/>
          </a:bodyPr>
          <a:lstStyle/>
          <a:p>
            <a:pPr algn="l"/>
            <a:r>
              <a:rPr sz="2400" b="1" i="0">
                <a:solidFill>
                  <a:srgbClr val="DC2626"/>
                </a:solidFill>
                <a:latin typeface="Calibri"/>
              </a:rPr>
              <a:t>02</a:t>
            </a:r>
          </a:p>
        </p:txBody>
      </p:sp>
      <p:sp>
        <p:nvSpPr>
          <p:cNvPr id="15" name="TextBox 14"/>
          <p:cNvSpPr txBox="1"/>
          <p:nvPr/>
        </p:nvSpPr>
        <p:spPr>
          <a:xfrm>
            <a:off x="4672584" y="2240280"/>
            <a:ext cx="3246120" cy="731520"/>
          </a:xfrm>
          <a:prstGeom prst="rect">
            <a:avLst/>
          </a:prstGeom>
          <a:noFill/>
        </p:spPr>
        <p:txBody>
          <a:bodyPr wrap="square" lIns="0" rIns="0" tIns="0" bIns="0" anchor="t">
            <a:spAutoFit/>
          </a:bodyPr>
          <a:lstStyle/>
          <a:p>
            <a:pPr algn="l"/>
            <a:r>
              <a:rPr sz="1500" b="1" i="0">
                <a:solidFill>
                  <a:srgbClr val="21295C"/>
                </a:solidFill>
                <a:latin typeface="Calibri"/>
              </a:rPr>
              <a:t>Legacy OT infrastructure exposure</a:t>
            </a:r>
          </a:p>
        </p:txBody>
      </p:sp>
      <p:sp>
        <p:nvSpPr>
          <p:cNvPr id="16" name="TextBox 15"/>
          <p:cNvSpPr txBox="1"/>
          <p:nvPr/>
        </p:nvSpPr>
        <p:spPr>
          <a:xfrm>
            <a:off x="4672584" y="3108960"/>
            <a:ext cx="3246120" cy="1828800"/>
          </a:xfrm>
          <a:prstGeom prst="rect">
            <a:avLst/>
          </a:prstGeom>
          <a:noFill/>
        </p:spPr>
        <p:txBody>
          <a:bodyPr wrap="square" lIns="0" rIns="0" tIns="0" bIns="0" anchor="t">
            <a:spAutoFit/>
          </a:bodyPr>
          <a:lstStyle/>
          <a:p>
            <a:pPr algn="l"/>
            <a:r>
              <a:rPr sz="1200" b="0" i="0">
                <a:solidFill>
                  <a:srgbClr val="1E293B"/>
                </a:solidFill>
                <a:latin typeface="Calibri"/>
              </a:rPr>
              <a:t>Decade-old PLCs, RTUs, HMIs running protocols designed without authentication. Patching cycles measured in years, not days.</a:t>
            </a:r>
          </a:p>
        </p:txBody>
      </p:sp>
      <p:sp>
        <p:nvSpPr>
          <p:cNvPr id="17" name="TextBox 16"/>
          <p:cNvSpPr txBox="1"/>
          <p:nvPr/>
        </p:nvSpPr>
        <p:spPr>
          <a:xfrm>
            <a:off x="4672584" y="5120640"/>
            <a:ext cx="3246120" cy="274320"/>
          </a:xfrm>
          <a:prstGeom prst="rect">
            <a:avLst/>
          </a:prstGeom>
          <a:noFill/>
        </p:spPr>
        <p:txBody>
          <a:bodyPr wrap="square" lIns="0" rIns="0" tIns="0" bIns="0" anchor="t">
            <a:spAutoFit/>
          </a:bodyPr>
          <a:lstStyle/>
          <a:p>
            <a:pPr algn="l"/>
            <a:r>
              <a:rPr sz="1000" b="0" i="1">
                <a:solidFill>
                  <a:srgbClr val="64748B"/>
                </a:solidFill>
                <a:latin typeface="Calibri"/>
              </a:rPr>
              <a:t>Modbus, IEC 104, DNP3, S7</a:t>
            </a:r>
          </a:p>
        </p:txBody>
      </p:sp>
      <p:sp>
        <p:nvSpPr>
          <p:cNvPr id="18" name="Rounded Rectangle 17"/>
          <p:cNvSpPr/>
          <p:nvPr/>
        </p:nvSpPr>
        <p:spPr>
          <a:xfrm>
            <a:off x="8339328" y="1554480"/>
            <a:ext cx="3794760" cy="402336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39328" y="1554480"/>
            <a:ext cx="379476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13648" y="1783080"/>
            <a:ext cx="457200" cy="365760"/>
          </a:xfrm>
          <a:prstGeom prst="rect">
            <a:avLst/>
          </a:prstGeom>
          <a:noFill/>
        </p:spPr>
        <p:txBody>
          <a:bodyPr wrap="square" lIns="0" rIns="0" tIns="0" bIns="0" anchor="t">
            <a:spAutoFit/>
          </a:bodyPr>
          <a:lstStyle/>
          <a:p>
            <a:pPr algn="l"/>
            <a:r>
              <a:rPr sz="2400" b="1" i="0">
                <a:solidFill>
                  <a:srgbClr val="DC2626"/>
                </a:solidFill>
                <a:latin typeface="Calibri"/>
              </a:rPr>
              <a:t>03</a:t>
            </a:r>
          </a:p>
        </p:txBody>
      </p:sp>
      <p:sp>
        <p:nvSpPr>
          <p:cNvPr id="21" name="TextBox 20"/>
          <p:cNvSpPr txBox="1"/>
          <p:nvPr/>
        </p:nvSpPr>
        <p:spPr>
          <a:xfrm>
            <a:off x="8613648" y="2240280"/>
            <a:ext cx="3246120" cy="731520"/>
          </a:xfrm>
          <a:prstGeom prst="rect">
            <a:avLst/>
          </a:prstGeom>
          <a:noFill/>
        </p:spPr>
        <p:txBody>
          <a:bodyPr wrap="square" lIns="0" rIns="0" tIns="0" bIns="0" anchor="t">
            <a:spAutoFit/>
          </a:bodyPr>
          <a:lstStyle/>
          <a:p>
            <a:pPr algn="l"/>
            <a:r>
              <a:rPr sz="1500" b="1" i="0">
                <a:solidFill>
                  <a:srgbClr val="21295C"/>
                </a:solidFill>
                <a:latin typeface="Calibri"/>
              </a:rPr>
              <a:t>Detection blind spots</a:t>
            </a:r>
          </a:p>
        </p:txBody>
      </p:sp>
      <p:sp>
        <p:nvSpPr>
          <p:cNvPr id="22" name="TextBox 21"/>
          <p:cNvSpPr txBox="1"/>
          <p:nvPr/>
        </p:nvSpPr>
        <p:spPr>
          <a:xfrm>
            <a:off x="8613648" y="3108960"/>
            <a:ext cx="3246120" cy="1828800"/>
          </a:xfrm>
          <a:prstGeom prst="rect">
            <a:avLst/>
          </a:prstGeom>
          <a:noFill/>
        </p:spPr>
        <p:txBody>
          <a:bodyPr wrap="square" lIns="0" rIns="0" tIns="0" bIns="0" anchor="t">
            <a:spAutoFit/>
          </a:bodyPr>
          <a:lstStyle/>
          <a:p>
            <a:pPr algn="l"/>
            <a:r>
              <a:rPr sz="1200" b="0" i="0">
                <a:solidFill>
                  <a:srgbClr val="1E293B"/>
                </a:solidFill>
                <a:latin typeface="Calibri"/>
              </a:rPr>
              <a:t>Conventional IT security tools don't speak ICS protocols. SOC teams see network anomalies but not OT semantics.</a:t>
            </a:r>
          </a:p>
        </p:txBody>
      </p:sp>
      <p:sp>
        <p:nvSpPr>
          <p:cNvPr id="23" name="TextBox 22"/>
          <p:cNvSpPr txBox="1"/>
          <p:nvPr/>
        </p:nvSpPr>
        <p:spPr>
          <a:xfrm>
            <a:off x="8613648" y="5120640"/>
            <a:ext cx="3246120" cy="274320"/>
          </a:xfrm>
          <a:prstGeom prst="rect">
            <a:avLst/>
          </a:prstGeom>
          <a:noFill/>
        </p:spPr>
        <p:txBody>
          <a:bodyPr wrap="square" lIns="0" rIns="0" tIns="0" bIns="0" anchor="t">
            <a:spAutoFit/>
          </a:bodyPr>
          <a:lstStyle/>
          <a:p>
            <a:pPr algn="l"/>
            <a:r>
              <a:rPr sz="1000" b="0" i="1">
                <a:solidFill>
                  <a:srgbClr val="64748B"/>
                </a:solidFill>
                <a:latin typeface="Calibri"/>
              </a:rPr>
              <a:t>Dragos / Claroty gaps</a:t>
            </a:r>
          </a:p>
        </p:txBody>
      </p:sp>
      <p:sp>
        <p:nvSpPr>
          <p:cNvPr id="24" name="Rounded Rectangle 23"/>
          <p:cNvSpPr/>
          <p:nvPr/>
        </p:nvSpPr>
        <p:spPr>
          <a:xfrm>
            <a:off x="457200" y="5760720"/>
            <a:ext cx="11247120" cy="777240"/>
          </a:xfrm>
          <a:prstGeom prst="roundRect">
            <a:avLst>
              <a:gd name="adj" fmla="val 8000"/>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852160"/>
            <a:ext cx="10515600" cy="365760"/>
          </a:xfrm>
          <a:prstGeom prst="rect">
            <a:avLst/>
          </a:prstGeom>
          <a:noFill/>
        </p:spPr>
        <p:txBody>
          <a:bodyPr wrap="square" lIns="0" rIns="0" tIns="0" bIns="0" anchor="t">
            <a:spAutoFit/>
          </a:bodyPr>
          <a:lstStyle/>
          <a:p>
            <a:pPr algn="l"/>
            <a:r>
              <a:rPr sz="1200" b="1" i="0">
                <a:solidFill>
                  <a:srgbClr val="14B8A6"/>
                </a:solidFill>
                <a:latin typeface="Calibri"/>
              </a:rPr>
              <a:t>The gap Innovate UK wants to close</a:t>
            </a:r>
          </a:p>
        </p:txBody>
      </p:sp>
      <p:sp>
        <p:nvSpPr>
          <p:cNvPr id="26" name="TextBox 25"/>
          <p:cNvSpPr txBox="1"/>
          <p:nvPr/>
        </p:nvSpPr>
        <p:spPr>
          <a:xfrm>
            <a:off x="731520" y="6126480"/>
            <a:ext cx="10515600" cy="365760"/>
          </a:xfrm>
          <a:prstGeom prst="rect">
            <a:avLst/>
          </a:prstGeom>
          <a:noFill/>
        </p:spPr>
        <p:txBody>
          <a:bodyPr wrap="square" lIns="0" rIns="0" tIns="0" bIns="0" anchor="t">
            <a:spAutoFit/>
          </a:bodyPr>
          <a:lstStyle/>
          <a:p>
            <a:pPr algn="l"/>
            <a:r>
              <a:rPr sz="1200" b="0" i="1">
                <a:solidFill>
                  <a:srgbClr val="FFFFFF"/>
                </a:solidFill>
                <a:latin typeface="Calibri"/>
              </a:rPr>
              <a:t>Proactive, deception-aware defence + threat hunting for CNI — proven in a real operational environment.</a:t>
            </a:r>
          </a:p>
        </p:txBody>
      </p:sp>
      <p:sp>
        <p:nvSpPr>
          <p:cNvPr id="27" name="TextBox 26"/>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28" name="TextBox 27"/>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OUR SOLUTION</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OTShield: deception + research, purpose-built for ICS</a:t>
            </a:r>
          </a:p>
        </p:txBody>
      </p:sp>
      <p:sp>
        <p:nvSpPr>
          <p:cNvPr id="6" name="Rounded Rectangle 5"/>
          <p:cNvSpPr/>
          <p:nvPr/>
        </p:nvSpPr>
        <p:spPr>
          <a:xfrm>
            <a:off x="457200" y="1554480"/>
            <a:ext cx="5623560" cy="45720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5623560" cy="50292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5074920" cy="365760"/>
          </a:xfrm>
          <a:prstGeom prst="rect">
            <a:avLst/>
          </a:prstGeom>
          <a:noFill/>
        </p:spPr>
        <p:txBody>
          <a:bodyPr wrap="square" lIns="0" rIns="0" tIns="0" bIns="0" anchor="t">
            <a:spAutoFit/>
          </a:bodyPr>
          <a:lstStyle/>
          <a:p>
            <a:pPr algn="l"/>
            <a:r>
              <a:rPr sz="1200" b="1" i="0">
                <a:solidFill>
                  <a:srgbClr val="FFFFFF"/>
                </a:solidFill>
                <a:latin typeface="Calibri"/>
              </a:rPr>
              <a:t>01 — SOC Mode</a:t>
            </a:r>
          </a:p>
        </p:txBody>
      </p:sp>
      <p:sp>
        <p:nvSpPr>
          <p:cNvPr id="9" name="TextBox 8"/>
          <p:cNvSpPr txBox="1"/>
          <p:nvPr/>
        </p:nvSpPr>
        <p:spPr>
          <a:xfrm>
            <a:off x="731520" y="2148840"/>
            <a:ext cx="5074920" cy="502920"/>
          </a:xfrm>
          <a:prstGeom prst="rect">
            <a:avLst/>
          </a:prstGeom>
          <a:noFill/>
        </p:spPr>
        <p:txBody>
          <a:bodyPr wrap="square" lIns="0" rIns="0" tIns="0" bIns="0" anchor="t">
            <a:spAutoFit/>
          </a:bodyPr>
          <a:lstStyle/>
          <a:p>
            <a:pPr algn="l"/>
            <a:r>
              <a:rPr sz="1800" b="1" i="0">
                <a:solidFill>
                  <a:srgbClr val="21295C"/>
                </a:solidFill>
                <a:latin typeface="Calibri"/>
              </a:rPr>
              <a:t>Deception Fabric &amp; Live Threat Intel</a:t>
            </a:r>
          </a:p>
        </p:txBody>
      </p:sp>
      <p:sp>
        <p:nvSpPr>
          <p:cNvPr id="10" name="TextBox 9"/>
          <p:cNvSpPr txBox="1"/>
          <p:nvPr/>
        </p:nvSpPr>
        <p:spPr>
          <a:xfrm>
            <a:off x="731520" y="2743200"/>
            <a:ext cx="5074920" cy="2743200"/>
          </a:xfrm>
          <a:prstGeom prst="rect">
            <a:avLst/>
          </a:prstGeom>
          <a:noFill/>
        </p:spPr>
        <p:txBody>
          <a:bodyPr wrap="square" lIns="0" rIns="0" tIns="0" bIns="0" anchor="t">
            <a:spAutoFit/>
          </a:bodyPr>
          <a:lstStyle/>
          <a:p>
            <a:pPr algn="l">
              <a:lnSpc>
                <a:spcPct val="125000"/>
              </a:lnSpc>
              <a:spcAft>
                <a:spcPts val="400"/>
              </a:spcAft>
            </a:pPr>
            <a:r>
              <a:rPr sz="1200" b="0" i="0">
                <a:solidFill>
                  <a:srgbClr val="1E293B"/>
                </a:solidFill>
                <a:latin typeface="Calibri"/>
              </a:rPr>
              <a:t>•  Protocol-aware decoys: Modbus, S7Comm, EtherNet/IP, OPC UA, DNP3</a:t>
            </a:r>
          </a:p>
          <a:p>
            <a:pPr algn="l">
              <a:lnSpc>
                <a:spcPct val="125000"/>
              </a:lnSpc>
              <a:spcAft>
                <a:spcPts val="400"/>
              </a:spcAft>
            </a:pPr>
            <a:r>
              <a:rPr sz="1200" b="0" i="0">
                <a:solidFill>
                  <a:srgbClr val="1E293B"/>
                </a:solidFill>
                <a:latin typeface="Calibri"/>
              </a:rPr>
              <a:t>•  Realistic HMIs: Siemens WinCC, Rockwell, Schneider, refinery / substation / water plant</a:t>
            </a:r>
          </a:p>
          <a:p>
            <a:pPr algn="l">
              <a:lnSpc>
                <a:spcPct val="125000"/>
              </a:lnSpc>
              <a:spcAft>
                <a:spcPts val="400"/>
              </a:spcAft>
            </a:pPr>
            <a:r>
              <a:rPr sz="1200" b="0" i="0">
                <a:solidFill>
                  <a:srgbClr val="1E293B"/>
                </a:solidFill>
                <a:latin typeface="Calibri"/>
              </a:rPr>
              <a:t>•  Full MITRE ATT&amp;CK for ICS kill-chain coverage</a:t>
            </a:r>
          </a:p>
          <a:p>
            <a:pPr algn="l">
              <a:lnSpc>
                <a:spcPct val="125000"/>
              </a:lnSpc>
              <a:spcAft>
                <a:spcPts val="400"/>
              </a:spcAft>
            </a:pPr>
            <a:r>
              <a:rPr sz="1200" b="0" i="0">
                <a:solidFill>
                  <a:srgbClr val="1E293B"/>
                </a:solidFill>
                <a:latin typeface="Calibri"/>
              </a:rPr>
              <a:t>•  Internet-exposed live deployment — 12,968 real attacks captured to date</a:t>
            </a:r>
          </a:p>
          <a:p>
            <a:pPr algn="l">
              <a:lnSpc>
                <a:spcPct val="125000"/>
              </a:lnSpc>
              <a:spcAft>
                <a:spcPts val="400"/>
              </a:spcAft>
            </a:pPr>
            <a:r>
              <a:rPr sz="1200" b="0" i="0">
                <a:solidFill>
                  <a:srgbClr val="1E293B"/>
                </a:solidFill>
                <a:latin typeface="Calibri"/>
              </a:rPr>
              <a:t>•  SIEM / SOAR / TAXII / MISP integration ready</a:t>
            </a:r>
          </a:p>
        </p:txBody>
      </p:sp>
      <p:sp>
        <p:nvSpPr>
          <p:cNvPr id="11" name="Rectangle 10"/>
          <p:cNvSpPr/>
          <p:nvPr/>
        </p:nvSpPr>
        <p:spPr>
          <a:xfrm>
            <a:off x="731520" y="5577840"/>
            <a:ext cx="5074920" cy="411480"/>
          </a:xfrm>
          <a:prstGeom prst="rect">
            <a:avLst/>
          </a:prstGeom>
          <a:solidFill>
            <a:srgbClr val="F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632704"/>
            <a:ext cx="4892040" cy="320040"/>
          </a:xfrm>
          <a:prstGeom prst="rect">
            <a:avLst/>
          </a:prstGeom>
          <a:noFill/>
        </p:spPr>
        <p:txBody>
          <a:bodyPr wrap="square" lIns="0" rIns="0" tIns="0" bIns="0" anchor="ctr">
            <a:spAutoFit/>
          </a:bodyPr>
          <a:lstStyle/>
          <a:p>
            <a:pPr algn="l"/>
            <a:r>
              <a:rPr sz="1100" b="1" i="0">
                <a:solidFill>
                  <a:srgbClr val="065A82"/>
                </a:solidFill>
                <a:latin typeface="Calibri"/>
              </a:rPr>
              <a:t>TRL 7  —  operational, internet-exposed, validated against real attackers</a:t>
            </a:r>
          </a:p>
        </p:txBody>
      </p:sp>
      <p:sp>
        <p:nvSpPr>
          <p:cNvPr id="13" name="Rounded Rectangle 12"/>
          <p:cNvSpPr/>
          <p:nvPr/>
        </p:nvSpPr>
        <p:spPr>
          <a:xfrm>
            <a:off x="6245352" y="1554480"/>
            <a:ext cx="5623560" cy="45720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1554480"/>
            <a:ext cx="5623560" cy="5029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1627632"/>
            <a:ext cx="5074920" cy="365760"/>
          </a:xfrm>
          <a:prstGeom prst="rect">
            <a:avLst/>
          </a:prstGeom>
          <a:noFill/>
        </p:spPr>
        <p:txBody>
          <a:bodyPr wrap="square" lIns="0" rIns="0" tIns="0" bIns="0" anchor="t">
            <a:spAutoFit/>
          </a:bodyPr>
          <a:lstStyle/>
          <a:p>
            <a:pPr algn="l"/>
            <a:r>
              <a:rPr sz="1200" b="1" i="0">
                <a:solidFill>
                  <a:srgbClr val="FFFFFF"/>
                </a:solidFill>
                <a:latin typeface="Calibri"/>
              </a:rPr>
              <a:t>02 — Research Mode</a:t>
            </a:r>
          </a:p>
        </p:txBody>
      </p:sp>
      <p:sp>
        <p:nvSpPr>
          <p:cNvPr id="16" name="TextBox 15"/>
          <p:cNvSpPr txBox="1"/>
          <p:nvPr/>
        </p:nvSpPr>
        <p:spPr>
          <a:xfrm>
            <a:off x="6519672" y="2148840"/>
            <a:ext cx="5074920" cy="502920"/>
          </a:xfrm>
          <a:prstGeom prst="rect">
            <a:avLst/>
          </a:prstGeom>
          <a:noFill/>
        </p:spPr>
        <p:txBody>
          <a:bodyPr wrap="square" lIns="0" rIns="0" tIns="0" bIns="0" anchor="t">
            <a:spAutoFit/>
          </a:bodyPr>
          <a:lstStyle/>
          <a:p>
            <a:pPr algn="l"/>
            <a:r>
              <a:rPr sz="1800" b="1" i="0">
                <a:solidFill>
                  <a:srgbClr val="21295C"/>
                </a:solidFill>
                <a:latin typeface="Calibri"/>
              </a:rPr>
              <a:t>Offline Vulnerability Research Workbench</a:t>
            </a:r>
          </a:p>
        </p:txBody>
      </p:sp>
      <p:sp>
        <p:nvSpPr>
          <p:cNvPr id="17" name="TextBox 16"/>
          <p:cNvSpPr txBox="1"/>
          <p:nvPr/>
        </p:nvSpPr>
        <p:spPr>
          <a:xfrm>
            <a:off x="6519672" y="2743200"/>
            <a:ext cx="5074920" cy="2743200"/>
          </a:xfrm>
          <a:prstGeom prst="rect">
            <a:avLst/>
          </a:prstGeom>
          <a:noFill/>
        </p:spPr>
        <p:txBody>
          <a:bodyPr wrap="square" lIns="0" rIns="0" tIns="0" bIns="0" anchor="t">
            <a:spAutoFit/>
          </a:bodyPr>
          <a:lstStyle/>
          <a:p>
            <a:pPr algn="l">
              <a:lnSpc>
                <a:spcPct val="125000"/>
              </a:lnSpc>
              <a:spcAft>
                <a:spcPts val="400"/>
              </a:spcAft>
            </a:pPr>
            <a:r>
              <a:rPr sz="1200" b="0" i="0">
                <a:solidFill>
                  <a:srgbClr val="1E293B"/>
                </a:solidFill>
                <a:latin typeface="Calibri"/>
              </a:rPr>
              <a:t>•  Java + Spring Boot backend, fully air-gapped (no cloud calls)</a:t>
            </a:r>
          </a:p>
          <a:p>
            <a:pPr algn="l">
              <a:lnSpc>
                <a:spcPct val="125000"/>
              </a:lnSpc>
              <a:spcAft>
                <a:spcPts val="400"/>
              </a:spcAft>
            </a:pPr>
            <a:r>
              <a:rPr sz="1200" b="0" i="0">
                <a:solidFill>
                  <a:srgbClr val="1E293B"/>
                </a:solidFill>
                <a:latin typeface="Calibri"/>
              </a:rPr>
              <a:t>•  Local LLM (Ollama) for offline summarisation and Q&amp;A</a:t>
            </a:r>
          </a:p>
          <a:p>
            <a:pPr algn="l">
              <a:lnSpc>
                <a:spcPct val="125000"/>
              </a:lnSpc>
              <a:spcAft>
                <a:spcPts val="400"/>
              </a:spcAft>
            </a:pPr>
            <a:r>
              <a:rPr sz="1200" b="0" i="0">
                <a:solidFill>
                  <a:srgbClr val="1E293B"/>
                </a:solidFill>
                <a:latin typeface="Calibri"/>
              </a:rPr>
              <a:t>•  Asset inventory, ports &amp; services, PCAP analysis</a:t>
            </a:r>
          </a:p>
          <a:p>
            <a:pPr algn="l">
              <a:lnSpc>
                <a:spcPct val="125000"/>
              </a:lnSpc>
              <a:spcAft>
                <a:spcPts val="400"/>
              </a:spcAft>
            </a:pPr>
            <a:r>
              <a:rPr sz="1200" b="0" i="0">
                <a:solidFill>
                  <a:srgbClr val="1E293B"/>
                </a:solidFill>
                <a:latin typeface="Calibri"/>
              </a:rPr>
              <a:t>•  Bundle-based workspaces with citations and confidence scoring</a:t>
            </a:r>
          </a:p>
          <a:p>
            <a:pPr algn="l">
              <a:lnSpc>
                <a:spcPct val="125000"/>
              </a:lnSpc>
              <a:spcAft>
                <a:spcPts val="400"/>
              </a:spcAft>
            </a:pPr>
            <a:r>
              <a:rPr sz="1200" b="0" i="0">
                <a:solidFill>
                  <a:srgbClr val="1E293B"/>
                </a:solidFill>
                <a:latin typeface="Calibri"/>
              </a:rPr>
              <a:t>•  Originally funded by HMGCC (Phase 1, 2026)</a:t>
            </a:r>
          </a:p>
        </p:txBody>
      </p:sp>
      <p:sp>
        <p:nvSpPr>
          <p:cNvPr id="18" name="Rectangle 17"/>
          <p:cNvSpPr/>
          <p:nvPr/>
        </p:nvSpPr>
        <p:spPr>
          <a:xfrm>
            <a:off x="6519672" y="5577840"/>
            <a:ext cx="5074920" cy="411480"/>
          </a:xfrm>
          <a:prstGeom prst="rect">
            <a:avLst/>
          </a:prstGeom>
          <a:solidFill>
            <a:srgbClr val="F0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02552" y="5632704"/>
            <a:ext cx="4892040" cy="320040"/>
          </a:xfrm>
          <a:prstGeom prst="rect">
            <a:avLst/>
          </a:prstGeom>
          <a:noFill/>
        </p:spPr>
        <p:txBody>
          <a:bodyPr wrap="square" lIns="0" rIns="0" tIns="0" bIns="0" anchor="ctr">
            <a:spAutoFit/>
          </a:bodyPr>
          <a:lstStyle/>
          <a:p>
            <a:pPr algn="l"/>
            <a:r>
              <a:rPr sz="1100" b="1" i="0">
                <a:solidFill>
                  <a:srgbClr val="1C7293"/>
                </a:solidFill>
                <a:latin typeface="Calibri"/>
              </a:rPr>
              <a:t>TRL 6  —  HMGCC Co-Creation deliverable, complementary to SOC Mode</a:t>
            </a:r>
          </a:p>
        </p:txBody>
      </p:sp>
      <p:sp>
        <p:nvSpPr>
          <p:cNvPr id="20" name="TextBox 19"/>
          <p:cNvSpPr txBox="1"/>
          <p:nvPr/>
        </p:nvSpPr>
        <p:spPr>
          <a:xfrm>
            <a:off x="457200" y="6309360"/>
            <a:ext cx="11247120" cy="365760"/>
          </a:xfrm>
          <a:prstGeom prst="rect">
            <a:avLst/>
          </a:prstGeom>
          <a:noFill/>
        </p:spPr>
        <p:txBody>
          <a:bodyPr wrap="square" lIns="0" rIns="0" tIns="0" bIns="0" anchor="t">
            <a:spAutoFit/>
          </a:bodyPr>
          <a:lstStyle/>
          <a:p>
            <a:pPr algn="ctr"/>
            <a:r>
              <a:rPr sz="1200" b="0" i="1">
                <a:solidFill>
                  <a:srgbClr val="065A82"/>
                </a:solidFill>
                <a:latin typeface="Calibri"/>
              </a:rPr>
              <a:t>Same code base, two operational modes — already validated against real attackers, ready for CNI deployment.</a:t>
            </a:r>
          </a:p>
        </p:txBody>
      </p:sp>
      <p:sp>
        <p:nvSpPr>
          <p:cNvPr id="21" name="TextBox 20"/>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22" name="TextBox 21"/>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THE OPPORTUNITY</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Innovate UK Calluna  |  SBRI Contract for Cyber Security in CNI</a:t>
            </a:r>
          </a:p>
        </p:txBody>
      </p:sp>
      <p:sp>
        <p:nvSpPr>
          <p:cNvPr id="6" name="Rounded Rectangle 5"/>
          <p:cNvSpPr/>
          <p:nvPr/>
        </p:nvSpPr>
        <p:spPr>
          <a:xfrm>
            <a:off x="457200" y="1554480"/>
            <a:ext cx="5486400" cy="4846320"/>
          </a:xfrm>
          <a:prstGeom prst="roundRect">
            <a:avLst>
              <a:gd name="adj" fmla="val 8000"/>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37360"/>
            <a:ext cx="5029200" cy="320040"/>
          </a:xfrm>
          <a:prstGeom prst="rect">
            <a:avLst/>
          </a:prstGeom>
          <a:noFill/>
        </p:spPr>
        <p:txBody>
          <a:bodyPr wrap="square" lIns="0" rIns="0" tIns="0" bIns="0" anchor="t">
            <a:spAutoFit/>
          </a:bodyPr>
          <a:lstStyle/>
          <a:p>
            <a:pPr algn="l"/>
            <a:r>
              <a:rPr sz="1000" b="1" i="0">
                <a:solidFill>
                  <a:srgbClr val="14B8A6"/>
                </a:solidFill>
                <a:latin typeface="Calibri"/>
              </a:rPr>
              <a:t>PROGRAMME</a:t>
            </a:r>
          </a:p>
        </p:txBody>
      </p:sp>
      <p:sp>
        <p:nvSpPr>
          <p:cNvPr id="8" name="TextBox 7"/>
          <p:cNvSpPr txBox="1"/>
          <p:nvPr/>
        </p:nvSpPr>
        <p:spPr>
          <a:xfrm>
            <a:off x="731520" y="2011680"/>
            <a:ext cx="5029200" cy="548640"/>
          </a:xfrm>
          <a:prstGeom prst="rect">
            <a:avLst/>
          </a:prstGeom>
          <a:noFill/>
        </p:spPr>
        <p:txBody>
          <a:bodyPr wrap="square" lIns="0" rIns="0" tIns="0" bIns="0" anchor="t">
            <a:spAutoFit/>
          </a:bodyPr>
          <a:lstStyle/>
          <a:p>
            <a:pPr algn="l"/>
            <a:r>
              <a:rPr sz="2200" b="1" i="0">
                <a:solidFill>
                  <a:srgbClr val="FFFFFF"/>
                </a:solidFill>
                <a:latin typeface="Calibri"/>
              </a:rPr>
              <a:t>Calluna — Contracts for Innovation</a:t>
            </a:r>
          </a:p>
        </p:txBody>
      </p:sp>
      <p:sp>
        <p:nvSpPr>
          <p:cNvPr id="9" name="TextBox 8"/>
          <p:cNvSpPr txBox="1"/>
          <p:nvPr/>
        </p:nvSpPr>
        <p:spPr>
          <a:xfrm>
            <a:off x="731520" y="2560320"/>
            <a:ext cx="5029200" cy="365760"/>
          </a:xfrm>
          <a:prstGeom prst="rect">
            <a:avLst/>
          </a:prstGeom>
          <a:noFill/>
        </p:spPr>
        <p:txBody>
          <a:bodyPr wrap="square" lIns="0" rIns="0" tIns="0" bIns="0" anchor="t">
            <a:spAutoFit/>
          </a:bodyPr>
          <a:lstStyle/>
          <a:p>
            <a:pPr algn="l"/>
            <a:r>
              <a:rPr sz="1100" b="0" i="1">
                <a:solidFill>
                  <a:srgbClr val="CADCFC"/>
                </a:solidFill>
                <a:latin typeface="Calibri"/>
              </a:rPr>
              <a:t>Run by Innovate UK (UKRI), under Procurement Act 2023 R&amp;D exemption.</a:t>
            </a:r>
          </a:p>
        </p:txBody>
      </p:sp>
      <p:sp>
        <p:nvSpPr>
          <p:cNvPr id="10" name="TextBox 9"/>
          <p:cNvSpPr txBox="1"/>
          <p:nvPr/>
        </p:nvSpPr>
        <p:spPr>
          <a:xfrm>
            <a:off x="731520" y="3154680"/>
            <a:ext cx="2468880" cy="365760"/>
          </a:xfrm>
          <a:prstGeom prst="rect">
            <a:avLst/>
          </a:prstGeom>
          <a:noFill/>
        </p:spPr>
        <p:txBody>
          <a:bodyPr wrap="square" lIns="0" rIns="0" tIns="0" bIns="0" anchor="t">
            <a:spAutoFit/>
          </a:bodyPr>
          <a:lstStyle/>
          <a:p>
            <a:pPr algn="l"/>
            <a:r>
              <a:rPr sz="1800" b="1" i="0">
                <a:solidFill>
                  <a:srgbClr val="14B8A6"/>
                </a:solidFill>
                <a:latin typeface="Calibri"/>
              </a:rPr>
              <a:t>£3.5M</a:t>
            </a:r>
          </a:p>
        </p:txBody>
      </p:sp>
      <p:sp>
        <p:nvSpPr>
          <p:cNvPr id="11" name="TextBox 10"/>
          <p:cNvSpPr txBox="1"/>
          <p:nvPr/>
        </p:nvSpPr>
        <p:spPr>
          <a:xfrm>
            <a:off x="731520" y="3538728"/>
            <a:ext cx="2468880" cy="274320"/>
          </a:xfrm>
          <a:prstGeom prst="rect">
            <a:avLst/>
          </a:prstGeom>
          <a:noFill/>
        </p:spPr>
        <p:txBody>
          <a:bodyPr wrap="square" lIns="0" rIns="0" tIns="0" bIns="0" anchor="t">
            <a:spAutoFit/>
          </a:bodyPr>
          <a:lstStyle/>
          <a:p>
            <a:pPr algn="l"/>
            <a:r>
              <a:rPr sz="1000" b="0" i="0">
                <a:solidFill>
                  <a:srgbClr val="CADCFC"/>
                </a:solidFill>
                <a:latin typeface="Calibri"/>
              </a:rPr>
              <a:t>total programme funding</a:t>
            </a:r>
          </a:p>
        </p:txBody>
      </p:sp>
      <p:sp>
        <p:nvSpPr>
          <p:cNvPr id="12" name="TextBox 11"/>
          <p:cNvSpPr txBox="1"/>
          <p:nvPr/>
        </p:nvSpPr>
        <p:spPr>
          <a:xfrm>
            <a:off x="3337560" y="3154680"/>
            <a:ext cx="2468880" cy="365760"/>
          </a:xfrm>
          <a:prstGeom prst="rect">
            <a:avLst/>
          </a:prstGeom>
          <a:noFill/>
        </p:spPr>
        <p:txBody>
          <a:bodyPr wrap="square" lIns="0" rIns="0" tIns="0" bIns="0" anchor="t">
            <a:spAutoFit/>
          </a:bodyPr>
          <a:lstStyle/>
          <a:p>
            <a:pPr algn="l"/>
            <a:r>
              <a:rPr sz="1800" b="1" i="0">
                <a:solidFill>
                  <a:srgbClr val="14B8A6"/>
                </a:solidFill>
                <a:latin typeface="Calibri"/>
              </a:rPr>
              <a:t>Up to 20</a:t>
            </a:r>
          </a:p>
        </p:txBody>
      </p:sp>
      <p:sp>
        <p:nvSpPr>
          <p:cNvPr id="13" name="TextBox 12"/>
          <p:cNvSpPr txBox="1"/>
          <p:nvPr/>
        </p:nvSpPr>
        <p:spPr>
          <a:xfrm>
            <a:off x="3337560" y="3538728"/>
            <a:ext cx="2468880" cy="274320"/>
          </a:xfrm>
          <a:prstGeom prst="rect">
            <a:avLst/>
          </a:prstGeom>
          <a:noFill/>
        </p:spPr>
        <p:txBody>
          <a:bodyPr wrap="square" lIns="0" rIns="0" tIns="0" bIns="0" anchor="t">
            <a:spAutoFit/>
          </a:bodyPr>
          <a:lstStyle/>
          <a:p>
            <a:pPr algn="l"/>
            <a:r>
              <a:rPr sz="1000" b="0" i="0">
                <a:solidFill>
                  <a:srgbClr val="CADCFC"/>
                </a:solidFill>
                <a:latin typeface="Calibri"/>
              </a:rPr>
              <a:t>contracts awarded</a:t>
            </a:r>
          </a:p>
        </p:txBody>
      </p:sp>
      <p:sp>
        <p:nvSpPr>
          <p:cNvPr id="14" name="TextBox 13"/>
          <p:cNvSpPr txBox="1"/>
          <p:nvPr/>
        </p:nvSpPr>
        <p:spPr>
          <a:xfrm>
            <a:off x="731520" y="4023360"/>
            <a:ext cx="2468880" cy="365760"/>
          </a:xfrm>
          <a:prstGeom prst="rect">
            <a:avLst/>
          </a:prstGeom>
          <a:noFill/>
        </p:spPr>
        <p:txBody>
          <a:bodyPr wrap="square" lIns="0" rIns="0" tIns="0" bIns="0" anchor="t">
            <a:spAutoFit/>
          </a:bodyPr>
          <a:lstStyle/>
          <a:p>
            <a:pPr algn="l"/>
            <a:r>
              <a:rPr sz="1800" b="1" i="0">
                <a:solidFill>
                  <a:srgbClr val="14B8A6"/>
                </a:solidFill>
                <a:latin typeface="Calibri"/>
              </a:rPr>
              <a:t>£300K</a:t>
            </a:r>
          </a:p>
        </p:txBody>
      </p:sp>
      <p:sp>
        <p:nvSpPr>
          <p:cNvPr id="15" name="TextBox 14"/>
          <p:cNvSpPr txBox="1"/>
          <p:nvPr/>
        </p:nvSpPr>
        <p:spPr>
          <a:xfrm>
            <a:off x="731520" y="4407408"/>
            <a:ext cx="2468880" cy="274320"/>
          </a:xfrm>
          <a:prstGeom prst="rect">
            <a:avLst/>
          </a:prstGeom>
          <a:noFill/>
        </p:spPr>
        <p:txBody>
          <a:bodyPr wrap="square" lIns="0" rIns="0" tIns="0" bIns="0" anchor="t">
            <a:spAutoFit/>
          </a:bodyPr>
          <a:lstStyle/>
          <a:p>
            <a:pPr algn="l"/>
            <a:r>
              <a:rPr sz="1000" b="0" i="0">
                <a:solidFill>
                  <a:srgbClr val="CADCFC"/>
                </a:solidFill>
                <a:latin typeface="Calibri"/>
              </a:rPr>
              <a:t>max per contract (VAT inc.)</a:t>
            </a:r>
          </a:p>
        </p:txBody>
      </p:sp>
      <p:sp>
        <p:nvSpPr>
          <p:cNvPr id="16" name="TextBox 15"/>
          <p:cNvSpPr txBox="1"/>
          <p:nvPr/>
        </p:nvSpPr>
        <p:spPr>
          <a:xfrm>
            <a:off x="3337560" y="4023360"/>
            <a:ext cx="2468880" cy="365760"/>
          </a:xfrm>
          <a:prstGeom prst="rect">
            <a:avLst/>
          </a:prstGeom>
          <a:noFill/>
        </p:spPr>
        <p:txBody>
          <a:bodyPr wrap="square" lIns="0" rIns="0" tIns="0" bIns="0" anchor="t">
            <a:spAutoFit/>
          </a:bodyPr>
          <a:lstStyle/>
          <a:p>
            <a:pPr algn="l"/>
            <a:r>
              <a:rPr sz="1800" b="1" i="0">
                <a:solidFill>
                  <a:srgbClr val="14B8A6"/>
                </a:solidFill>
                <a:latin typeface="Calibri"/>
              </a:rPr>
              <a:t>12 months</a:t>
            </a:r>
          </a:p>
        </p:txBody>
      </p:sp>
      <p:sp>
        <p:nvSpPr>
          <p:cNvPr id="17" name="TextBox 16"/>
          <p:cNvSpPr txBox="1"/>
          <p:nvPr/>
        </p:nvSpPr>
        <p:spPr>
          <a:xfrm>
            <a:off x="3337560" y="4407408"/>
            <a:ext cx="2468880" cy="274320"/>
          </a:xfrm>
          <a:prstGeom prst="rect">
            <a:avLst/>
          </a:prstGeom>
          <a:noFill/>
        </p:spPr>
        <p:txBody>
          <a:bodyPr wrap="square" lIns="0" rIns="0" tIns="0" bIns="0" anchor="t">
            <a:spAutoFit/>
          </a:bodyPr>
          <a:lstStyle/>
          <a:p>
            <a:pPr algn="l"/>
            <a:r>
              <a:rPr sz="1000" b="0" i="0">
                <a:solidFill>
                  <a:srgbClr val="CADCFC"/>
                </a:solidFill>
                <a:latin typeface="Calibri"/>
              </a:rPr>
              <a:t>project duration</a:t>
            </a:r>
          </a:p>
        </p:txBody>
      </p:sp>
      <p:sp>
        <p:nvSpPr>
          <p:cNvPr id="18" name="TextBox 17"/>
          <p:cNvSpPr txBox="1"/>
          <p:nvPr/>
        </p:nvSpPr>
        <p:spPr>
          <a:xfrm>
            <a:off x="731520" y="4892040"/>
            <a:ext cx="2468880" cy="365760"/>
          </a:xfrm>
          <a:prstGeom prst="rect">
            <a:avLst/>
          </a:prstGeom>
          <a:noFill/>
        </p:spPr>
        <p:txBody>
          <a:bodyPr wrap="square" lIns="0" rIns="0" tIns="0" bIns="0" anchor="t">
            <a:spAutoFit/>
          </a:bodyPr>
          <a:lstStyle/>
          <a:p>
            <a:pPr algn="l"/>
            <a:r>
              <a:rPr sz="1800" b="1" i="0">
                <a:solidFill>
                  <a:srgbClr val="14B8A6"/>
                </a:solidFill>
                <a:latin typeface="Calibri"/>
              </a:rPr>
              <a:t>Sep 2026</a:t>
            </a:r>
          </a:p>
        </p:txBody>
      </p:sp>
      <p:sp>
        <p:nvSpPr>
          <p:cNvPr id="19" name="TextBox 18"/>
          <p:cNvSpPr txBox="1"/>
          <p:nvPr/>
        </p:nvSpPr>
        <p:spPr>
          <a:xfrm>
            <a:off x="731520" y="5276088"/>
            <a:ext cx="2468880" cy="274320"/>
          </a:xfrm>
          <a:prstGeom prst="rect">
            <a:avLst/>
          </a:prstGeom>
          <a:noFill/>
        </p:spPr>
        <p:txBody>
          <a:bodyPr wrap="square" lIns="0" rIns="0" tIns="0" bIns="0" anchor="t">
            <a:spAutoFit/>
          </a:bodyPr>
          <a:lstStyle/>
          <a:p>
            <a:pPr algn="l"/>
            <a:r>
              <a:rPr sz="1000" b="0" i="0">
                <a:solidFill>
                  <a:srgbClr val="CADCFC"/>
                </a:solidFill>
                <a:latin typeface="Calibri"/>
              </a:rPr>
              <a:t>earliest start date</a:t>
            </a:r>
          </a:p>
        </p:txBody>
      </p:sp>
      <p:sp>
        <p:nvSpPr>
          <p:cNvPr id="20" name="TextBox 19"/>
          <p:cNvSpPr txBox="1"/>
          <p:nvPr/>
        </p:nvSpPr>
        <p:spPr>
          <a:xfrm>
            <a:off x="3337560" y="4892040"/>
            <a:ext cx="2468880" cy="365760"/>
          </a:xfrm>
          <a:prstGeom prst="rect">
            <a:avLst/>
          </a:prstGeom>
          <a:noFill/>
        </p:spPr>
        <p:txBody>
          <a:bodyPr wrap="square" lIns="0" rIns="0" tIns="0" bIns="0" anchor="t">
            <a:spAutoFit/>
          </a:bodyPr>
          <a:lstStyle/>
          <a:p>
            <a:pPr algn="l"/>
            <a:r>
              <a:rPr sz="1800" b="1" i="0">
                <a:solidFill>
                  <a:srgbClr val="14B8A6"/>
                </a:solidFill>
                <a:latin typeface="Calibri"/>
              </a:rPr>
              <a:t>TRL 7 → 8+</a:t>
            </a:r>
          </a:p>
        </p:txBody>
      </p:sp>
      <p:sp>
        <p:nvSpPr>
          <p:cNvPr id="21" name="TextBox 20"/>
          <p:cNvSpPr txBox="1"/>
          <p:nvPr/>
        </p:nvSpPr>
        <p:spPr>
          <a:xfrm>
            <a:off x="3337560" y="5276088"/>
            <a:ext cx="2468880" cy="274320"/>
          </a:xfrm>
          <a:prstGeom prst="rect">
            <a:avLst/>
          </a:prstGeom>
          <a:noFill/>
        </p:spPr>
        <p:txBody>
          <a:bodyPr wrap="square" lIns="0" rIns="0" tIns="0" bIns="0" anchor="t">
            <a:spAutoFit/>
          </a:bodyPr>
          <a:lstStyle/>
          <a:p>
            <a:pPr algn="l"/>
            <a:r>
              <a:rPr sz="1000" b="0" i="0">
                <a:solidFill>
                  <a:srgbClr val="CADCFC"/>
                </a:solidFill>
                <a:latin typeface="Calibri"/>
              </a:rPr>
              <a:t>expected progression</a:t>
            </a:r>
          </a:p>
        </p:txBody>
      </p:sp>
      <p:sp>
        <p:nvSpPr>
          <p:cNvPr id="22" name="TextBox 21"/>
          <p:cNvSpPr txBox="1"/>
          <p:nvPr/>
        </p:nvSpPr>
        <p:spPr>
          <a:xfrm>
            <a:off x="6309360" y="1554480"/>
            <a:ext cx="5486400" cy="365760"/>
          </a:xfrm>
          <a:prstGeom prst="rect">
            <a:avLst/>
          </a:prstGeom>
          <a:noFill/>
        </p:spPr>
        <p:txBody>
          <a:bodyPr wrap="square" lIns="0" rIns="0" tIns="0" bIns="0" anchor="t">
            <a:spAutoFit/>
          </a:bodyPr>
          <a:lstStyle/>
          <a:p>
            <a:pPr algn="l"/>
            <a:r>
              <a:rPr sz="1800" b="1" i="0">
                <a:solidFill>
                  <a:srgbClr val="065A82"/>
                </a:solidFill>
                <a:latin typeface="Calibri"/>
              </a:rPr>
              <a:t>What Calluna requires from us</a:t>
            </a:r>
          </a:p>
        </p:txBody>
      </p:sp>
      <p:sp>
        <p:nvSpPr>
          <p:cNvPr id="23" name="Rectangle 22"/>
          <p:cNvSpPr/>
          <p:nvPr/>
        </p:nvSpPr>
        <p:spPr>
          <a:xfrm>
            <a:off x="6309360" y="2057400"/>
            <a:ext cx="54864" cy="6400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057400"/>
            <a:ext cx="5303520" cy="274320"/>
          </a:xfrm>
          <a:prstGeom prst="rect">
            <a:avLst/>
          </a:prstGeom>
          <a:noFill/>
        </p:spPr>
        <p:txBody>
          <a:bodyPr wrap="square" lIns="0" rIns="0" tIns="0" bIns="0" anchor="t">
            <a:spAutoFit/>
          </a:bodyPr>
          <a:lstStyle/>
          <a:p>
            <a:pPr algn="l"/>
            <a:r>
              <a:rPr sz="1300" b="1" i="0">
                <a:solidFill>
                  <a:srgbClr val="21295C"/>
                </a:solidFill>
                <a:latin typeface="Calibri"/>
              </a:rPr>
              <a:t>Sector focus</a:t>
            </a:r>
          </a:p>
        </p:txBody>
      </p:sp>
      <p:sp>
        <p:nvSpPr>
          <p:cNvPr id="25" name="TextBox 24"/>
          <p:cNvSpPr txBox="1"/>
          <p:nvPr/>
        </p:nvSpPr>
        <p:spPr>
          <a:xfrm>
            <a:off x="6492240" y="2331720"/>
            <a:ext cx="5303520" cy="365760"/>
          </a:xfrm>
          <a:prstGeom prst="rect">
            <a:avLst/>
          </a:prstGeom>
          <a:noFill/>
        </p:spPr>
        <p:txBody>
          <a:bodyPr wrap="square" lIns="0" rIns="0" tIns="0" bIns="0" anchor="t">
            <a:spAutoFit/>
          </a:bodyPr>
          <a:lstStyle/>
          <a:p>
            <a:pPr algn="l"/>
            <a:r>
              <a:rPr sz="1100" b="0" i="0">
                <a:solidFill>
                  <a:srgbClr val="1E293B"/>
                </a:solidFill>
                <a:latin typeface="Calibri"/>
              </a:rPr>
              <a:t>One of 9 critical sectors — we choose Energy</a:t>
            </a:r>
          </a:p>
        </p:txBody>
      </p:sp>
      <p:sp>
        <p:nvSpPr>
          <p:cNvPr id="26" name="Rectangle 25"/>
          <p:cNvSpPr/>
          <p:nvPr/>
        </p:nvSpPr>
        <p:spPr>
          <a:xfrm>
            <a:off x="6309360" y="2770632"/>
            <a:ext cx="54864" cy="6400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2770632"/>
            <a:ext cx="5303520" cy="274320"/>
          </a:xfrm>
          <a:prstGeom prst="rect">
            <a:avLst/>
          </a:prstGeom>
          <a:noFill/>
        </p:spPr>
        <p:txBody>
          <a:bodyPr wrap="square" lIns="0" rIns="0" tIns="0" bIns="0" anchor="t">
            <a:spAutoFit/>
          </a:bodyPr>
          <a:lstStyle/>
          <a:p>
            <a:pPr algn="l"/>
            <a:r>
              <a:rPr sz="1300" b="1" i="0">
                <a:solidFill>
                  <a:srgbClr val="21295C"/>
                </a:solidFill>
                <a:latin typeface="Calibri"/>
              </a:rPr>
              <a:t>R&amp;D content</a:t>
            </a:r>
          </a:p>
        </p:txBody>
      </p:sp>
      <p:sp>
        <p:nvSpPr>
          <p:cNvPr id="28" name="TextBox 27"/>
          <p:cNvSpPr txBox="1"/>
          <p:nvPr/>
        </p:nvSpPr>
        <p:spPr>
          <a:xfrm>
            <a:off x="6492240" y="3044952"/>
            <a:ext cx="5303520" cy="365760"/>
          </a:xfrm>
          <a:prstGeom prst="rect">
            <a:avLst/>
          </a:prstGeom>
          <a:noFill/>
        </p:spPr>
        <p:txBody>
          <a:bodyPr wrap="square" lIns="0" rIns="0" tIns="0" bIns="0" anchor="t">
            <a:spAutoFit/>
          </a:bodyPr>
          <a:lstStyle/>
          <a:p>
            <a:pPr algn="l"/>
            <a:r>
              <a:rPr sz="1100" b="0" i="0">
                <a:solidFill>
                  <a:srgbClr val="1E293B"/>
                </a:solidFill>
                <a:latin typeface="Calibri"/>
              </a:rPr>
              <a:t>At least 50% of contract value attributed to R&amp;D</a:t>
            </a:r>
          </a:p>
        </p:txBody>
      </p:sp>
      <p:sp>
        <p:nvSpPr>
          <p:cNvPr id="29" name="Rectangle 28"/>
          <p:cNvSpPr/>
          <p:nvPr/>
        </p:nvSpPr>
        <p:spPr>
          <a:xfrm>
            <a:off x="6309360" y="3483864"/>
            <a:ext cx="54864" cy="6400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3483864"/>
            <a:ext cx="5303520" cy="274320"/>
          </a:xfrm>
          <a:prstGeom prst="rect">
            <a:avLst/>
          </a:prstGeom>
          <a:noFill/>
        </p:spPr>
        <p:txBody>
          <a:bodyPr wrap="square" lIns="0" rIns="0" tIns="0" bIns="0" anchor="t">
            <a:spAutoFit/>
          </a:bodyPr>
          <a:lstStyle/>
          <a:p>
            <a:pPr algn="l"/>
            <a:r>
              <a:rPr sz="1300" b="1" i="0">
                <a:solidFill>
                  <a:srgbClr val="21295C"/>
                </a:solidFill>
                <a:latin typeface="Calibri"/>
              </a:rPr>
              <a:t>UK-only delivery</a:t>
            </a:r>
          </a:p>
        </p:txBody>
      </p:sp>
      <p:sp>
        <p:nvSpPr>
          <p:cNvPr id="31" name="TextBox 30"/>
          <p:cNvSpPr txBox="1"/>
          <p:nvPr/>
        </p:nvSpPr>
        <p:spPr>
          <a:xfrm>
            <a:off x="6492240" y="3758184"/>
            <a:ext cx="5303520" cy="365760"/>
          </a:xfrm>
          <a:prstGeom prst="rect">
            <a:avLst/>
          </a:prstGeom>
          <a:noFill/>
        </p:spPr>
        <p:txBody>
          <a:bodyPr wrap="square" lIns="0" rIns="0" tIns="0" bIns="0" anchor="t">
            <a:spAutoFit/>
          </a:bodyPr>
          <a:lstStyle/>
          <a:p>
            <a:pPr algn="l"/>
            <a:r>
              <a:rPr sz="1100" b="0" i="0">
                <a:solidFill>
                  <a:srgbClr val="1E293B"/>
                </a:solidFill>
                <a:latin typeface="Calibri"/>
              </a:rPr>
              <a:t>All work and deliverables in the UK; subcontractors UK-based</a:t>
            </a:r>
          </a:p>
        </p:txBody>
      </p:sp>
      <p:sp>
        <p:nvSpPr>
          <p:cNvPr id="32" name="Rectangle 31"/>
          <p:cNvSpPr/>
          <p:nvPr/>
        </p:nvSpPr>
        <p:spPr>
          <a:xfrm>
            <a:off x="6309360" y="4197096"/>
            <a:ext cx="54864" cy="6400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4197096"/>
            <a:ext cx="5303520" cy="274320"/>
          </a:xfrm>
          <a:prstGeom prst="rect">
            <a:avLst/>
          </a:prstGeom>
          <a:noFill/>
        </p:spPr>
        <p:txBody>
          <a:bodyPr wrap="square" lIns="0" rIns="0" tIns="0" bIns="0" anchor="t">
            <a:spAutoFit/>
          </a:bodyPr>
          <a:lstStyle/>
          <a:p>
            <a:pPr algn="l"/>
            <a:r>
              <a:rPr sz="1300" b="1" i="0">
                <a:solidFill>
                  <a:srgbClr val="21295C"/>
                </a:solidFill>
                <a:latin typeface="Calibri"/>
              </a:rPr>
              <a:t>Real operational environment</a:t>
            </a:r>
          </a:p>
        </p:txBody>
      </p:sp>
      <p:sp>
        <p:nvSpPr>
          <p:cNvPr id="34" name="TextBox 33"/>
          <p:cNvSpPr txBox="1"/>
          <p:nvPr/>
        </p:nvSpPr>
        <p:spPr>
          <a:xfrm>
            <a:off x="6492240" y="4471416"/>
            <a:ext cx="5303520" cy="365760"/>
          </a:xfrm>
          <a:prstGeom prst="rect">
            <a:avLst/>
          </a:prstGeom>
          <a:noFill/>
        </p:spPr>
        <p:txBody>
          <a:bodyPr wrap="square" lIns="0" rIns="0" tIns="0" bIns="0" anchor="t">
            <a:spAutoFit/>
          </a:bodyPr>
          <a:lstStyle/>
          <a:p>
            <a:pPr algn="l"/>
            <a:r>
              <a:rPr sz="1100" b="0" i="0">
                <a:solidFill>
                  <a:srgbClr val="1E293B"/>
                </a:solidFill>
                <a:latin typeface="Calibri"/>
              </a:rPr>
              <a:t>Deploy in a real critical sector organisation</a:t>
            </a:r>
          </a:p>
        </p:txBody>
      </p:sp>
      <p:sp>
        <p:nvSpPr>
          <p:cNvPr id="35" name="Rectangle 34"/>
          <p:cNvSpPr/>
          <p:nvPr/>
        </p:nvSpPr>
        <p:spPr>
          <a:xfrm>
            <a:off x="6309360" y="4910328"/>
            <a:ext cx="54864" cy="6400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4910328"/>
            <a:ext cx="5303520" cy="274320"/>
          </a:xfrm>
          <a:prstGeom prst="rect">
            <a:avLst/>
          </a:prstGeom>
          <a:noFill/>
        </p:spPr>
        <p:txBody>
          <a:bodyPr wrap="square" lIns="0" rIns="0" tIns="0" bIns="0" anchor="t">
            <a:spAutoFit/>
          </a:bodyPr>
          <a:lstStyle/>
          <a:p>
            <a:pPr algn="l"/>
            <a:r>
              <a:rPr sz="1300" b="1" i="0">
                <a:solidFill>
                  <a:srgbClr val="21295C"/>
                </a:solidFill>
                <a:latin typeface="Calibri"/>
              </a:rPr>
              <a:t>Commercialisation plan</a:t>
            </a:r>
          </a:p>
        </p:txBody>
      </p:sp>
      <p:sp>
        <p:nvSpPr>
          <p:cNvPr id="37" name="TextBox 36"/>
          <p:cNvSpPr txBox="1"/>
          <p:nvPr/>
        </p:nvSpPr>
        <p:spPr>
          <a:xfrm>
            <a:off x="6492240" y="5184648"/>
            <a:ext cx="5303520" cy="365760"/>
          </a:xfrm>
          <a:prstGeom prst="rect">
            <a:avLst/>
          </a:prstGeom>
          <a:noFill/>
        </p:spPr>
        <p:txBody>
          <a:bodyPr wrap="square" lIns="0" rIns="0" tIns="0" bIns="0" anchor="t">
            <a:spAutoFit/>
          </a:bodyPr>
          <a:lstStyle/>
          <a:p>
            <a:pPr algn="l"/>
            <a:r>
              <a:rPr sz="1100" b="0" i="0">
                <a:solidFill>
                  <a:srgbClr val="1E293B"/>
                </a:solidFill>
                <a:latin typeface="Calibri"/>
              </a:rPr>
              <a:t>Business model + case study at project end</a:t>
            </a:r>
          </a:p>
        </p:txBody>
      </p:sp>
      <p:sp>
        <p:nvSpPr>
          <p:cNvPr id="38" name="Rectangle 37"/>
          <p:cNvSpPr/>
          <p:nvPr/>
        </p:nvSpPr>
        <p:spPr>
          <a:xfrm>
            <a:off x="6309360" y="5623560"/>
            <a:ext cx="54864" cy="6400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92240" y="5623560"/>
            <a:ext cx="5303520" cy="274320"/>
          </a:xfrm>
          <a:prstGeom prst="rect">
            <a:avLst/>
          </a:prstGeom>
          <a:noFill/>
        </p:spPr>
        <p:txBody>
          <a:bodyPr wrap="square" lIns="0" rIns="0" tIns="0" bIns="0" anchor="t">
            <a:spAutoFit/>
          </a:bodyPr>
          <a:lstStyle/>
          <a:p>
            <a:pPr algn="l"/>
            <a:r>
              <a:rPr sz="1300" b="1" i="0">
                <a:solidFill>
                  <a:srgbClr val="21295C"/>
                </a:solidFill>
                <a:latin typeface="Calibri"/>
              </a:rPr>
              <a:t>Single legal entity</a:t>
            </a:r>
          </a:p>
        </p:txBody>
      </p:sp>
      <p:sp>
        <p:nvSpPr>
          <p:cNvPr id="40" name="TextBox 39"/>
          <p:cNvSpPr txBox="1"/>
          <p:nvPr/>
        </p:nvSpPr>
        <p:spPr>
          <a:xfrm>
            <a:off x="6492240" y="5897880"/>
            <a:ext cx="5303520" cy="365760"/>
          </a:xfrm>
          <a:prstGeom prst="rect">
            <a:avLst/>
          </a:prstGeom>
          <a:noFill/>
        </p:spPr>
        <p:txBody>
          <a:bodyPr wrap="square" lIns="0" rIns="0" tIns="0" bIns="0" anchor="t">
            <a:spAutoFit/>
          </a:bodyPr>
          <a:lstStyle/>
          <a:p>
            <a:pPr algn="l"/>
            <a:r>
              <a:rPr sz="1100" b="0" i="0">
                <a:solidFill>
                  <a:srgbClr val="1E293B"/>
                </a:solidFill>
                <a:latin typeface="Calibri"/>
              </a:rPr>
              <a:t>Contract awarded to one applicant; no consortia</a:t>
            </a:r>
          </a:p>
        </p:txBody>
      </p:sp>
      <p:sp>
        <p:nvSpPr>
          <p:cNvPr id="41" name="TextBox 40"/>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42" name="TextBox 41"/>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WHY QUB CSIT</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We need world-class ICS validation — you are the natural fit</a:t>
            </a:r>
          </a:p>
        </p:txBody>
      </p:sp>
      <p:sp>
        <p:nvSpPr>
          <p:cNvPr id="6" name="Rounded Rectangle 5"/>
          <p:cNvSpPr/>
          <p:nvPr/>
        </p:nvSpPr>
        <p:spPr>
          <a:xfrm>
            <a:off x="457200" y="1554480"/>
            <a:ext cx="11247120" cy="822960"/>
          </a:xfrm>
          <a:prstGeom prst="roundRect">
            <a:avLst>
              <a:gd name="adj" fmla="val 8000"/>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27632"/>
            <a:ext cx="10698480" cy="365760"/>
          </a:xfrm>
          <a:prstGeom prst="rect">
            <a:avLst/>
          </a:prstGeom>
          <a:noFill/>
        </p:spPr>
        <p:txBody>
          <a:bodyPr wrap="square" lIns="0" rIns="0" tIns="0" bIns="0" anchor="t">
            <a:spAutoFit/>
          </a:bodyPr>
          <a:lstStyle/>
          <a:p>
            <a:pPr algn="l"/>
            <a:r>
              <a:rPr sz="1400" b="1" i="0">
                <a:solidFill>
                  <a:srgbClr val="FFFFFF"/>
                </a:solidFill>
                <a:latin typeface="Calibri"/>
              </a:rPr>
              <a:t>Calluna requires evidence that this works in a real, complex operational environment.</a:t>
            </a:r>
          </a:p>
        </p:txBody>
      </p:sp>
      <p:sp>
        <p:nvSpPr>
          <p:cNvPr id="8" name="TextBox 7"/>
          <p:cNvSpPr txBox="1"/>
          <p:nvPr/>
        </p:nvSpPr>
        <p:spPr>
          <a:xfrm>
            <a:off x="731520" y="1938528"/>
            <a:ext cx="10698480" cy="365760"/>
          </a:xfrm>
          <a:prstGeom prst="rect">
            <a:avLst/>
          </a:prstGeom>
          <a:noFill/>
        </p:spPr>
        <p:txBody>
          <a:bodyPr wrap="square" lIns="0" rIns="0" tIns="0" bIns="0" anchor="t">
            <a:spAutoFit/>
          </a:bodyPr>
          <a:lstStyle/>
          <a:p>
            <a:pPr algn="l"/>
            <a:r>
              <a:rPr sz="1200" b="0" i="1">
                <a:solidFill>
                  <a:srgbClr val="CADCFC"/>
                </a:solidFill>
                <a:latin typeface="Calibri"/>
              </a:rPr>
              <a:t>Internet-exposed decoy data alone won't be enough — assessors will want independent, controlled validation against ICS systems at scale.</a:t>
            </a:r>
          </a:p>
        </p:txBody>
      </p:sp>
      <p:sp>
        <p:nvSpPr>
          <p:cNvPr id="9" name="Rounded Rectangle 8"/>
          <p:cNvSpPr/>
          <p:nvPr/>
        </p:nvSpPr>
        <p:spPr>
          <a:xfrm>
            <a:off x="457200" y="2606040"/>
            <a:ext cx="3794760" cy="32004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880360"/>
            <a:ext cx="640080" cy="64008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80360"/>
            <a:ext cx="640080" cy="640080"/>
          </a:xfrm>
          <a:prstGeom prst="rect">
            <a:avLst/>
          </a:prstGeom>
          <a:noFill/>
        </p:spPr>
        <p:txBody>
          <a:bodyPr wrap="square" lIns="0" rIns="0" tIns="0" bIns="0" anchor="ctr">
            <a:spAutoFit/>
          </a:bodyPr>
          <a:lstStyle/>
          <a:p>
            <a:pPr algn="ctr"/>
            <a:r>
              <a:rPr sz="1800" b="1" i="0">
                <a:solidFill>
                  <a:srgbClr val="FFFFFF"/>
                </a:solidFill>
                <a:latin typeface="Calibri"/>
              </a:rPr>
              <a:t>01</a:t>
            </a:r>
          </a:p>
        </p:txBody>
      </p:sp>
      <p:sp>
        <p:nvSpPr>
          <p:cNvPr id="12" name="TextBox 11"/>
          <p:cNvSpPr txBox="1"/>
          <p:nvPr/>
        </p:nvSpPr>
        <p:spPr>
          <a:xfrm>
            <a:off x="731520" y="3703320"/>
            <a:ext cx="3246120" cy="502920"/>
          </a:xfrm>
          <a:prstGeom prst="rect">
            <a:avLst/>
          </a:prstGeom>
          <a:noFill/>
        </p:spPr>
        <p:txBody>
          <a:bodyPr wrap="square" lIns="0" rIns="0" tIns="0" bIns="0" anchor="t">
            <a:spAutoFit/>
          </a:bodyPr>
          <a:lstStyle/>
          <a:p>
            <a:pPr algn="l"/>
            <a:r>
              <a:rPr sz="1500" b="1" i="0">
                <a:solidFill>
                  <a:srgbClr val="21295C"/>
                </a:solidFill>
                <a:latin typeface="Calibri"/>
              </a:rPr>
              <a:t>World-class ICS lab</a:t>
            </a:r>
          </a:p>
        </p:txBody>
      </p:sp>
      <p:sp>
        <p:nvSpPr>
          <p:cNvPr id="13" name="TextBox 12"/>
          <p:cNvSpPr txBox="1"/>
          <p:nvPr/>
        </p:nvSpPr>
        <p:spPr>
          <a:xfrm>
            <a:off x="731520" y="4297680"/>
            <a:ext cx="3246120" cy="1371600"/>
          </a:xfrm>
          <a:prstGeom prst="rect">
            <a:avLst/>
          </a:prstGeom>
          <a:noFill/>
        </p:spPr>
        <p:txBody>
          <a:bodyPr wrap="square" lIns="0" rIns="0" tIns="0" bIns="0" anchor="t">
            <a:spAutoFit/>
          </a:bodyPr>
          <a:lstStyle/>
          <a:p>
            <a:pPr algn="l"/>
            <a:r>
              <a:rPr sz="1200" b="0" i="0">
                <a:solidFill>
                  <a:srgbClr val="1E293B"/>
                </a:solidFill>
                <a:latin typeface="Calibri"/>
              </a:rPr>
              <a:t>CSIT operates a full-scale SCADA / ICS testbed with real industrial equipment — exactly the environment Innovate UK assessors will recognise as TRL 7 validation.</a:t>
            </a:r>
          </a:p>
        </p:txBody>
      </p:sp>
      <p:sp>
        <p:nvSpPr>
          <p:cNvPr id="14" name="Rounded Rectangle 13"/>
          <p:cNvSpPr/>
          <p:nvPr/>
        </p:nvSpPr>
        <p:spPr>
          <a:xfrm>
            <a:off x="4398264" y="2606040"/>
            <a:ext cx="3794760" cy="32004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72584" y="2880360"/>
            <a:ext cx="640080" cy="64008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72584" y="2880360"/>
            <a:ext cx="640080" cy="640080"/>
          </a:xfrm>
          <a:prstGeom prst="rect">
            <a:avLst/>
          </a:prstGeom>
          <a:noFill/>
        </p:spPr>
        <p:txBody>
          <a:bodyPr wrap="square" lIns="0" rIns="0" tIns="0" bIns="0" anchor="ctr">
            <a:spAutoFit/>
          </a:bodyPr>
          <a:lstStyle/>
          <a:p>
            <a:pPr algn="ctr"/>
            <a:r>
              <a:rPr sz="1800" b="1" i="0">
                <a:solidFill>
                  <a:srgbClr val="FFFFFF"/>
                </a:solidFill>
                <a:latin typeface="Calibri"/>
              </a:rPr>
              <a:t>02</a:t>
            </a:r>
          </a:p>
        </p:txBody>
      </p:sp>
      <p:sp>
        <p:nvSpPr>
          <p:cNvPr id="17" name="TextBox 16"/>
          <p:cNvSpPr txBox="1"/>
          <p:nvPr/>
        </p:nvSpPr>
        <p:spPr>
          <a:xfrm>
            <a:off x="4672584" y="3703320"/>
            <a:ext cx="3246120" cy="502920"/>
          </a:xfrm>
          <a:prstGeom prst="rect">
            <a:avLst/>
          </a:prstGeom>
          <a:noFill/>
        </p:spPr>
        <p:txBody>
          <a:bodyPr wrap="square" lIns="0" rIns="0" tIns="0" bIns="0" anchor="t">
            <a:spAutoFit/>
          </a:bodyPr>
          <a:lstStyle/>
          <a:p>
            <a:pPr algn="l"/>
            <a:r>
              <a:rPr sz="1500" b="1" i="0">
                <a:solidFill>
                  <a:srgbClr val="21295C"/>
                </a:solidFill>
                <a:latin typeface="Calibri"/>
              </a:rPr>
              <a:t>Independent academic credibility</a:t>
            </a:r>
          </a:p>
        </p:txBody>
      </p:sp>
      <p:sp>
        <p:nvSpPr>
          <p:cNvPr id="18" name="TextBox 17"/>
          <p:cNvSpPr txBox="1"/>
          <p:nvPr/>
        </p:nvSpPr>
        <p:spPr>
          <a:xfrm>
            <a:off x="4672584" y="4297680"/>
            <a:ext cx="3246120" cy="1371600"/>
          </a:xfrm>
          <a:prstGeom prst="rect">
            <a:avLst/>
          </a:prstGeom>
          <a:noFill/>
        </p:spPr>
        <p:txBody>
          <a:bodyPr wrap="square" lIns="0" rIns="0" tIns="0" bIns="0" anchor="t">
            <a:spAutoFit/>
          </a:bodyPr>
          <a:lstStyle/>
          <a:p>
            <a:pPr algn="l"/>
            <a:r>
              <a:rPr sz="1200" b="0" i="0">
                <a:solidFill>
                  <a:srgbClr val="1E293B"/>
                </a:solidFill>
                <a:latin typeface="Calibri"/>
              </a:rPr>
              <a:t>Industry tooling needs independent verification. A peer-reviewed validation by QUB carries weight no commercial test house can match.</a:t>
            </a:r>
          </a:p>
        </p:txBody>
      </p:sp>
      <p:sp>
        <p:nvSpPr>
          <p:cNvPr id="19" name="Rounded Rectangle 18"/>
          <p:cNvSpPr/>
          <p:nvPr/>
        </p:nvSpPr>
        <p:spPr>
          <a:xfrm>
            <a:off x="8339328" y="2606040"/>
            <a:ext cx="3794760" cy="32004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613648" y="2880360"/>
            <a:ext cx="640080" cy="64008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13648" y="2880360"/>
            <a:ext cx="640080" cy="640080"/>
          </a:xfrm>
          <a:prstGeom prst="rect">
            <a:avLst/>
          </a:prstGeom>
          <a:noFill/>
        </p:spPr>
        <p:txBody>
          <a:bodyPr wrap="square" lIns="0" rIns="0" tIns="0" bIns="0" anchor="ctr">
            <a:spAutoFit/>
          </a:bodyPr>
          <a:lstStyle/>
          <a:p>
            <a:pPr algn="ctr"/>
            <a:r>
              <a:rPr sz="1800" b="1" i="0">
                <a:solidFill>
                  <a:srgbClr val="FFFFFF"/>
                </a:solidFill>
                <a:latin typeface="Calibri"/>
              </a:rPr>
              <a:t>03</a:t>
            </a:r>
          </a:p>
        </p:txBody>
      </p:sp>
      <p:sp>
        <p:nvSpPr>
          <p:cNvPr id="22" name="TextBox 21"/>
          <p:cNvSpPr txBox="1"/>
          <p:nvPr/>
        </p:nvSpPr>
        <p:spPr>
          <a:xfrm>
            <a:off x="8613648" y="3703320"/>
            <a:ext cx="3246120" cy="502920"/>
          </a:xfrm>
          <a:prstGeom prst="rect">
            <a:avLst/>
          </a:prstGeom>
          <a:noFill/>
        </p:spPr>
        <p:txBody>
          <a:bodyPr wrap="square" lIns="0" rIns="0" tIns="0" bIns="0" anchor="t">
            <a:spAutoFit/>
          </a:bodyPr>
          <a:lstStyle/>
          <a:p>
            <a:pPr algn="l"/>
            <a:r>
              <a:rPr sz="1500" b="1" i="0">
                <a:solidFill>
                  <a:srgbClr val="21295C"/>
                </a:solidFill>
                <a:latin typeface="Calibri"/>
              </a:rPr>
              <a:t>Industry network in NI energy</a:t>
            </a:r>
          </a:p>
        </p:txBody>
      </p:sp>
      <p:sp>
        <p:nvSpPr>
          <p:cNvPr id="23" name="TextBox 22"/>
          <p:cNvSpPr txBox="1"/>
          <p:nvPr/>
        </p:nvSpPr>
        <p:spPr>
          <a:xfrm>
            <a:off x="8613648" y="4297680"/>
            <a:ext cx="3246120" cy="1371600"/>
          </a:xfrm>
          <a:prstGeom prst="rect">
            <a:avLst/>
          </a:prstGeom>
          <a:noFill/>
        </p:spPr>
        <p:txBody>
          <a:bodyPr wrap="square" lIns="0" rIns="0" tIns="0" bIns="0" anchor="t">
            <a:spAutoFit/>
          </a:bodyPr>
          <a:lstStyle/>
          <a:p>
            <a:pPr algn="l"/>
            <a:r>
              <a:rPr sz="1200" b="0" i="0">
                <a:solidFill>
                  <a:srgbClr val="1E293B"/>
                </a:solidFill>
                <a:latin typeface="Calibri"/>
              </a:rPr>
              <a:t>CSIT's existing relationships with NIE Networks, SONI and the wider UK energy sector accelerate finding an end-user operator — critical for Calluna eligibility.</a:t>
            </a:r>
          </a:p>
        </p:txBody>
      </p:sp>
      <p:sp>
        <p:nvSpPr>
          <p:cNvPr id="24" name="TextBox 23"/>
          <p:cNvSpPr txBox="1"/>
          <p:nvPr/>
        </p:nvSpPr>
        <p:spPr>
          <a:xfrm>
            <a:off x="457200" y="5989320"/>
            <a:ext cx="11247120" cy="457200"/>
          </a:xfrm>
          <a:prstGeom prst="rect">
            <a:avLst/>
          </a:prstGeom>
          <a:noFill/>
        </p:spPr>
        <p:txBody>
          <a:bodyPr wrap="square" lIns="0" rIns="0" tIns="0" bIns="0" anchor="t">
            <a:spAutoFit/>
          </a:bodyPr>
          <a:lstStyle/>
          <a:p>
            <a:pPr algn="ctr"/>
            <a:r>
              <a:rPr sz="1400" b="1" i="0">
                <a:solidFill>
                  <a:srgbClr val="065A82"/>
                </a:solidFill>
                <a:latin typeface="Calibri"/>
              </a:rPr>
              <a:t>What this means in practice</a:t>
            </a:r>
          </a:p>
        </p:txBody>
      </p:sp>
      <p:sp>
        <p:nvSpPr>
          <p:cNvPr id="25" name="TextBox 24"/>
          <p:cNvSpPr txBox="1"/>
          <p:nvPr/>
        </p:nvSpPr>
        <p:spPr>
          <a:xfrm>
            <a:off x="457200" y="6327648"/>
            <a:ext cx="11247120" cy="365760"/>
          </a:xfrm>
          <a:prstGeom prst="rect">
            <a:avLst/>
          </a:prstGeom>
          <a:noFill/>
        </p:spPr>
        <p:txBody>
          <a:bodyPr wrap="square" lIns="0" rIns="0" tIns="0" bIns="0" anchor="t">
            <a:spAutoFit/>
          </a:bodyPr>
          <a:lstStyle/>
          <a:p>
            <a:pPr algn="ctr"/>
            <a:r>
              <a:rPr sz="1200" b="0" i="1">
                <a:solidFill>
                  <a:srgbClr val="1E293B"/>
                </a:solidFill>
                <a:latin typeface="Calibri"/>
              </a:rPr>
              <a:t>QUB CSIT becomes our UK subcontractor — providing the test environment, validation methodology and industry warm-intro to an Energy end-user.</a:t>
            </a:r>
          </a:p>
        </p:txBody>
      </p:sp>
      <p:sp>
        <p:nvSpPr>
          <p:cNvPr id="26" name="TextBox 25"/>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27" name="TextBox 26"/>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PARTNERSHIP STRUCTURE</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How Calluna's rules shape our proposed arrangement</a:t>
            </a:r>
          </a:p>
        </p:txBody>
      </p:sp>
      <p:sp>
        <p:nvSpPr>
          <p:cNvPr id="6" name="Rounded Rectangle 5"/>
          <p:cNvSpPr/>
          <p:nvPr/>
        </p:nvSpPr>
        <p:spPr>
          <a:xfrm>
            <a:off x="3200400" y="1554480"/>
            <a:ext cx="5760720" cy="868680"/>
          </a:xfrm>
          <a:prstGeom prst="roundRect">
            <a:avLst>
              <a:gd name="adj" fmla="val 8000"/>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0" y="1627632"/>
            <a:ext cx="5394960" cy="274320"/>
          </a:xfrm>
          <a:prstGeom prst="rect">
            <a:avLst/>
          </a:prstGeom>
          <a:noFill/>
        </p:spPr>
        <p:txBody>
          <a:bodyPr wrap="square" lIns="0" rIns="0" tIns="0" bIns="0" anchor="t">
            <a:spAutoFit/>
          </a:bodyPr>
          <a:lstStyle/>
          <a:p>
            <a:pPr algn="l"/>
            <a:r>
              <a:rPr sz="1000" b="1" i="0">
                <a:solidFill>
                  <a:srgbClr val="14B8A6"/>
                </a:solidFill>
                <a:latin typeface="Calibri"/>
              </a:rPr>
              <a:t>LEAD APPLICANT  —  Contract holder</a:t>
            </a:r>
          </a:p>
        </p:txBody>
      </p:sp>
      <p:sp>
        <p:nvSpPr>
          <p:cNvPr id="8" name="TextBox 7"/>
          <p:cNvSpPr txBox="1"/>
          <p:nvPr/>
        </p:nvSpPr>
        <p:spPr>
          <a:xfrm>
            <a:off x="3383280" y="1901952"/>
            <a:ext cx="5394960" cy="365760"/>
          </a:xfrm>
          <a:prstGeom prst="rect">
            <a:avLst/>
          </a:prstGeom>
          <a:noFill/>
        </p:spPr>
        <p:txBody>
          <a:bodyPr wrap="square" lIns="0" rIns="0" tIns="0" bIns="0" anchor="t">
            <a:spAutoFit/>
          </a:bodyPr>
          <a:lstStyle/>
          <a:p>
            <a:pPr algn="l"/>
            <a:r>
              <a:rPr sz="1800" b="1" i="0">
                <a:solidFill>
                  <a:srgbClr val="FFFFFF"/>
                </a:solidFill>
                <a:latin typeface="Calibri"/>
              </a:rPr>
              <a:t>Safetech Global Ltd (OTShield)</a:t>
            </a:r>
          </a:p>
        </p:txBody>
      </p:sp>
      <p:sp>
        <p:nvSpPr>
          <p:cNvPr id="9" name="TextBox 8"/>
          <p:cNvSpPr txBox="1"/>
          <p:nvPr/>
        </p:nvSpPr>
        <p:spPr>
          <a:xfrm>
            <a:off x="3383280" y="2212848"/>
            <a:ext cx="5394960" cy="274320"/>
          </a:xfrm>
          <a:prstGeom prst="rect">
            <a:avLst/>
          </a:prstGeom>
          <a:noFill/>
        </p:spPr>
        <p:txBody>
          <a:bodyPr wrap="square" lIns="0" rIns="0" tIns="0" bIns="0" anchor="t">
            <a:spAutoFit/>
          </a:bodyPr>
          <a:lstStyle/>
          <a:p>
            <a:pPr algn="l"/>
            <a:r>
              <a:rPr sz="1100" b="0" i="1">
                <a:solidFill>
                  <a:srgbClr val="CADCFC"/>
                </a:solidFill>
                <a:latin typeface="Calibri"/>
              </a:rPr>
              <a:t>Delivery lead, IP owner, primary R&amp;D execution</a:t>
            </a:r>
          </a:p>
        </p:txBody>
      </p:sp>
      <p:sp>
        <p:nvSpPr>
          <p:cNvPr id="10" name="Rectangle 9"/>
          <p:cNvSpPr/>
          <p:nvPr/>
        </p:nvSpPr>
        <p:spPr>
          <a:xfrm>
            <a:off x="4023360" y="2423160"/>
            <a:ext cx="45720" cy="41148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92440" y="2423160"/>
            <a:ext cx="45720" cy="41148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4400" y="2880360"/>
            <a:ext cx="5029200" cy="2286000"/>
          </a:xfrm>
          <a:prstGeom prst="roundRect">
            <a:avLst>
              <a:gd name="adj" fmla="val 8000"/>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2971800"/>
            <a:ext cx="4663440" cy="274320"/>
          </a:xfrm>
          <a:prstGeom prst="rect">
            <a:avLst/>
          </a:prstGeom>
          <a:noFill/>
        </p:spPr>
        <p:txBody>
          <a:bodyPr wrap="square" lIns="0" rIns="0" tIns="0" bIns="0" anchor="t">
            <a:spAutoFit/>
          </a:bodyPr>
          <a:lstStyle/>
          <a:p>
            <a:pPr algn="l"/>
            <a:r>
              <a:rPr sz="1000" b="1" i="0">
                <a:solidFill>
                  <a:srgbClr val="CCFBF1"/>
                </a:solidFill>
                <a:latin typeface="Calibri"/>
              </a:rPr>
              <a:t>SUBCONTRACTOR  —  Specialist skills (UK-based)</a:t>
            </a:r>
          </a:p>
        </p:txBody>
      </p:sp>
      <p:sp>
        <p:nvSpPr>
          <p:cNvPr id="14" name="TextBox 13"/>
          <p:cNvSpPr txBox="1"/>
          <p:nvPr/>
        </p:nvSpPr>
        <p:spPr>
          <a:xfrm>
            <a:off x="1097280" y="3246120"/>
            <a:ext cx="4663440" cy="457200"/>
          </a:xfrm>
          <a:prstGeom prst="rect">
            <a:avLst/>
          </a:prstGeom>
          <a:noFill/>
        </p:spPr>
        <p:txBody>
          <a:bodyPr wrap="square" lIns="0" rIns="0" tIns="0" bIns="0" anchor="t">
            <a:spAutoFit/>
          </a:bodyPr>
          <a:lstStyle/>
          <a:p>
            <a:pPr algn="l"/>
            <a:r>
              <a:rPr sz="1700" b="1" i="0">
                <a:solidFill>
                  <a:srgbClr val="FFFFFF"/>
                </a:solidFill>
                <a:latin typeface="Calibri"/>
              </a:rPr>
              <a:t>Queen's University Belfast — CSIT</a:t>
            </a:r>
          </a:p>
        </p:txBody>
      </p:sp>
      <p:sp>
        <p:nvSpPr>
          <p:cNvPr id="15" name="TextBox 14"/>
          <p:cNvSpPr txBox="1"/>
          <p:nvPr/>
        </p:nvSpPr>
        <p:spPr>
          <a:xfrm>
            <a:off x="1097280" y="3703320"/>
            <a:ext cx="4663440" cy="1463040"/>
          </a:xfrm>
          <a:prstGeom prst="rect">
            <a:avLst/>
          </a:prstGeom>
          <a:noFill/>
        </p:spPr>
        <p:txBody>
          <a:bodyPr wrap="square" lIns="0" rIns="0" tIns="0" bIns="0" anchor="t">
            <a:spAutoFit/>
          </a:bodyPr>
          <a:lstStyle/>
          <a:p>
            <a:pPr algn="l">
              <a:lnSpc>
                <a:spcPct val="120000"/>
              </a:lnSpc>
              <a:spcAft>
                <a:spcPts val="300"/>
              </a:spcAft>
            </a:pPr>
            <a:r>
              <a:rPr sz="1100" b="0" i="0">
                <a:solidFill>
                  <a:srgbClr val="FFFFFF"/>
                </a:solidFill>
                <a:latin typeface="Calibri"/>
              </a:rPr>
              <a:t>•  Provide ICS / SCADA test laboratory access</a:t>
            </a:r>
          </a:p>
          <a:p>
            <a:pPr algn="l">
              <a:lnSpc>
                <a:spcPct val="120000"/>
              </a:lnSpc>
              <a:spcAft>
                <a:spcPts val="300"/>
              </a:spcAft>
            </a:pPr>
            <a:r>
              <a:rPr sz="1100" b="0" i="0">
                <a:solidFill>
                  <a:srgbClr val="FFFFFF"/>
                </a:solidFill>
                <a:latin typeface="Calibri"/>
              </a:rPr>
              <a:t>•  Independent validation of detection and response performance</a:t>
            </a:r>
          </a:p>
          <a:p>
            <a:pPr algn="l">
              <a:lnSpc>
                <a:spcPct val="120000"/>
              </a:lnSpc>
              <a:spcAft>
                <a:spcPts val="300"/>
              </a:spcAft>
            </a:pPr>
            <a:r>
              <a:rPr sz="1100" b="0" i="0">
                <a:solidFill>
                  <a:srgbClr val="FFFFFF"/>
                </a:solidFill>
                <a:latin typeface="Calibri"/>
              </a:rPr>
              <a:t>•  Co-design of test methodology and threat scenarios</a:t>
            </a:r>
          </a:p>
          <a:p>
            <a:pPr algn="l">
              <a:lnSpc>
                <a:spcPct val="120000"/>
              </a:lnSpc>
              <a:spcAft>
                <a:spcPts val="300"/>
              </a:spcAft>
            </a:pPr>
            <a:r>
              <a:rPr sz="1100" b="0" i="0">
                <a:solidFill>
                  <a:srgbClr val="FFFFFF"/>
                </a:solidFill>
                <a:latin typeface="Calibri"/>
              </a:rPr>
              <a:t>•  Warm-intro to UK Energy end-user operator</a:t>
            </a:r>
          </a:p>
          <a:p>
            <a:pPr algn="l">
              <a:lnSpc>
                <a:spcPct val="120000"/>
              </a:lnSpc>
              <a:spcAft>
                <a:spcPts val="200"/>
              </a:spcAft>
            </a:pPr>
            <a:r>
              <a:rPr sz="1100" b="0" i="0">
                <a:solidFill>
                  <a:srgbClr val="FFFFFF"/>
                </a:solidFill>
                <a:latin typeface="Calibri"/>
              </a:rPr>
              <a:t>•  Co-authorship on resulting publication / case study</a:t>
            </a:r>
          </a:p>
        </p:txBody>
      </p:sp>
      <p:sp>
        <p:nvSpPr>
          <p:cNvPr id="16" name="Rounded Rectangle 15"/>
          <p:cNvSpPr/>
          <p:nvPr/>
        </p:nvSpPr>
        <p:spPr>
          <a:xfrm>
            <a:off x="6400800" y="2880360"/>
            <a:ext cx="5029200" cy="2286000"/>
          </a:xfrm>
          <a:prstGeom prst="roundRect">
            <a:avLst>
              <a:gd name="adj" fmla="val 8000"/>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971800"/>
            <a:ext cx="4663440" cy="274320"/>
          </a:xfrm>
          <a:prstGeom prst="rect">
            <a:avLst/>
          </a:prstGeom>
          <a:noFill/>
        </p:spPr>
        <p:txBody>
          <a:bodyPr wrap="square" lIns="0" rIns="0" tIns="0" bIns="0" anchor="t">
            <a:spAutoFit/>
          </a:bodyPr>
          <a:lstStyle/>
          <a:p>
            <a:pPr algn="l"/>
            <a:r>
              <a:rPr sz="1000" b="1" i="0">
                <a:solidFill>
                  <a:srgbClr val="14B8A6"/>
                </a:solidFill>
                <a:latin typeface="Calibri"/>
              </a:rPr>
              <a:t>END-USER  —  Real operational environment (LoI)</a:t>
            </a:r>
          </a:p>
        </p:txBody>
      </p:sp>
      <p:sp>
        <p:nvSpPr>
          <p:cNvPr id="18" name="TextBox 17"/>
          <p:cNvSpPr txBox="1"/>
          <p:nvPr/>
        </p:nvSpPr>
        <p:spPr>
          <a:xfrm>
            <a:off x="6583680" y="3246120"/>
            <a:ext cx="4663440" cy="457200"/>
          </a:xfrm>
          <a:prstGeom prst="rect">
            <a:avLst/>
          </a:prstGeom>
          <a:noFill/>
        </p:spPr>
        <p:txBody>
          <a:bodyPr wrap="square" lIns="0" rIns="0" tIns="0" bIns="0" anchor="t">
            <a:spAutoFit/>
          </a:bodyPr>
          <a:lstStyle/>
          <a:p>
            <a:pPr algn="l"/>
            <a:r>
              <a:rPr sz="1700" b="1" i="0">
                <a:solidFill>
                  <a:srgbClr val="FFFFFF"/>
                </a:solidFill>
                <a:latin typeface="Calibri"/>
              </a:rPr>
              <a:t>UK Energy CNI Operator (TBD)</a:t>
            </a:r>
          </a:p>
        </p:txBody>
      </p:sp>
      <p:sp>
        <p:nvSpPr>
          <p:cNvPr id="19" name="TextBox 18"/>
          <p:cNvSpPr txBox="1"/>
          <p:nvPr/>
        </p:nvSpPr>
        <p:spPr>
          <a:xfrm>
            <a:off x="6583680" y="3703320"/>
            <a:ext cx="4663440" cy="1463040"/>
          </a:xfrm>
          <a:prstGeom prst="rect">
            <a:avLst/>
          </a:prstGeom>
          <a:noFill/>
        </p:spPr>
        <p:txBody>
          <a:bodyPr wrap="square" lIns="0" rIns="0" tIns="0" bIns="0" anchor="t">
            <a:spAutoFit/>
          </a:bodyPr>
          <a:lstStyle/>
          <a:p>
            <a:pPr algn="l">
              <a:lnSpc>
                <a:spcPct val="120000"/>
              </a:lnSpc>
              <a:spcAft>
                <a:spcPts val="300"/>
              </a:spcAft>
            </a:pPr>
            <a:r>
              <a:rPr sz="1100" b="0" i="0">
                <a:solidFill>
                  <a:srgbClr val="FFFFFF"/>
                </a:solidFill>
                <a:latin typeface="Calibri"/>
              </a:rPr>
              <a:t>•  Hosts the operational deployment of OTShield</a:t>
            </a:r>
          </a:p>
          <a:p>
            <a:pPr algn="l">
              <a:lnSpc>
                <a:spcPct val="120000"/>
              </a:lnSpc>
              <a:spcAft>
                <a:spcPts val="300"/>
              </a:spcAft>
            </a:pPr>
            <a:r>
              <a:rPr sz="1100" b="0" i="0">
                <a:solidFill>
                  <a:srgbClr val="FFFFFF"/>
                </a:solidFill>
                <a:latin typeface="Calibri"/>
              </a:rPr>
              <a:t>•  Provides user-acceptability feedback</a:t>
            </a:r>
          </a:p>
          <a:p>
            <a:pPr algn="l">
              <a:lnSpc>
                <a:spcPct val="120000"/>
              </a:lnSpc>
              <a:spcAft>
                <a:spcPts val="300"/>
              </a:spcAft>
            </a:pPr>
            <a:r>
              <a:rPr sz="1100" b="0" i="0">
                <a:solidFill>
                  <a:srgbClr val="FFFFFF"/>
                </a:solidFill>
                <a:latin typeface="Calibri"/>
              </a:rPr>
              <a:t>•  Validates business case and commercialisation route</a:t>
            </a:r>
          </a:p>
          <a:p>
            <a:pPr algn="l">
              <a:lnSpc>
                <a:spcPct val="120000"/>
              </a:lnSpc>
              <a:spcAft>
                <a:spcPts val="300"/>
              </a:spcAft>
            </a:pPr>
            <a:r>
              <a:rPr sz="1100" b="0" i="0">
                <a:solidFill>
                  <a:srgbClr val="FFFFFF"/>
                </a:solidFill>
                <a:latin typeface="Calibri"/>
              </a:rPr>
              <a:t>•  Targets: NIE Networks, SONI, or UK mainland DNO</a:t>
            </a:r>
          </a:p>
          <a:p>
            <a:pPr algn="l">
              <a:lnSpc>
                <a:spcPct val="120000"/>
              </a:lnSpc>
              <a:spcAft>
                <a:spcPts val="200"/>
              </a:spcAft>
            </a:pPr>
            <a:r>
              <a:rPr sz="1100" b="0" i="0">
                <a:solidFill>
                  <a:srgbClr val="FFFFFF"/>
                </a:solidFill>
                <a:latin typeface="Calibri"/>
              </a:rPr>
              <a:t>•  Confirmed via Letter of Intent before submission</a:t>
            </a:r>
          </a:p>
        </p:txBody>
      </p:sp>
      <p:sp>
        <p:nvSpPr>
          <p:cNvPr id="20" name="Rounded Rectangle 19"/>
          <p:cNvSpPr/>
          <p:nvPr/>
        </p:nvSpPr>
        <p:spPr>
          <a:xfrm>
            <a:off x="457200" y="5486400"/>
            <a:ext cx="11247120" cy="960120"/>
          </a:xfrm>
          <a:prstGeom prst="roundRect">
            <a:avLst>
              <a:gd name="adj" fmla="val 8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577840"/>
            <a:ext cx="10698480" cy="365760"/>
          </a:xfrm>
          <a:prstGeom prst="rect">
            <a:avLst/>
          </a:prstGeom>
          <a:noFill/>
        </p:spPr>
        <p:txBody>
          <a:bodyPr wrap="square" lIns="0" rIns="0" tIns="0" bIns="0" anchor="t">
            <a:spAutoFit/>
          </a:bodyPr>
          <a:lstStyle/>
          <a:p>
            <a:pPr algn="l"/>
            <a:r>
              <a:rPr sz="1200" b="1" i="0">
                <a:solidFill>
                  <a:srgbClr val="E3B505"/>
                </a:solidFill>
                <a:latin typeface="Calibri"/>
              </a:rPr>
              <a:t>Important Calluna rule:</a:t>
            </a:r>
          </a:p>
        </p:txBody>
      </p:sp>
      <p:sp>
        <p:nvSpPr>
          <p:cNvPr id="22" name="TextBox 21"/>
          <p:cNvSpPr txBox="1"/>
          <p:nvPr/>
        </p:nvSpPr>
        <p:spPr>
          <a:xfrm>
            <a:off x="731520" y="5852160"/>
            <a:ext cx="10698480" cy="640080"/>
          </a:xfrm>
          <a:prstGeom prst="rect">
            <a:avLst/>
          </a:prstGeom>
          <a:noFill/>
        </p:spPr>
        <p:txBody>
          <a:bodyPr wrap="square" lIns="0" rIns="0" tIns="0" bIns="0" anchor="t">
            <a:spAutoFit/>
          </a:bodyPr>
          <a:lstStyle/>
          <a:p>
            <a:pPr algn="l"/>
            <a:r>
              <a:rPr sz="1100" b="0" i="1">
                <a:solidFill>
                  <a:srgbClr val="1E293B"/>
                </a:solidFill>
                <a:latin typeface="Calibri"/>
              </a:rPr>
              <a:t>Calluna awards contracts to a single legal entity only — no consortia or partnerships. QUB participates as a UK-based subcontractor providing specialist skills. This is fully compliant with the programme rules.</a:t>
            </a:r>
          </a:p>
        </p:txBody>
      </p:sp>
      <p:sp>
        <p:nvSpPr>
          <p:cNvPr id="23" name="TextBox 22"/>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24" name="TextBox 23"/>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VALUE FOR QUB</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What CSIT gets from this partnership</a:t>
            </a:r>
          </a:p>
        </p:txBody>
      </p:sp>
      <p:sp>
        <p:nvSpPr>
          <p:cNvPr id="6" name="Rounded Rectangle 5"/>
          <p:cNvSpPr/>
          <p:nvPr/>
        </p:nvSpPr>
        <p:spPr>
          <a:xfrm>
            <a:off x="457200" y="1508760"/>
            <a:ext cx="3794760" cy="22402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08760"/>
            <a:ext cx="91440" cy="224028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783080"/>
            <a:ext cx="640080" cy="457200"/>
          </a:xfrm>
          <a:prstGeom prst="roundRect">
            <a:avLst>
              <a:gd name="adj" fmla="val 8000"/>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83080"/>
            <a:ext cx="640080" cy="457200"/>
          </a:xfrm>
          <a:prstGeom prst="rect">
            <a:avLst/>
          </a:prstGeom>
          <a:noFill/>
        </p:spPr>
        <p:txBody>
          <a:bodyPr wrap="square" lIns="0" rIns="0" tIns="0" bIns="0" anchor="ctr">
            <a:spAutoFit/>
          </a:bodyPr>
          <a:lstStyle/>
          <a:p>
            <a:pPr algn="ctr"/>
            <a:r>
              <a:rPr sz="1200" b="1" i="0">
                <a:solidFill>
                  <a:srgbClr val="FFFFFF"/>
                </a:solidFill>
                <a:latin typeface="Calibri"/>
              </a:rPr>
              <a:t>£</a:t>
            </a:r>
          </a:p>
        </p:txBody>
      </p:sp>
      <p:sp>
        <p:nvSpPr>
          <p:cNvPr id="10" name="TextBox 9"/>
          <p:cNvSpPr txBox="1"/>
          <p:nvPr/>
        </p:nvSpPr>
        <p:spPr>
          <a:xfrm>
            <a:off x="731520" y="2331720"/>
            <a:ext cx="3337560" cy="411480"/>
          </a:xfrm>
          <a:prstGeom prst="rect">
            <a:avLst/>
          </a:prstGeom>
          <a:noFill/>
        </p:spPr>
        <p:txBody>
          <a:bodyPr wrap="square" lIns="0" rIns="0" tIns="0" bIns="0" anchor="t">
            <a:spAutoFit/>
          </a:bodyPr>
          <a:lstStyle/>
          <a:p>
            <a:pPr algn="l"/>
            <a:r>
              <a:rPr sz="1400" b="1" i="0">
                <a:solidFill>
                  <a:srgbClr val="21295C"/>
                </a:solidFill>
                <a:latin typeface="Calibri"/>
              </a:rPr>
              <a:t>Funded R&amp;D engagement</a:t>
            </a:r>
          </a:p>
        </p:txBody>
      </p:sp>
      <p:sp>
        <p:nvSpPr>
          <p:cNvPr id="11" name="TextBox 10"/>
          <p:cNvSpPr txBox="1"/>
          <p:nvPr/>
        </p:nvSpPr>
        <p:spPr>
          <a:xfrm>
            <a:off x="731520" y="2743200"/>
            <a:ext cx="3337560" cy="914400"/>
          </a:xfrm>
          <a:prstGeom prst="rect">
            <a:avLst/>
          </a:prstGeom>
          <a:noFill/>
        </p:spPr>
        <p:txBody>
          <a:bodyPr wrap="square" lIns="0" rIns="0" tIns="0" bIns="0" anchor="t">
            <a:spAutoFit/>
          </a:bodyPr>
          <a:lstStyle/>
          <a:p>
            <a:pPr algn="l"/>
            <a:r>
              <a:rPr sz="1100" b="0" i="0">
                <a:solidFill>
                  <a:srgbClr val="1E293B"/>
                </a:solidFill>
                <a:latin typeface="Calibri"/>
              </a:rPr>
              <a:t>Subcontract budget in the £40–60K range over 12 months — supports a post-doc / research engineer line and covers lab time.</a:t>
            </a:r>
          </a:p>
        </p:txBody>
      </p:sp>
      <p:sp>
        <p:nvSpPr>
          <p:cNvPr id="12" name="Rounded Rectangle 11"/>
          <p:cNvSpPr/>
          <p:nvPr/>
        </p:nvSpPr>
        <p:spPr>
          <a:xfrm>
            <a:off x="4398264" y="1508760"/>
            <a:ext cx="3794760" cy="22402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98264" y="1508760"/>
            <a:ext cx="91440" cy="224028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72584" y="1783080"/>
            <a:ext cx="640080" cy="457200"/>
          </a:xfrm>
          <a:prstGeom prst="roundRect">
            <a:avLst>
              <a:gd name="adj" fmla="val 8000"/>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2584" y="1783080"/>
            <a:ext cx="640080" cy="457200"/>
          </a:xfrm>
          <a:prstGeom prst="rect">
            <a:avLst/>
          </a:prstGeom>
          <a:noFill/>
        </p:spPr>
        <p:txBody>
          <a:bodyPr wrap="square" lIns="0" rIns="0" tIns="0" bIns="0" anchor="ctr">
            <a:spAutoFit/>
          </a:bodyPr>
          <a:lstStyle/>
          <a:p>
            <a:pPr algn="ctr"/>
            <a:r>
              <a:rPr sz="1200" b="1" i="0">
                <a:solidFill>
                  <a:srgbClr val="FFFFFF"/>
                </a:solidFill>
                <a:latin typeface="Calibri"/>
              </a:rPr>
              <a:t>PUB</a:t>
            </a:r>
          </a:p>
        </p:txBody>
      </p:sp>
      <p:sp>
        <p:nvSpPr>
          <p:cNvPr id="16" name="TextBox 15"/>
          <p:cNvSpPr txBox="1"/>
          <p:nvPr/>
        </p:nvSpPr>
        <p:spPr>
          <a:xfrm>
            <a:off x="4672584" y="2331720"/>
            <a:ext cx="3337560" cy="411480"/>
          </a:xfrm>
          <a:prstGeom prst="rect">
            <a:avLst/>
          </a:prstGeom>
          <a:noFill/>
        </p:spPr>
        <p:txBody>
          <a:bodyPr wrap="square" lIns="0" rIns="0" tIns="0" bIns="0" anchor="t">
            <a:spAutoFit/>
          </a:bodyPr>
          <a:lstStyle/>
          <a:p>
            <a:pPr algn="l"/>
            <a:r>
              <a:rPr sz="1400" b="1" i="0">
                <a:solidFill>
                  <a:srgbClr val="21295C"/>
                </a:solidFill>
                <a:latin typeface="Calibri"/>
              </a:rPr>
              <a:t>Publication-grade output</a:t>
            </a:r>
          </a:p>
        </p:txBody>
      </p:sp>
      <p:sp>
        <p:nvSpPr>
          <p:cNvPr id="17" name="TextBox 16"/>
          <p:cNvSpPr txBox="1"/>
          <p:nvPr/>
        </p:nvSpPr>
        <p:spPr>
          <a:xfrm>
            <a:off x="4672584" y="2743200"/>
            <a:ext cx="3337560" cy="914400"/>
          </a:xfrm>
          <a:prstGeom prst="rect">
            <a:avLst/>
          </a:prstGeom>
          <a:noFill/>
        </p:spPr>
        <p:txBody>
          <a:bodyPr wrap="square" lIns="0" rIns="0" tIns="0" bIns="0" anchor="t">
            <a:spAutoFit/>
          </a:bodyPr>
          <a:lstStyle/>
          <a:p>
            <a:pPr algn="l"/>
            <a:r>
              <a:rPr sz="1100" b="0" i="0">
                <a:solidFill>
                  <a:srgbClr val="1E293B"/>
                </a:solidFill>
                <a:latin typeface="Calibri"/>
              </a:rPr>
              <a:t>Co-authored conference paper (target: ICS-CSR, ESORICS, ACSAC) and an Innovate UK case study with national visibility.</a:t>
            </a:r>
          </a:p>
        </p:txBody>
      </p:sp>
      <p:sp>
        <p:nvSpPr>
          <p:cNvPr id="18" name="Rounded Rectangle 17"/>
          <p:cNvSpPr/>
          <p:nvPr/>
        </p:nvSpPr>
        <p:spPr>
          <a:xfrm>
            <a:off x="8339328" y="1508760"/>
            <a:ext cx="3794760" cy="22402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39328" y="1508760"/>
            <a:ext cx="91440" cy="22402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13648" y="1783080"/>
            <a:ext cx="640080" cy="457200"/>
          </a:xfrm>
          <a:prstGeom prst="roundRect">
            <a:avLst>
              <a:gd name="adj" fmla="val 8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13648" y="1783080"/>
            <a:ext cx="640080" cy="457200"/>
          </a:xfrm>
          <a:prstGeom prst="rect">
            <a:avLst/>
          </a:prstGeom>
          <a:noFill/>
        </p:spPr>
        <p:txBody>
          <a:bodyPr wrap="square" lIns="0" rIns="0" tIns="0" bIns="0" anchor="ctr">
            <a:spAutoFit/>
          </a:bodyPr>
          <a:lstStyle/>
          <a:p>
            <a:pPr algn="ctr"/>
            <a:r>
              <a:rPr sz="1200" b="1" i="0">
                <a:solidFill>
                  <a:srgbClr val="FFFFFF"/>
                </a:solidFill>
                <a:latin typeface="Calibri"/>
              </a:rPr>
              <a:t>IND</a:t>
            </a:r>
          </a:p>
        </p:txBody>
      </p:sp>
      <p:sp>
        <p:nvSpPr>
          <p:cNvPr id="22" name="TextBox 21"/>
          <p:cNvSpPr txBox="1"/>
          <p:nvPr/>
        </p:nvSpPr>
        <p:spPr>
          <a:xfrm>
            <a:off x="8613648" y="2331720"/>
            <a:ext cx="3337560" cy="411480"/>
          </a:xfrm>
          <a:prstGeom prst="rect">
            <a:avLst/>
          </a:prstGeom>
          <a:noFill/>
        </p:spPr>
        <p:txBody>
          <a:bodyPr wrap="square" lIns="0" rIns="0" tIns="0" bIns="0" anchor="t">
            <a:spAutoFit/>
          </a:bodyPr>
          <a:lstStyle/>
          <a:p>
            <a:pPr algn="l"/>
            <a:r>
              <a:rPr sz="1400" b="1" i="0">
                <a:solidFill>
                  <a:srgbClr val="21295C"/>
                </a:solidFill>
                <a:latin typeface="Calibri"/>
              </a:rPr>
              <a:t>Industry case study</a:t>
            </a:r>
          </a:p>
        </p:txBody>
      </p:sp>
      <p:sp>
        <p:nvSpPr>
          <p:cNvPr id="23" name="TextBox 22"/>
          <p:cNvSpPr txBox="1"/>
          <p:nvPr/>
        </p:nvSpPr>
        <p:spPr>
          <a:xfrm>
            <a:off x="8613648" y="2743200"/>
            <a:ext cx="3337560" cy="914400"/>
          </a:xfrm>
          <a:prstGeom prst="rect">
            <a:avLst/>
          </a:prstGeom>
          <a:noFill/>
        </p:spPr>
        <p:txBody>
          <a:bodyPr wrap="square" lIns="0" rIns="0" tIns="0" bIns="0" anchor="t">
            <a:spAutoFit/>
          </a:bodyPr>
          <a:lstStyle/>
          <a:p>
            <a:pPr algn="l"/>
            <a:r>
              <a:rPr sz="1100" b="0" i="0">
                <a:solidFill>
                  <a:srgbClr val="1E293B"/>
                </a:solidFill>
                <a:latin typeface="Calibri"/>
              </a:rPr>
              <a:t>Real-world deployment with a UK Energy operator — research bridges directly into operational impact, which counts for REF and KEF.</a:t>
            </a:r>
          </a:p>
        </p:txBody>
      </p:sp>
      <p:sp>
        <p:nvSpPr>
          <p:cNvPr id="24" name="Rounded Rectangle 23"/>
          <p:cNvSpPr/>
          <p:nvPr/>
        </p:nvSpPr>
        <p:spPr>
          <a:xfrm>
            <a:off x="457200" y="3886200"/>
            <a:ext cx="3794760" cy="22402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886200"/>
            <a:ext cx="91440" cy="224028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1520" y="4160520"/>
            <a:ext cx="640080" cy="457200"/>
          </a:xfrm>
          <a:prstGeom prst="roundRect">
            <a:avLst>
              <a:gd name="adj" fmla="val 8000"/>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160520"/>
            <a:ext cx="640080" cy="457200"/>
          </a:xfrm>
          <a:prstGeom prst="rect">
            <a:avLst/>
          </a:prstGeom>
          <a:noFill/>
        </p:spPr>
        <p:txBody>
          <a:bodyPr wrap="square" lIns="0" rIns="0" tIns="0" bIns="0" anchor="ctr">
            <a:spAutoFit/>
          </a:bodyPr>
          <a:lstStyle/>
          <a:p>
            <a:pPr algn="ctr"/>
            <a:r>
              <a:rPr sz="1200" b="1" i="0">
                <a:solidFill>
                  <a:srgbClr val="FFFFFF"/>
                </a:solidFill>
                <a:latin typeface="Calibri"/>
              </a:rPr>
              <a:t>IP</a:t>
            </a:r>
          </a:p>
        </p:txBody>
      </p:sp>
      <p:sp>
        <p:nvSpPr>
          <p:cNvPr id="28" name="TextBox 27"/>
          <p:cNvSpPr txBox="1"/>
          <p:nvPr/>
        </p:nvSpPr>
        <p:spPr>
          <a:xfrm>
            <a:off x="731520" y="4709160"/>
            <a:ext cx="3337560" cy="411480"/>
          </a:xfrm>
          <a:prstGeom prst="rect">
            <a:avLst/>
          </a:prstGeom>
          <a:noFill/>
        </p:spPr>
        <p:txBody>
          <a:bodyPr wrap="square" lIns="0" rIns="0" tIns="0" bIns="0" anchor="t">
            <a:spAutoFit/>
          </a:bodyPr>
          <a:lstStyle/>
          <a:p>
            <a:pPr algn="l"/>
            <a:r>
              <a:rPr sz="1400" b="1" i="0">
                <a:solidFill>
                  <a:srgbClr val="21295C"/>
                </a:solidFill>
                <a:latin typeface="Calibri"/>
              </a:rPr>
              <a:t>Clear and fair IP terms</a:t>
            </a:r>
          </a:p>
        </p:txBody>
      </p:sp>
      <p:sp>
        <p:nvSpPr>
          <p:cNvPr id="29" name="TextBox 28"/>
          <p:cNvSpPr txBox="1"/>
          <p:nvPr/>
        </p:nvSpPr>
        <p:spPr>
          <a:xfrm>
            <a:off x="731520" y="5120640"/>
            <a:ext cx="3337560" cy="914400"/>
          </a:xfrm>
          <a:prstGeom prst="rect">
            <a:avLst/>
          </a:prstGeom>
          <a:noFill/>
        </p:spPr>
        <p:txBody>
          <a:bodyPr wrap="square" lIns="0" rIns="0" tIns="0" bIns="0" anchor="t">
            <a:spAutoFit/>
          </a:bodyPr>
          <a:lstStyle/>
          <a:p>
            <a:pPr algn="l"/>
            <a:r>
              <a:rPr sz="1100" b="0" i="0">
                <a:solidFill>
                  <a:srgbClr val="1E293B"/>
                </a:solidFill>
                <a:latin typeface="Calibri"/>
              </a:rPr>
              <a:t>OTShield retains product IP; QUB retains all academic IP and publication rights. Background IP fully respected and ring-fenced.</a:t>
            </a:r>
          </a:p>
        </p:txBody>
      </p:sp>
      <p:sp>
        <p:nvSpPr>
          <p:cNvPr id="30" name="Rounded Rectangle 29"/>
          <p:cNvSpPr/>
          <p:nvPr/>
        </p:nvSpPr>
        <p:spPr>
          <a:xfrm>
            <a:off x="4398264" y="3886200"/>
            <a:ext cx="3794760" cy="22402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98264" y="3886200"/>
            <a:ext cx="91440" cy="224028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672584" y="4160520"/>
            <a:ext cx="640080" cy="457200"/>
          </a:xfrm>
          <a:prstGeom prst="roundRect">
            <a:avLst>
              <a:gd name="adj" fmla="val 8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72584" y="4160520"/>
            <a:ext cx="640080" cy="457200"/>
          </a:xfrm>
          <a:prstGeom prst="rect">
            <a:avLst/>
          </a:prstGeom>
          <a:noFill/>
        </p:spPr>
        <p:txBody>
          <a:bodyPr wrap="square" lIns="0" rIns="0" tIns="0" bIns="0" anchor="ctr">
            <a:spAutoFit/>
          </a:bodyPr>
          <a:lstStyle/>
          <a:p>
            <a:pPr algn="ctr"/>
            <a:r>
              <a:rPr sz="1200" b="1" i="0">
                <a:solidFill>
                  <a:srgbClr val="FFFFFF"/>
                </a:solidFill>
                <a:latin typeface="Calibri"/>
              </a:rPr>
              <a:t>NET</a:t>
            </a:r>
          </a:p>
        </p:txBody>
      </p:sp>
      <p:sp>
        <p:nvSpPr>
          <p:cNvPr id="34" name="TextBox 33"/>
          <p:cNvSpPr txBox="1"/>
          <p:nvPr/>
        </p:nvSpPr>
        <p:spPr>
          <a:xfrm>
            <a:off x="4672584" y="4709160"/>
            <a:ext cx="3337560" cy="411480"/>
          </a:xfrm>
          <a:prstGeom prst="rect">
            <a:avLst/>
          </a:prstGeom>
          <a:noFill/>
        </p:spPr>
        <p:txBody>
          <a:bodyPr wrap="square" lIns="0" rIns="0" tIns="0" bIns="0" anchor="t">
            <a:spAutoFit/>
          </a:bodyPr>
          <a:lstStyle/>
          <a:p>
            <a:pPr algn="l"/>
            <a:r>
              <a:rPr sz="1400" b="1" i="0">
                <a:solidFill>
                  <a:srgbClr val="21295C"/>
                </a:solidFill>
                <a:latin typeface="Calibri"/>
              </a:rPr>
              <a:t>Ongoing collaboration</a:t>
            </a:r>
          </a:p>
        </p:txBody>
      </p:sp>
      <p:sp>
        <p:nvSpPr>
          <p:cNvPr id="35" name="TextBox 34"/>
          <p:cNvSpPr txBox="1"/>
          <p:nvPr/>
        </p:nvSpPr>
        <p:spPr>
          <a:xfrm>
            <a:off x="4672584" y="5120640"/>
            <a:ext cx="3337560" cy="914400"/>
          </a:xfrm>
          <a:prstGeom prst="rect">
            <a:avLst/>
          </a:prstGeom>
          <a:noFill/>
        </p:spPr>
        <p:txBody>
          <a:bodyPr wrap="square" lIns="0" rIns="0" tIns="0" bIns="0" anchor="t">
            <a:spAutoFit/>
          </a:bodyPr>
          <a:lstStyle/>
          <a:p>
            <a:pPr algn="l"/>
            <a:r>
              <a:rPr sz="1100" b="0" i="0">
                <a:solidFill>
                  <a:srgbClr val="1E293B"/>
                </a:solidFill>
                <a:latin typeface="Calibri"/>
              </a:rPr>
              <a:t>Foundation for future joint bids — EPSRC, Innovate UK follow-on rounds, NCSC programmes. OTShield platform stays available to CSIT.</a:t>
            </a:r>
          </a:p>
        </p:txBody>
      </p:sp>
      <p:sp>
        <p:nvSpPr>
          <p:cNvPr id="36" name="Rounded Rectangle 35"/>
          <p:cNvSpPr/>
          <p:nvPr/>
        </p:nvSpPr>
        <p:spPr>
          <a:xfrm>
            <a:off x="8339328" y="3886200"/>
            <a:ext cx="3794760" cy="22402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339328" y="3886200"/>
            <a:ext cx="91440" cy="2240280"/>
          </a:xfrm>
          <a:prstGeom prst="rect">
            <a:avLst/>
          </a:prstGeom>
          <a:solidFill>
            <a:srgbClr val="E3B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613648" y="4160520"/>
            <a:ext cx="640080" cy="457200"/>
          </a:xfrm>
          <a:prstGeom prst="roundRect">
            <a:avLst>
              <a:gd name="adj" fmla="val 8000"/>
            </a:avLst>
          </a:prstGeom>
          <a:solidFill>
            <a:srgbClr val="E3B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13648" y="4160520"/>
            <a:ext cx="640080" cy="457200"/>
          </a:xfrm>
          <a:prstGeom prst="rect">
            <a:avLst/>
          </a:prstGeom>
          <a:noFill/>
        </p:spPr>
        <p:txBody>
          <a:bodyPr wrap="square" lIns="0" rIns="0" tIns="0" bIns="0" anchor="ctr">
            <a:spAutoFit/>
          </a:bodyPr>
          <a:lstStyle/>
          <a:p>
            <a:pPr algn="ctr"/>
            <a:r>
              <a:rPr sz="1200" b="1" i="0">
                <a:solidFill>
                  <a:srgbClr val="FFFFFF"/>
                </a:solidFill>
                <a:latin typeface="Calibri"/>
              </a:rPr>
              <a:t>REC</a:t>
            </a:r>
          </a:p>
        </p:txBody>
      </p:sp>
      <p:sp>
        <p:nvSpPr>
          <p:cNvPr id="40" name="TextBox 39"/>
          <p:cNvSpPr txBox="1"/>
          <p:nvPr/>
        </p:nvSpPr>
        <p:spPr>
          <a:xfrm>
            <a:off x="8613648" y="4709160"/>
            <a:ext cx="3337560" cy="411480"/>
          </a:xfrm>
          <a:prstGeom prst="rect">
            <a:avLst/>
          </a:prstGeom>
          <a:noFill/>
        </p:spPr>
        <p:txBody>
          <a:bodyPr wrap="square" lIns="0" rIns="0" tIns="0" bIns="0" anchor="t">
            <a:spAutoFit/>
          </a:bodyPr>
          <a:lstStyle/>
          <a:p>
            <a:pPr algn="l"/>
            <a:r>
              <a:rPr sz="1400" b="1" i="0">
                <a:solidFill>
                  <a:srgbClr val="21295C"/>
                </a:solidFill>
                <a:latin typeface="Calibri"/>
              </a:rPr>
              <a:t>Recognition with Innovate UK</a:t>
            </a:r>
          </a:p>
        </p:txBody>
      </p:sp>
      <p:sp>
        <p:nvSpPr>
          <p:cNvPr id="41" name="TextBox 40"/>
          <p:cNvSpPr txBox="1"/>
          <p:nvPr/>
        </p:nvSpPr>
        <p:spPr>
          <a:xfrm>
            <a:off x="8613648" y="5120640"/>
            <a:ext cx="3337560" cy="914400"/>
          </a:xfrm>
          <a:prstGeom prst="rect">
            <a:avLst/>
          </a:prstGeom>
          <a:noFill/>
        </p:spPr>
        <p:txBody>
          <a:bodyPr wrap="square" lIns="0" rIns="0" tIns="0" bIns="0" anchor="t">
            <a:spAutoFit/>
          </a:bodyPr>
          <a:lstStyle/>
          <a:p>
            <a:pPr algn="l"/>
            <a:r>
              <a:rPr sz="1100" b="0" i="0">
                <a:solidFill>
                  <a:srgbClr val="1E293B"/>
                </a:solidFill>
                <a:latin typeface="Calibri"/>
              </a:rPr>
              <a:t>QUB named on the application as the validated subcontractor and on all programme outputs. Strengthens CSIT's industry track record.</a:t>
            </a:r>
          </a:p>
        </p:txBody>
      </p:sp>
      <p:sp>
        <p:nvSpPr>
          <p:cNvPr id="42" name="TextBox 41"/>
          <p:cNvSpPr txBox="1"/>
          <p:nvPr/>
        </p:nvSpPr>
        <p:spPr>
          <a:xfrm>
            <a:off x="457200" y="6309360"/>
            <a:ext cx="11247120" cy="228600"/>
          </a:xfrm>
          <a:prstGeom prst="rect">
            <a:avLst/>
          </a:prstGeom>
          <a:noFill/>
        </p:spPr>
        <p:txBody>
          <a:bodyPr wrap="square" lIns="0" rIns="0" tIns="0" bIns="0" anchor="t">
            <a:spAutoFit/>
          </a:bodyPr>
          <a:lstStyle/>
          <a:p>
            <a:pPr algn="ctr"/>
            <a:r>
              <a:rPr sz="1100" b="0" i="1">
                <a:solidFill>
                  <a:srgbClr val="065A82"/>
                </a:solidFill>
                <a:latin typeface="Calibri"/>
              </a:rPr>
              <a:t>A genuinely two-way partnership: research output and revenue for QUB, validation and credibility for OTShield.</a:t>
            </a:r>
          </a:p>
        </p:txBody>
      </p:sp>
      <p:sp>
        <p:nvSpPr>
          <p:cNvPr id="43" name="TextBox 42"/>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44" name="TextBox 43"/>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INDICATIVE BUDGET</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What QUB's role looks like in numbers</a:t>
            </a:r>
          </a:p>
        </p:txBody>
      </p:sp>
      <p:sp>
        <p:nvSpPr>
          <p:cNvPr id="6" name="TextBox 5"/>
          <p:cNvSpPr txBox="1"/>
          <p:nvPr/>
        </p:nvSpPr>
        <p:spPr>
          <a:xfrm>
            <a:off x="457200" y="1508760"/>
            <a:ext cx="11247120" cy="365760"/>
          </a:xfrm>
          <a:prstGeom prst="rect">
            <a:avLst/>
          </a:prstGeom>
          <a:noFill/>
        </p:spPr>
        <p:txBody>
          <a:bodyPr wrap="square" lIns="0" rIns="0" tIns="0" bIns="0" anchor="t">
            <a:spAutoFit/>
          </a:bodyPr>
          <a:lstStyle/>
          <a:p>
            <a:pPr algn="l"/>
            <a:r>
              <a:rPr sz="1400" b="1" i="0">
                <a:solidFill>
                  <a:srgbClr val="065A82"/>
                </a:solidFill>
                <a:latin typeface="Calibri"/>
              </a:rPr>
              <a:t>Total project envelope: £300,000 (VAT inclusive)  •  12 months</a:t>
            </a:r>
          </a:p>
        </p:txBody>
      </p:sp>
      <p:sp>
        <p:nvSpPr>
          <p:cNvPr id="7" name="Rectangle 6"/>
          <p:cNvSpPr/>
          <p:nvPr/>
        </p:nvSpPr>
        <p:spPr>
          <a:xfrm>
            <a:off x="457200" y="2103120"/>
            <a:ext cx="6373368" cy="54864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30568" y="2103120"/>
            <a:ext cx="1874519" cy="54864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05088" y="2103120"/>
            <a:ext cx="1124712" cy="5486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829800" y="2103120"/>
            <a:ext cx="749808" cy="548640"/>
          </a:xfrm>
          <a:prstGeom prst="rect">
            <a:avLst/>
          </a:prstGeom>
          <a:solidFill>
            <a:srgbClr val="E3B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79608" y="2103120"/>
            <a:ext cx="562356" cy="54864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141964" y="2103120"/>
            <a:ext cx="562356" cy="5486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697479"/>
            <a:ext cx="11247120" cy="274320"/>
          </a:xfrm>
          <a:prstGeom prst="rect">
            <a:avLst/>
          </a:prstGeom>
          <a:noFill/>
        </p:spPr>
        <p:txBody>
          <a:bodyPr wrap="square" lIns="0" rIns="0" tIns="0" bIns="0" anchor="t">
            <a:spAutoFit/>
          </a:bodyPr>
          <a:lstStyle/>
          <a:p>
            <a:pPr algn="ctr"/>
            <a:r>
              <a:rPr sz="1000" b="0" i="1">
                <a:solidFill>
                  <a:srgbClr val="64748B"/>
                </a:solidFill>
                <a:latin typeface="Calibri"/>
              </a:rPr>
              <a:t>Total: £300K (indicative split, VAT-inclusive)</a:t>
            </a:r>
          </a:p>
        </p:txBody>
      </p:sp>
      <p:sp>
        <p:nvSpPr>
          <p:cNvPr id="14" name="TextBox 13"/>
          <p:cNvSpPr txBox="1"/>
          <p:nvPr/>
        </p:nvSpPr>
        <p:spPr>
          <a:xfrm>
            <a:off x="457200" y="3017520"/>
            <a:ext cx="5943600" cy="274320"/>
          </a:xfrm>
          <a:prstGeom prst="rect">
            <a:avLst/>
          </a:prstGeom>
          <a:noFill/>
        </p:spPr>
        <p:txBody>
          <a:bodyPr wrap="square" lIns="0" rIns="0" tIns="0" bIns="0" anchor="t">
            <a:spAutoFit/>
          </a:bodyPr>
          <a:lstStyle/>
          <a:p>
            <a:pPr algn="l"/>
            <a:r>
              <a:rPr sz="1100" b="1" i="0">
                <a:solidFill>
                  <a:srgbClr val="21295C"/>
                </a:solidFill>
                <a:latin typeface="Calibri"/>
              </a:rPr>
              <a:t>Budget line</a:t>
            </a:r>
          </a:p>
        </p:txBody>
      </p:sp>
      <p:sp>
        <p:nvSpPr>
          <p:cNvPr id="15" name="TextBox 14"/>
          <p:cNvSpPr txBox="1"/>
          <p:nvPr/>
        </p:nvSpPr>
        <p:spPr>
          <a:xfrm>
            <a:off x="6400800" y="3017520"/>
            <a:ext cx="2286000" cy="274320"/>
          </a:xfrm>
          <a:prstGeom prst="rect">
            <a:avLst/>
          </a:prstGeom>
          <a:noFill/>
        </p:spPr>
        <p:txBody>
          <a:bodyPr wrap="square" lIns="0" rIns="0" tIns="0" bIns="0" anchor="t">
            <a:spAutoFit/>
          </a:bodyPr>
          <a:lstStyle/>
          <a:p>
            <a:pPr algn="r"/>
            <a:r>
              <a:rPr sz="1100" b="1" i="0">
                <a:solidFill>
                  <a:srgbClr val="21295C"/>
                </a:solidFill>
                <a:latin typeface="Calibri"/>
              </a:rPr>
              <a:t>Amount (£K)</a:t>
            </a:r>
          </a:p>
        </p:txBody>
      </p:sp>
      <p:sp>
        <p:nvSpPr>
          <p:cNvPr id="16" name="TextBox 15"/>
          <p:cNvSpPr txBox="1"/>
          <p:nvPr/>
        </p:nvSpPr>
        <p:spPr>
          <a:xfrm>
            <a:off x="8961120" y="3017520"/>
            <a:ext cx="2743200" cy="274320"/>
          </a:xfrm>
          <a:prstGeom prst="rect">
            <a:avLst/>
          </a:prstGeom>
          <a:noFill/>
        </p:spPr>
        <p:txBody>
          <a:bodyPr wrap="square" lIns="0" rIns="0" tIns="0" bIns="0" anchor="t">
            <a:spAutoFit/>
          </a:bodyPr>
          <a:lstStyle/>
          <a:p>
            <a:pPr algn="l"/>
            <a:r>
              <a:rPr sz="1100" b="1" i="0">
                <a:solidFill>
                  <a:srgbClr val="21295C"/>
                </a:solidFill>
                <a:latin typeface="Calibri"/>
              </a:rPr>
              <a:t>Notes</a:t>
            </a:r>
          </a:p>
        </p:txBody>
      </p:sp>
      <p:sp>
        <p:nvSpPr>
          <p:cNvPr id="17" name="Rectangle 16"/>
          <p:cNvSpPr/>
          <p:nvPr/>
        </p:nvSpPr>
        <p:spPr>
          <a:xfrm>
            <a:off x="457200" y="3291839"/>
            <a:ext cx="11247120" cy="18288"/>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383280"/>
            <a:ext cx="5943600" cy="274320"/>
          </a:xfrm>
          <a:prstGeom prst="rect">
            <a:avLst/>
          </a:prstGeom>
          <a:noFill/>
        </p:spPr>
        <p:txBody>
          <a:bodyPr wrap="square" lIns="0" rIns="0" tIns="0" bIns="0" anchor="t">
            <a:spAutoFit/>
          </a:bodyPr>
          <a:lstStyle/>
          <a:p>
            <a:pPr algn="l"/>
            <a:r>
              <a:rPr sz="1100" b="0" i="0">
                <a:solidFill>
                  <a:srgbClr val="1E293B"/>
                </a:solidFill>
                <a:latin typeface="Calibri"/>
              </a:rPr>
              <a:t>OTShield labour + delivery</a:t>
            </a:r>
          </a:p>
        </p:txBody>
      </p:sp>
      <p:sp>
        <p:nvSpPr>
          <p:cNvPr id="19" name="TextBox 18"/>
          <p:cNvSpPr txBox="1"/>
          <p:nvPr/>
        </p:nvSpPr>
        <p:spPr>
          <a:xfrm>
            <a:off x="6400800" y="3383280"/>
            <a:ext cx="2286000" cy="274320"/>
          </a:xfrm>
          <a:prstGeom prst="rect">
            <a:avLst/>
          </a:prstGeom>
          <a:noFill/>
        </p:spPr>
        <p:txBody>
          <a:bodyPr wrap="square" lIns="0" rIns="0" tIns="0" bIns="0" anchor="t">
            <a:spAutoFit/>
          </a:bodyPr>
          <a:lstStyle/>
          <a:p>
            <a:pPr algn="r"/>
            <a:r>
              <a:rPr sz="1100" b="1" i="0">
                <a:solidFill>
                  <a:srgbClr val="065A82"/>
                </a:solidFill>
                <a:latin typeface="Calibri"/>
              </a:rPr>
              <a:t>170</a:t>
            </a:r>
          </a:p>
        </p:txBody>
      </p:sp>
      <p:sp>
        <p:nvSpPr>
          <p:cNvPr id="20" name="TextBox 19"/>
          <p:cNvSpPr txBox="1"/>
          <p:nvPr/>
        </p:nvSpPr>
        <p:spPr>
          <a:xfrm>
            <a:off x="8961120" y="3383280"/>
            <a:ext cx="2743200" cy="274320"/>
          </a:xfrm>
          <a:prstGeom prst="rect">
            <a:avLst/>
          </a:prstGeom>
          <a:noFill/>
        </p:spPr>
        <p:txBody>
          <a:bodyPr wrap="square" lIns="0" rIns="0" tIns="0" bIns="0" anchor="t">
            <a:spAutoFit/>
          </a:bodyPr>
          <a:lstStyle/>
          <a:p>
            <a:pPr algn="l"/>
            <a:r>
              <a:rPr sz="1000" b="0" i="1">
                <a:solidFill>
                  <a:srgbClr val="64748B"/>
                </a:solidFill>
                <a:latin typeface="Calibri"/>
              </a:rPr>
              <a:t>Founder + senior eng + advisor</a:t>
            </a:r>
          </a:p>
        </p:txBody>
      </p:sp>
      <p:sp>
        <p:nvSpPr>
          <p:cNvPr id="21" name="Rectangle 20"/>
          <p:cNvSpPr/>
          <p:nvPr/>
        </p:nvSpPr>
        <p:spPr>
          <a:xfrm>
            <a:off x="457200" y="3675888"/>
            <a:ext cx="1124712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712464"/>
            <a:ext cx="5943600" cy="274320"/>
          </a:xfrm>
          <a:prstGeom prst="rect">
            <a:avLst/>
          </a:prstGeom>
          <a:noFill/>
        </p:spPr>
        <p:txBody>
          <a:bodyPr wrap="square" lIns="0" rIns="0" tIns="0" bIns="0" anchor="t">
            <a:spAutoFit/>
          </a:bodyPr>
          <a:lstStyle/>
          <a:p>
            <a:pPr algn="l"/>
            <a:r>
              <a:rPr sz="1100" b="0" i="0">
                <a:solidFill>
                  <a:srgbClr val="1E293B"/>
                </a:solidFill>
                <a:latin typeface="Calibri"/>
              </a:rPr>
              <a:t>QUB CSIT subcontract</a:t>
            </a:r>
          </a:p>
        </p:txBody>
      </p:sp>
      <p:sp>
        <p:nvSpPr>
          <p:cNvPr id="23" name="TextBox 22"/>
          <p:cNvSpPr txBox="1"/>
          <p:nvPr/>
        </p:nvSpPr>
        <p:spPr>
          <a:xfrm>
            <a:off x="6400800" y="3712464"/>
            <a:ext cx="2286000" cy="274320"/>
          </a:xfrm>
          <a:prstGeom prst="rect">
            <a:avLst/>
          </a:prstGeom>
          <a:noFill/>
        </p:spPr>
        <p:txBody>
          <a:bodyPr wrap="square" lIns="0" rIns="0" tIns="0" bIns="0" anchor="t">
            <a:spAutoFit/>
          </a:bodyPr>
          <a:lstStyle/>
          <a:p>
            <a:pPr algn="r"/>
            <a:r>
              <a:rPr sz="1100" b="1" i="0">
                <a:solidFill>
                  <a:srgbClr val="065A82"/>
                </a:solidFill>
                <a:latin typeface="Calibri"/>
              </a:rPr>
              <a:t>50</a:t>
            </a:r>
          </a:p>
        </p:txBody>
      </p:sp>
      <p:sp>
        <p:nvSpPr>
          <p:cNvPr id="24" name="TextBox 23"/>
          <p:cNvSpPr txBox="1"/>
          <p:nvPr/>
        </p:nvSpPr>
        <p:spPr>
          <a:xfrm>
            <a:off x="8961120" y="3712464"/>
            <a:ext cx="2743200" cy="274320"/>
          </a:xfrm>
          <a:prstGeom prst="rect">
            <a:avLst/>
          </a:prstGeom>
          <a:noFill/>
        </p:spPr>
        <p:txBody>
          <a:bodyPr wrap="square" lIns="0" rIns="0" tIns="0" bIns="0" anchor="t">
            <a:spAutoFit/>
          </a:bodyPr>
          <a:lstStyle/>
          <a:p>
            <a:pPr algn="l"/>
            <a:r>
              <a:rPr sz="1000" b="0" i="1">
                <a:solidFill>
                  <a:srgbClr val="64748B"/>
                </a:solidFill>
                <a:latin typeface="Calibri"/>
              </a:rPr>
              <a:t>Lab access, validation, paper, intro</a:t>
            </a:r>
          </a:p>
        </p:txBody>
      </p:sp>
      <p:sp>
        <p:nvSpPr>
          <p:cNvPr id="25" name="Rectangle 24"/>
          <p:cNvSpPr/>
          <p:nvPr/>
        </p:nvSpPr>
        <p:spPr>
          <a:xfrm>
            <a:off x="457200" y="4005072"/>
            <a:ext cx="1124712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041648"/>
            <a:ext cx="5943600" cy="274320"/>
          </a:xfrm>
          <a:prstGeom prst="rect">
            <a:avLst/>
          </a:prstGeom>
          <a:noFill/>
        </p:spPr>
        <p:txBody>
          <a:bodyPr wrap="square" lIns="0" rIns="0" tIns="0" bIns="0" anchor="t">
            <a:spAutoFit/>
          </a:bodyPr>
          <a:lstStyle/>
          <a:p>
            <a:pPr algn="l"/>
            <a:r>
              <a:rPr sz="1100" b="0" i="0">
                <a:solidFill>
                  <a:srgbClr val="1E293B"/>
                </a:solidFill>
                <a:latin typeface="Calibri"/>
              </a:rPr>
              <a:t>End-user engagement</a:t>
            </a:r>
          </a:p>
        </p:txBody>
      </p:sp>
      <p:sp>
        <p:nvSpPr>
          <p:cNvPr id="27" name="TextBox 26"/>
          <p:cNvSpPr txBox="1"/>
          <p:nvPr/>
        </p:nvSpPr>
        <p:spPr>
          <a:xfrm>
            <a:off x="6400800" y="4041648"/>
            <a:ext cx="2286000" cy="274320"/>
          </a:xfrm>
          <a:prstGeom prst="rect">
            <a:avLst/>
          </a:prstGeom>
          <a:noFill/>
        </p:spPr>
        <p:txBody>
          <a:bodyPr wrap="square" lIns="0" rIns="0" tIns="0" bIns="0" anchor="t">
            <a:spAutoFit/>
          </a:bodyPr>
          <a:lstStyle/>
          <a:p>
            <a:pPr algn="r"/>
            <a:r>
              <a:rPr sz="1100" b="1" i="0">
                <a:solidFill>
                  <a:srgbClr val="065A82"/>
                </a:solidFill>
                <a:latin typeface="Calibri"/>
              </a:rPr>
              <a:t>30</a:t>
            </a:r>
          </a:p>
        </p:txBody>
      </p:sp>
      <p:sp>
        <p:nvSpPr>
          <p:cNvPr id="28" name="TextBox 27"/>
          <p:cNvSpPr txBox="1"/>
          <p:nvPr/>
        </p:nvSpPr>
        <p:spPr>
          <a:xfrm>
            <a:off x="8961120" y="4041648"/>
            <a:ext cx="2743200" cy="274320"/>
          </a:xfrm>
          <a:prstGeom prst="rect">
            <a:avLst/>
          </a:prstGeom>
          <a:noFill/>
        </p:spPr>
        <p:txBody>
          <a:bodyPr wrap="square" lIns="0" rIns="0" tIns="0" bIns="0" anchor="t">
            <a:spAutoFit/>
          </a:bodyPr>
          <a:lstStyle/>
          <a:p>
            <a:pPr algn="l"/>
            <a:r>
              <a:rPr sz="1000" b="0" i="1">
                <a:solidFill>
                  <a:srgbClr val="64748B"/>
                </a:solidFill>
                <a:latin typeface="Calibri"/>
              </a:rPr>
              <a:t>Deployment support, on-site days</a:t>
            </a:r>
          </a:p>
        </p:txBody>
      </p:sp>
      <p:sp>
        <p:nvSpPr>
          <p:cNvPr id="29" name="Rectangle 28"/>
          <p:cNvSpPr/>
          <p:nvPr/>
        </p:nvSpPr>
        <p:spPr>
          <a:xfrm>
            <a:off x="457200" y="4334256"/>
            <a:ext cx="1124712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370832"/>
            <a:ext cx="5943600" cy="274320"/>
          </a:xfrm>
          <a:prstGeom prst="rect">
            <a:avLst/>
          </a:prstGeom>
          <a:noFill/>
        </p:spPr>
        <p:txBody>
          <a:bodyPr wrap="square" lIns="0" rIns="0" tIns="0" bIns="0" anchor="t">
            <a:spAutoFit/>
          </a:bodyPr>
          <a:lstStyle/>
          <a:p>
            <a:pPr algn="l"/>
            <a:r>
              <a:rPr sz="1100" b="0" i="0">
                <a:solidFill>
                  <a:srgbClr val="1E293B"/>
                </a:solidFill>
                <a:latin typeface="Calibri"/>
              </a:rPr>
              <a:t>Independent security review + HW</a:t>
            </a:r>
          </a:p>
        </p:txBody>
      </p:sp>
      <p:sp>
        <p:nvSpPr>
          <p:cNvPr id="31" name="TextBox 30"/>
          <p:cNvSpPr txBox="1"/>
          <p:nvPr/>
        </p:nvSpPr>
        <p:spPr>
          <a:xfrm>
            <a:off x="6400800" y="4370832"/>
            <a:ext cx="2286000" cy="274320"/>
          </a:xfrm>
          <a:prstGeom prst="rect">
            <a:avLst/>
          </a:prstGeom>
          <a:noFill/>
        </p:spPr>
        <p:txBody>
          <a:bodyPr wrap="square" lIns="0" rIns="0" tIns="0" bIns="0" anchor="t">
            <a:spAutoFit/>
          </a:bodyPr>
          <a:lstStyle/>
          <a:p>
            <a:pPr algn="r"/>
            <a:r>
              <a:rPr sz="1100" b="1" i="0">
                <a:solidFill>
                  <a:srgbClr val="065A82"/>
                </a:solidFill>
                <a:latin typeface="Calibri"/>
              </a:rPr>
              <a:t>20</a:t>
            </a:r>
          </a:p>
        </p:txBody>
      </p:sp>
      <p:sp>
        <p:nvSpPr>
          <p:cNvPr id="32" name="TextBox 31"/>
          <p:cNvSpPr txBox="1"/>
          <p:nvPr/>
        </p:nvSpPr>
        <p:spPr>
          <a:xfrm>
            <a:off x="8961120" y="4370832"/>
            <a:ext cx="2743200" cy="274320"/>
          </a:xfrm>
          <a:prstGeom prst="rect">
            <a:avLst/>
          </a:prstGeom>
          <a:noFill/>
        </p:spPr>
        <p:txBody>
          <a:bodyPr wrap="square" lIns="0" rIns="0" tIns="0" bIns="0" anchor="t">
            <a:spAutoFit/>
          </a:bodyPr>
          <a:lstStyle/>
          <a:p>
            <a:pPr algn="l"/>
            <a:r>
              <a:rPr sz="1000" b="0" i="1">
                <a:solidFill>
                  <a:srgbClr val="64748B"/>
                </a:solidFill>
                <a:latin typeface="Calibri"/>
              </a:rPr>
              <a:t>External assurance, test laptop</a:t>
            </a:r>
          </a:p>
        </p:txBody>
      </p:sp>
      <p:sp>
        <p:nvSpPr>
          <p:cNvPr id="33" name="Rectangle 32"/>
          <p:cNvSpPr/>
          <p:nvPr/>
        </p:nvSpPr>
        <p:spPr>
          <a:xfrm>
            <a:off x="457200" y="4663440"/>
            <a:ext cx="1124712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700016"/>
            <a:ext cx="5943600" cy="274320"/>
          </a:xfrm>
          <a:prstGeom prst="rect">
            <a:avLst/>
          </a:prstGeom>
          <a:noFill/>
        </p:spPr>
        <p:txBody>
          <a:bodyPr wrap="square" lIns="0" rIns="0" tIns="0" bIns="0" anchor="t">
            <a:spAutoFit/>
          </a:bodyPr>
          <a:lstStyle/>
          <a:p>
            <a:pPr algn="l"/>
            <a:r>
              <a:rPr sz="1100" b="0" i="0">
                <a:solidFill>
                  <a:srgbClr val="1E293B"/>
                </a:solidFill>
                <a:latin typeface="Calibri"/>
              </a:rPr>
              <a:t>Travel + project mgmt</a:t>
            </a:r>
          </a:p>
        </p:txBody>
      </p:sp>
      <p:sp>
        <p:nvSpPr>
          <p:cNvPr id="35" name="TextBox 34"/>
          <p:cNvSpPr txBox="1"/>
          <p:nvPr/>
        </p:nvSpPr>
        <p:spPr>
          <a:xfrm>
            <a:off x="6400800" y="4700016"/>
            <a:ext cx="2286000" cy="274320"/>
          </a:xfrm>
          <a:prstGeom prst="rect">
            <a:avLst/>
          </a:prstGeom>
          <a:noFill/>
        </p:spPr>
        <p:txBody>
          <a:bodyPr wrap="square" lIns="0" rIns="0" tIns="0" bIns="0" anchor="t">
            <a:spAutoFit/>
          </a:bodyPr>
          <a:lstStyle/>
          <a:p>
            <a:pPr algn="r"/>
            <a:r>
              <a:rPr sz="1100" b="1" i="0">
                <a:solidFill>
                  <a:srgbClr val="065A82"/>
                </a:solidFill>
                <a:latin typeface="Calibri"/>
              </a:rPr>
              <a:t>15</a:t>
            </a:r>
          </a:p>
        </p:txBody>
      </p:sp>
      <p:sp>
        <p:nvSpPr>
          <p:cNvPr id="36" name="TextBox 35"/>
          <p:cNvSpPr txBox="1"/>
          <p:nvPr/>
        </p:nvSpPr>
        <p:spPr>
          <a:xfrm>
            <a:off x="8961120" y="4700016"/>
            <a:ext cx="2743200" cy="274320"/>
          </a:xfrm>
          <a:prstGeom prst="rect">
            <a:avLst/>
          </a:prstGeom>
          <a:noFill/>
        </p:spPr>
        <p:txBody>
          <a:bodyPr wrap="square" lIns="0" rIns="0" tIns="0" bIns="0" anchor="t">
            <a:spAutoFit/>
          </a:bodyPr>
          <a:lstStyle/>
          <a:p>
            <a:pPr algn="l"/>
            <a:r>
              <a:rPr sz="1000" b="0" i="1">
                <a:solidFill>
                  <a:srgbClr val="64748B"/>
                </a:solidFill>
                <a:latin typeface="Calibri"/>
              </a:rPr>
              <a:t>On-site visits, PM overhead</a:t>
            </a:r>
          </a:p>
        </p:txBody>
      </p:sp>
      <p:sp>
        <p:nvSpPr>
          <p:cNvPr id="37" name="Rectangle 36"/>
          <p:cNvSpPr/>
          <p:nvPr/>
        </p:nvSpPr>
        <p:spPr>
          <a:xfrm>
            <a:off x="457200" y="4992624"/>
            <a:ext cx="1124712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5029200"/>
            <a:ext cx="5943600" cy="274320"/>
          </a:xfrm>
          <a:prstGeom prst="rect">
            <a:avLst/>
          </a:prstGeom>
          <a:noFill/>
        </p:spPr>
        <p:txBody>
          <a:bodyPr wrap="square" lIns="0" rIns="0" tIns="0" bIns="0" anchor="t">
            <a:spAutoFit/>
          </a:bodyPr>
          <a:lstStyle/>
          <a:p>
            <a:pPr algn="l"/>
            <a:r>
              <a:rPr sz="1100" b="0" i="0">
                <a:solidFill>
                  <a:srgbClr val="1E293B"/>
                </a:solidFill>
                <a:latin typeface="Calibri"/>
              </a:rPr>
              <a:t>Contingency</a:t>
            </a:r>
          </a:p>
        </p:txBody>
      </p:sp>
      <p:sp>
        <p:nvSpPr>
          <p:cNvPr id="39" name="TextBox 38"/>
          <p:cNvSpPr txBox="1"/>
          <p:nvPr/>
        </p:nvSpPr>
        <p:spPr>
          <a:xfrm>
            <a:off x="6400800" y="5029200"/>
            <a:ext cx="2286000" cy="274320"/>
          </a:xfrm>
          <a:prstGeom prst="rect">
            <a:avLst/>
          </a:prstGeom>
          <a:noFill/>
        </p:spPr>
        <p:txBody>
          <a:bodyPr wrap="square" lIns="0" rIns="0" tIns="0" bIns="0" anchor="t">
            <a:spAutoFit/>
          </a:bodyPr>
          <a:lstStyle/>
          <a:p>
            <a:pPr algn="r"/>
            <a:r>
              <a:rPr sz="1100" b="1" i="0">
                <a:solidFill>
                  <a:srgbClr val="065A82"/>
                </a:solidFill>
                <a:latin typeface="Calibri"/>
              </a:rPr>
              <a:t>15</a:t>
            </a:r>
          </a:p>
        </p:txBody>
      </p:sp>
      <p:sp>
        <p:nvSpPr>
          <p:cNvPr id="40" name="TextBox 39"/>
          <p:cNvSpPr txBox="1"/>
          <p:nvPr/>
        </p:nvSpPr>
        <p:spPr>
          <a:xfrm>
            <a:off x="8961120" y="5029200"/>
            <a:ext cx="2743200" cy="274320"/>
          </a:xfrm>
          <a:prstGeom prst="rect">
            <a:avLst/>
          </a:prstGeom>
          <a:noFill/>
        </p:spPr>
        <p:txBody>
          <a:bodyPr wrap="square" lIns="0" rIns="0" tIns="0" bIns="0" anchor="t">
            <a:spAutoFit/>
          </a:bodyPr>
          <a:lstStyle/>
          <a:p>
            <a:pPr algn="l"/>
            <a:r>
              <a:rPr sz="1000" b="0" i="1">
                <a:solidFill>
                  <a:srgbClr val="64748B"/>
                </a:solidFill>
                <a:latin typeface="Calibri"/>
              </a:rPr>
              <a:t>5% of total</a:t>
            </a:r>
          </a:p>
        </p:txBody>
      </p:sp>
      <p:sp>
        <p:nvSpPr>
          <p:cNvPr id="41" name="Rectangle 40"/>
          <p:cNvSpPr/>
          <p:nvPr/>
        </p:nvSpPr>
        <p:spPr>
          <a:xfrm>
            <a:off x="457200" y="5321808"/>
            <a:ext cx="1124712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 y="5715000"/>
            <a:ext cx="11247120" cy="640080"/>
          </a:xfrm>
          <a:prstGeom prst="roundRect">
            <a:avLst>
              <a:gd name="adj" fmla="val 8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779008"/>
            <a:ext cx="10698480" cy="502920"/>
          </a:xfrm>
          <a:prstGeom prst="rect">
            <a:avLst/>
          </a:prstGeom>
          <a:noFill/>
        </p:spPr>
        <p:txBody>
          <a:bodyPr wrap="square" lIns="0" rIns="0" tIns="0" bIns="0" anchor="ctr">
            <a:spAutoFit/>
          </a:bodyPr>
          <a:lstStyle/>
          <a:p>
            <a:pPr algn="l"/>
            <a:r>
              <a:rPr sz="1100" b="0" i="1">
                <a:solidFill>
                  <a:srgbClr val="16A34A"/>
                </a:solidFill>
                <a:latin typeface="Calibri"/>
              </a:rPr>
              <a:t>Final QUB allocation tunable: we can flex this between £40K and £60K based on the scope of lab time and academic resource you'd bring in.</a:t>
            </a:r>
          </a:p>
        </p:txBody>
      </p:sp>
      <p:sp>
        <p:nvSpPr>
          <p:cNvPr id="44" name="TextBox 43"/>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45" name="TextBox 44"/>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PROJECT TIMELINE</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12 months, with QUB engagement points marked</a:t>
            </a:r>
          </a:p>
        </p:txBody>
      </p:sp>
      <p:sp>
        <p:nvSpPr>
          <p:cNvPr id="6" name="Rounded Rectangle 5"/>
          <p:cNvSpPr/>
          <p:nvPr/>
        </p:nvSpPr>
        <p:spPr>
          <a:xfrm>
            <a:off x="640080" y="1828800"/>
            <a:ext cx="10881360" cy="274320"/>
          </a:xfrm>
          <a:prstGeom prst="roundRect">
            <a:avLst>
              <a:gd name="adj" fmla="val 8000"/>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835657" y="1783080"/>
            <a:ext cx="365760" cy="365760"/>
          </a:xfrm>
          <a:prstGeom prst="ellipse">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35657" y="1783080"/>
            <a:ext cx="365760" cy="365760"/>
          </a:xfrm>
          <a:prstGeom prst="rect">
            <a:avLst/>
          </a:prstGeom>
          <a:noFill/>
        </p:spPr>
        <p:txBody>
          <a:bodyPr wrap="square" lIns="0" rIns="0" tIns="0" bIns="0" anchor="ctr">
            <a:spAutoFit/>
          </a:bodyPr>
          <a:lstStyle/>
          <a:p>
            <a:pPr algn="ctr"/>
            <a:r>
              <a:rPr sz="1100" b="1" i="0">
                <a:solidFill>
                  <a:srgbClr val="FFFFFF"/>
                </a:solidFill>
                <a:latin typeface="Calibri"/>
              </a:rPr>
              <a:t>Q1</a:t>
            </a:r>
          </a:p>
        </p:txBody>
      </p:sp>
      <p:sp>
        <p:nvSpPr>
          <p:cNvPr id="9" name="TextBox 8"/>
          <p:cNvSpPr txBox="1"/>
          <p:nvPr/>
        </p:nvSpPr>
        <p:spPr>
          <a:xfrm>
            <a:off x="640080" y="2194560"/>
            <a:ext cx="2720340" cy="274320"/>
          </a:xfrm>
          <a:prstGeom prst="rect">
            <a:avLst/>
          </a:prstGeom>
          <a:noFill/>
        </p:spPr>
        <p:txBody>
          <a:bodyPr wrap="square" lIns="0" rIns="0" tIns="0" bIns="0" anchor="t">
            <a:spAutoFit/>
          </a:bodyPr>
          <a:lstStyle/>
          <a:p>
            <a:pPr algn="ctr"/>
            <a:r>
              <a:rPr sz="1000" b="0" i="0">
                <a:solidFill>
                  <a:srgbClr val="64748B"/>
                </a:solidFill>
                <a:latin typeface="Calibri"/>
              </a:rPr>
              <a:t>Months 1–3</a:t>
            </a:r>
          </a:p>
        </p:txBody>
      </p:sp>
      <p:sp>
        <p:nvSpPr>
          <p:cNvPr id="10" name="Rounded Rectangle 9"/>
          <p:cNvSpPr/>
          <p:nvPr/>
        </p:nvSpPr>
        <p:spPr>
          <a:xfrm>
            <a:off x="731519" y="2606040"/>
            <a:ext cx="2537460" cy="18288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19" y="2606040"/>
            <a:ext cx="2537460" cy="73152"/>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770632"/>
            <a:ext cx="2354580" cy="320040"/>
          </a:xfrm>
          <a:prstGeom prst="rect">
            <a:avLst/>
          </a:prstGeom>
          <a:noFill/>
        </p:spPr>
        <p:txBody>
          <a:bodyPr wrap="square" lIns="0" rIns="0" tIns="0" bIns="0" anchor="t">
            <a:spAutoFit/>
          </a:bodyPr>
          <a:lstStyle/>
          <a:p>
            <a:pPr algn="l"/>
            <a:r>
              <a:rPr sz="1300" b="1" i="0">
                <a:solidFill>
                  <a:srgbClr val="065A82"/>
                </a:solidFill>
                <a:latin typeface="Calibri"/>
              </a:rPr>
              <a:t>Foundation</a:t>
            </a:r>
          </a:p>
        </p:txBody>
      </p:sp>
      <p:sp>
        <p:nvSpPr>
          <p:cNvPr id="13" name="TextBox 12"/>
          <p:cNvSpPr txBox="1"/>
          <p:nvPr/>
        </p:nvSpPr>
        <p:spPr>
          <a:xfrm>
            <a:off x="822959" y="3108960"/>
            <a:ext cx="2354580" cy="1280160"/>
          </a:xfrm>
          <a:prstGeom prst="rect">
            <a:avLst/>
          </a:prstGeom>
          <a:noFill/>
        </p:spPr>
        <p:txBody>
          <a:bodyPr wrap="square" lIns="0" rIns="0" tIns="0" bIns="0" anchor="t">
            <a:spAutoFit/>
          </a:bodyPr>
          <a:lstStyle/>
          <a:p>
            <a:pPr algn="l"/>
            <a:r>
              <a:rPr sz="1100" b="0" i="0">
                <a:solidFill>
                  <a:srgbClr val="1E293B"/>
                </a:solidFill>
                <a:latin typeface="Calibri"/>
              </a:rPr>
              <a:t>Kick-off; threat model; lab setup; baseline build</a:t>
            </a:r>
          </a:p>
        </p:txBody>
      </p:sp>
      <p:sp>
        <p:nvSpPr>
          <p:cNvPr id="14" name="Oval 13"/>
          <p:cNvSpPr/>
          <p:nvPr/>
        </p:nvSpPr>
        <p:spPr>
          <a:xfrm>
            <a:off x="4555998" y="1783080"/>
            <a:ext cx="365760" cy="36576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5998" y="1783080"/>
            <a:ext cx="365760" cy="365760"/>
          </a:xfrm>
          <a:prstGeom prst="rect">
            <a:avLst/>
          </a:prstGeom>
          <a:noFill/>
        </p:spPr>
        <p:txBody>
          <a:bodyPr wrap="square" lIns="0" rIns="0" tIns="0" bIns="0" anchor="ctr">
            <a:spAutoFit/>
          </a:bodyPr>
          <a:lstStyle/>
          <a:p>
            <a:pPr algn="ctr"/>
            <a:r>
              <a:rPr sz="1100" b="1" i="0">
                <a:solidFill>
                  <a:srgbClr val="FFFFFF"/>
                </a:solidFill>
                <a:latin typeface="Calibri"/>
              </a:rPr>
              <a:t>Q2</a:t>
            </a:r>
          </a:p>
        </p:txBody>
      </p:sp>
      <p:sp>
        <p:nvSpPr>
          <p:cNvPr id="16" name="TextBox 15"/>
          <p:cNvSpPr txBox="1"/>
          <p:nvPr/>
        </p:nvSpPr>
        <p:spPr>
          <a:xfrm>
            <a:off x="3360420" y="2194560"/>
            <a:ext cx="2720340" cy="274320"/>
          </a:xfrm>
          <a:prstGeom prst="rect">
            <a:avLst/>
          </a:prstGeom>
          <a:noFill/>
        </p:spPr>
        <p:txBody>
          <a:bodyPr wrap="square" lIns="0" rIns="0" tIns="0" bIns="0" anchor="t">
            <a:spAutoFit/>
          </a:bodyPr>
          <a:lstStyle/>
          <a:p>
            <a:pPr algn="ctr"/>
            <a:r>
              <a:rPr sz="1000" b="0" i="0">
                <a:solidFill>
                  <a:srgbClr val="64748B"/>
                </a:solidFill>
                <a:latin typeface="Calibri"/>
              </a:rPr>
              <a:t>Months 4–6</a:t>
            </a:r>
          </a:p>
        </p:txBody>
      </p:sp>
      <p:sp>
        <p:nvSpPr>
          <p:cNvPr id="17" name="Rounded Rectangle 16"/>
          <p:cNvSpPr/>
          <p:nvPr/>
        </p:nvSpPr>
        <p:spPr>
          <a:xfrm>
            <a:off x="3451860" y="2606040"/>
            <a:ext cx="2537460" cy="18288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51860" y="2606040"/>
            <a:ext cx="2537460" cy="73152"/>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43300" y="2770632"/>
            <a:ext cx="2354580" cy="320040"/>
          </a:xfrm>
          <a:prstGeom prst="rect">
            <a:avLst/>
          </a:prstGeom>
          <a:noFill/>
        </p:spPr>
        <p:txBody>
          <a:bodyPr wrap="square" lIns="0" rIns="0" tIns="0" bIns="0" anchor="t">
            <a:spAutoFit/>
          </a:bodyPr>
          <a:lstStyle/>
          <a:p>
            <a:pPr algn="l"/>
            <a:r>
              <a:rPr sz="1300" b="1" i="0">
                <a:solidFill>
                  <a:srgbClr val="1C7293"/>
                </a:solidFill>
                <a:latin typeface="Calibri"/>
              </a:rPr>
              <a:t>Validation</a:t>
            </a:r>
          </a:p>
        </p:txBody>
      </p:sp>
      <p:sp>
        <p:nvSpPr>
          <p:cNvPr id="20" name="TextBox 19"/>
          <p:cNvSpPr txBox="1"/>
          <p:nvPr/>
        </p:nvSpPr>
        <p:spPr>
          <a:xfrm>
            <a:off x="3543300" y="3108960"/>
            <a:ext cx="2354580" cy="1280160"/>
          </a:xfrm>
          <a:prstGeom prst="rect">
            <a:avLst/>
          </a:prstGeom>
          <a:noFill/>
        </p:spPr>
        <p:txBody>
          <a:bodyPr wrap="square" lIns="0" rIns="0" tIns="0" bIns="0" anchor="t">
            <a:spAutoFit/>
          </a:bodyPr>
          <a:lstStyle/>
          <a:p>
            <a:pPr algn="l"/>
            <a:r>
              <a:rPr sz="1100" b="0" i="0">
                <a:solidFill>
                  <a:srgbClr val="1E293B"/>
                </a:solidFill>
                <a:latin typeface="Calibri"/>
              </a:rPr>
              <a:t>Integrate at QUB SCADA lab; baseline detection metrics</a:t>
            </a:r>
          </a:p>
        </p:txBody>
      </p:sp>
      <p:sp>
        <p:nvSpPr>
          <p:cNvPr id="21" name="Oval 20"/>
          <p:cNvSpPr/>
          <p:nvPr/>
        </p:nvSpPr>
        <p:spPr>
          <a:xfrm>
            <a:off x="7276338" y="1783080"/>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76338" y="1783080"/>
            <a:ext cx="365760" cy="365760"/>
          </a:xfrm>
          <a:prstGeom prst="rect">
            <a:avLst/>
          </a:prstGeom>
          <a:noFill/>
        </p:spPr>
        <p:txBody>
          <a:bodyPr wrap="square" lIns="0" rIns="0" tIns="0" bIns="0" anchor="ctr">
            <a:spAutoFit/>
          </a:bodyPr>
          <a:lstStyle/>
          <a:p>
            <a:pPr algn="ctr"/>
            <a:r>
              <a:rPr sz="1100" b="1" i="0">
                <a:solidFill>
                  <a:srgbClr val="FFFFFF"/>
                </a:solidFill>
                <a:latin typeface="Calibri"/>
              </a:rPr>
              <a:t>Q3</a:t>
            </a:r>
          </a:p>
        </p:txBody>
      </p:sp>
      <p:sp>
        <p:nvSpPr>
          <p:cNvPr id="23" name="TextBox 22"/>
          <p:cNvSpPr txBox="1"/>
          <p:nvPr/>
        </p:nvSpPr>
        <p:spPr>
          <a:xfrm>
            <a:off x="6080760" y="2194560"/>
            <a:ext cx="2720340" cy="274320"/>
          </a:xfrm>
          <a:prstGeom prst="rect">
            <a:avLst/>
          </a:prstGeom>
          <a:noFill/>
        </p:spPr>
        <p:txBody>
          <a:bodyPr wrap="square" lIns="0" rIns="0" tIns="0" bIns="0" anchor="t">
            <a:spAutoFit/>
          </a:bodyPr>
          <a:lstStyle/>
          <a:p>
            <a:pPr algn="ctr"/>
            <a:r>
              <a:rPr sz="1000" b="0" i="0">
                <a:solidFill>
                  <a:srgbClr val="64748B"/>
                </a:solidFill>
                <a:latin typeface="Calibri"/>
              </a:rPr>
              <a:t>Months 7–9</a:t>
            </a:r>
          </a:p>
        </p:txBody>
      </p:sp>
      <p:sp>
        <p:nvSpPr>
          <p:cNvPr id="24" name="Rounded Rectangle 23"/>
          <p:cNvSpPr/>
          <p:nvPr/>
        </p:nvSpPr>
        <p:spPr>
          <a:xfrm>
            <a:off x="6172200" y="2606040"/>
            <a:ext cx="2537460" cy="18288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2606040"/>
            <a:ext cx="2537460"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2770632"/>
            <a:ext cx="2354580" cy="320040"/>
          </a:xfrm>
          <a:prstGeom prst="rect">
            <a:avLst/>
          </a:prstGeom>
          <a:noFill/>
        </p:spPr>
        <p:txBody>
          <a:bodyPr wrap="square" lIns="0" rIns="0" tIns="0" bIns="0" anchor="t">
            <a:spAutoFit/>
          </a:bodyPr>
          <a:lstStyle/>
          <a:p>
            <a:pPr algn="l"/>
            <a:r>
              <a:rPr sz="1300" b="1" i="0">
                <a:solidFill>
                  <a:srgbClr val="14B8A6"/>
                </a:solidFill>
                <a:latin typeface="Calibri"/>
              </a:rPr>
              <a:t>Deployment</a:t>
            </a:r>
          </a:p>
        </p:txBody>
      </p:sp>
      <p:sp>
        <p:nvSpPr>
          <p:cNvPr id="27" name="TextBox 26"/>
          <p:cNvSpPr txBox="1"/>
          <p:nvPr/>
        </p:nvSpPr>
        <p:spPr>
          <a:xfrm>
            <a:off x="6263640" y="3108960"/>
            <a:ext cx="2354580" cy="1280160"/>
          </a:xfrm>
          <a:prstGeom prst="rect">
            <a:avLst/>
          </a:prstGeom>
          <a:noFill/>
        </p:spPr>
        <p:txBody>
          <a:bodyPr wrap="square" lIns="0" rIns="0" tIns="0" bIns="0" anchor="t">
            <a:spAutoFit/>
          </a:bodyPr>
          <a:lstStyle/>
          <a:p>
            <a:pPr algn="l"/>
            <a:r>
              <a:rPr sz="1100" b="0" i="0">
                <a:solidFill>
                  <a:srgbClr val="1E293B"/>
                </a:solidFill>
                <a:latin typeface="Calibri"/>
              </a:rPr>
              <a:t>Deploy at Energy end-user; collect operational feedback</a:t>
            </a:r>
          </a:p>
        </p:txBody>
      </p:sp>
      <p:sp>
        <p:nvSpPr>
          <p:cNvPr id="28" name="Oval 27"/>
          <p:cNvSpPr/>
          <p:nvPr/>
        </p:nvSpPr>
        <p:spPr>
          <a:xfrm>
            <a:off x="9996678" y="1783080"/>
            <a:ext cx="365760" cy="365760"/>
          </a:xfrm>
          <a:prstGeom prst="ellipse">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96678" y="1783080"/>
            <a:ext cx="365760" cy="365760"/>
          </a:xfrm>
          <a:prstGeom prst="rect">
            <a:avLst/>
          </a:prstGeom>
          <a:noFill/>
        </p:spPr>
        <p:txBody>
          <a:bodyPr wrap="square" lIns="0" rIns="0" tIns="0" bIns="0" anchor="ctr">
            <a:spAutoFit/>
          </a:bodyPr>
          <a:lstStyle/>
          <a:p>
            <a:pPr algn="ctr"/>
            <a:r>
              <a:rPr sz="1100" b="1" i="0">
                <a:solidFill>
                  <a:srgbClr val="FFFFFF"/>
                </a:solidFill>
                <a:latin typeface="Calibri"/>
              </a:rPr>
              <a:t>Q4</a:t>
            </a:r>
          </a:p>
        </p:txBody>
      </p:sp>
      <p:sp>
        <p:nvSpPr>
          <p:cNvPr id="30" name="TextBox 29"/>
          <p:cNvSpPr txBox="1"/>
          <p:nvPr/>
        </p:nvSpPr>
        <p:spPr>
          <a:xfrm>
            <a:off x="8801100" y="2194560"/>
            <a:ext cx="2720340" cy="274320"/>
          </a:xfrm>
          <a:prstGeom prst="rect">
            <a:avLst/>
          </a:prstGeom>
          <a:noFill/>
        </p:spPr>
        <p:txBody>
          <a:bodyPr wrap="square" lIns="0" rIns="0" tIns="0" bIns="0" anchor="t">
            <a:spAutoFit/>
          </a:bodyPr>
          <a:lstStyle/>
          <a:p>
            <a:pPr algn="ctr"/>
            <a:r>
              <a:rPr sz="1000" b="0" i="0">
                <a:solidFill>
                  <a:srgbClr val="64748B"/>
                </a:solidFill>
                <a:latin typeface="Calibri"/>
              </a:rPr>
              <a:t>Months 10–12</a:t>
            </a:r>
          </a:p>
        </p:txBody>
      </p:sp>
      <p:sp>
        <p:nvSpPr>
          <p:cNvPr id="31" name="Rounded Rectangle 30"/>
          <p:cNvSpPr/>
          <p:nvPr/>
        </p:nvSpPr>
        <p:spPr>
          <a:xfrm>
            <a:off x="8892540" y="2606040"/>
            <a:ext cx="2537460" cy="18288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92540" y="2606040"/>
            <a:ext cx="2537460" cy="73152"/>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83980" y="2770632"/>
            <a:ext cx="2354580" cy="320040"/>
          </a:xfrm>
          <a:prstGeom prst="rect">
            <a:avLst/>
          </a:prstGeom>
          <a:noFill/>
        </p:spPr>
        <p:txBody>
          <a:bodyPr wrap="square" lIns="0" rIns="0" tIns="0" bIns="0" anchor="t">
            <a:spAutoFit/>
          </a:bodyPr>
          <a:lstStyle/>
          <a:p>
            <a:pPr algn="l"/>
            <a:r>
              <a:rPr sz="1300" b="1" i="0">
                <a:solidFill>
                  <a:srgbClr val="21295C"/>
                </a:solidFill>
                <a:latin typeface="Calibri"/>
              </a:rPr>
              <a:t>Hardening + commercialisation</a:t>
            </a:r>
          </a:p>
        </p:txBody>
      </p:sp>
      <p:sp>
        <p:nvSpPr>
          <p:cNvPr id="34" name="TextBox 33"/>
          <p:cNvSpPr txBox="1"/>
          <p:nvPr/>
        </p:nvSpPr>
        <p:spPr>
          <a:xfrm>
            <a:off x="8983980" y="3108960"/>
            <a:ext cx="2354580" cy="1280160"/>
          </a:xfrm>
          <a:prstGeom prst="rect">
            <a:avLst/>
          </a:prstGeom>
          <a:noFill/>
        </p:spPr>
        <p:txBody>
          <a:bodyPr wrap="square" lIns="0" rIns="0" tIns="0" bIns="0" anchor="t">
            <a:spAutoFit/>
          </a:bodyPr>
          <a:lstStyle/>
          <a:p>
            <a:pPr algn="l"/>
            <a:r>
              <a:rPr sz="1100" b="0" i="0">
                <a:solidFill>
                  <a:srgbClr val="1E293B"/>
                </a:solidFill>
                <a:latin typeface="Calibri"/>
              </a:rPr>
              <a:t>TRL 8 evidence; business case; final demos</a:t>
            </a:r>
          </a:p>
        </p:txBody>
      </p:sp>
      <p:sp>
        <p:nvSpPr>
          <p:cNvPr id="35" name="TextBox 34"/>
          <p:cNvSpPr txBox="1"/>
          <p:nvPr/>
        </p:nvSpPr>
        <p:spPr>
          <a:xfrm>
            <a:off x="457200" y="4709160"/>
            <a:ext cx="11247120" cy="320040"/>
          </a:xfrm>
          <a:prstGeom prst="rect">
            <a:avLst/>
          </a:prstGeom>
          <a:noFill/>
        </p:spPr>
        <p:txBody>
          <a:bodyPr wrap="square" lIns="0" rIns="0" tIns="0" bIns="0" anchor="t">
            <a:spAutoFit/>
          </a:bodyPr>
          <a:lstStyle/>
          <a:p>
            <a:pPr algn="l"/>
            <a:r>
              <a:rPr sz="1300" b="1" i="0">
                <a:solidFill>
                  <a:srgbClr val="1C7293"/>
                </a:solidFill>
                <a:latin typeface="Calibri"/>
              </a:rPr>
              <a:t>QUB engagement moments across the project</a:t>
            </a:r>
          </a:p>
        </p:txBody>
      </p:sp>
      <p:sp>
        <p:nvSpPr>
          <p:cNvPr id="36" name="Oval 35"/>
          <p:cNvSpPr/>
          <p:nvPr/>
        </p:nvSpPr>
        <p:spPr>
          <a:xfrm>
            <a:off x="457200" y="5074920"/>
            <a:ext cx="365760" cy="36576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074920"/>
            <a:ext cx="365760" cy="365760"/>
          </a:xfrm>
          <a:prstGeom prst="rect">
            <a:avLst/>
          </a:prstGeom>
          <a:noFill/>
        </p:spPr>
        <p:txBody>
          <a:bodyPr wrap="square" lIns="0" rIns="0" tIns="0" bIns="0" anchor="ctr">
            <a:spAutoFit/>
          </a:bodyPr>
          <a:lstStyle/>
          <a:p>
            <a:pPr algn="ctr"/>
            <a:r>
              <a:rPr sz="1000" b="1" i="0">
                <a:solidFill>
                  <a:srgbClr val="FFFFFF"/>
                </a:solidFill>
                <a:latin typeface="Calibri"/>
              </a:rPr>
              <a:t>Q1</a:t>
            </a:r>
          </a:p>
        </p:txBody>
      </p:sp>
      <p:sp>
        <p:nvSpPr>
          <p:cNvPr id="38" name="TextBox 37"/>
          <p:cNvSpPr txBox="1"/>
          <p:nvPr/>
        </p:nvSpPr>
        <p:spPr>
          <a:xfrm>
            <a:off x="960120" y="5120640"/>
            <a:ext cx="10515600" cy="320040"/>
          </a:xfrm>
          <a:prstGeom prst="rect">
            <a:avLst/>
          </a:prstGeom>
          <a:noFill/>
        </p:spPr>
        <p:txBody>
          <a:bodyPr wrap="square" lIns="0" rIns="0" tIns="0" bIns="0" anchor="t">
            <a:spAutoFit/>
          </a:bodyPr>
          <a:lstStyle/>
          <a:p>
            <a:pPr algn="l"/>
            <a:r>
              <a:rPr sz="1100" b="0" i="0">
                <a:solidFill>
                  <a:srgbClr val="1E293B"/>
                </a:solidFill>
                <a:latin typeface="Calibri"/>
              </a:rPr>
              <a:t>Kick-off workshop, lab access agreement, joint test plan</a:t>
            </a:r>
          </a:p>
        </p:txBody>
      </p:sp>
      <p:sp>
        <p:nvSpPr>
          <p:cNvPr id="39" name="Oval 38"/>
          <p:cNvSpPr/>
          <p:nvPr/>
        </p:nvSpPr>
        <p:spPr>
          <a:xfrm>
            <a:off x="457200" y="5404104"/>
            <a:ext cx="365760" cy="36576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5404104"/>
            <a:ext cx="365760" cy="365760"/>
          </a:xfrm>
          <a:prstGeom prst="rect">
            <a:avLst/>
          </a:prstGeom>
          <a:noFill/>
        </p:spPr>
        <p:txBody>
          <a:bodyPr wrap="square" lIns="0" rIns="0" tIns="0" bIns="0" anchor="ctr">
            <a:spAutoFit/>
          </a:bodyPr>
          <a:lstStyle/>
          <a:p>
            <a:pPr algn="ctr"/>
            <a:r>
              <a:rPr sz="1000" b="1" i="0">
                <a:solidFill>
                  <a:srgbClr val="FFFFFF"/>
                </a:solidFill>
                <a:latin typeface="Calibri"/>
              </a:rPr>
              <a:t>Q2</a:t>
            </a:r>
          </a:p>
        </p:txBody>
      </p:sp>
      <p:sp>
        <p:nvSpPr>
          <p:cNvPr id="41" name="TextBox 40"/>
          <p:cNvSpPr txBox="1"/>
          <p:nvPr/>
        </p:nvSpPr>
        <p:spPr>
          <a:xfrm>
            <a:off x="960120" y="5449824"/>
            <a:ext cx="10515600" cy="320040"/>
          </a:xfrm>
          <a:prstGeom prst="rect">
            <a:avLst/>
          </a:prstGeom>
          <a:noFill/>
        </p:spPr>
        <p:txBody>
          <a:bodyPr wrap="square" lIns="0" rIns="0" tIns="0" bIns="0" anchor="t">
            <a:spAutoFit/>
          </a:bodyPr>
          <a:lstStyle/>
          <a:p>
            <a:pPr algn="l"/>
            <a:r>
              <a:rPr sz="1100" b="0" i="0">
                <a:solidFill>
                  <a:srgbClr val="1E293B"/>
                </a:solidFill>
                <a:latin typeface="Calibri"/>
              </a:rPr>
              <a:t>Full lab validation campaign, mid-project review (on-site at QUB)</a:t>
            </a:r>
          </a:p>
        </p:txBody>
      </p:sp>
      <p:sp>
        <p:nvSpPr>
          <p:cNvPr id="42" name="Oval 41"/>
          <p:cNvSpPr/>
          <p:nvPr/>
        </p:nvSpPr>
        <p:spPr>
          <a:xfrm>
            <a:off x="457200" y="5733288"/>
            <a:ext cx="365760" cy="36576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5733288"/>
            <a:ext cx="365760" cy="365760"/>
          </a:xfrm>
          <a:prstGeom prst="rect">
            <a:avLst/>
          </a:prstGeom>
          <a:noFill/>
        </p:spPr>
        <p:txBody>
          <a:bodyPr wrap="square" lIns="0" rIns="0" tIns="0" bIns="0" anchor="ctr">
            <a:spAutoFit/>
          </a:bodyPr>
          <a:lstStyle/>
          <a:p>
            <a:pPr algn="ctr"/>
            <a:r>
              <a:rPr sz="1000" b="1" i="0">
                <a:solidFill>
                  <a:srgbClr val="FFFFFF"/>
                </a:solidFill>
                <a:latin typeface="Calibri"/>
              </a:rPr>
              <a:t>Q3</a:t>
            </a:r>
          </a:p>
        </p:txBody>
      </p:sp>
      <p:sp>
        <p:nvSpPr>
          <p:cNvPr id="44" name="TextBox 43"/>
          <p:cNvSpPr txBox="1"/>
          <p:nvPr/>
        </p:nvSpPr>
        <p:spPr>
          <a:xfrm>
            <a:off x="960120" y="5779008"/>
            <a:ext cx="10515600" cy="320040"/>
          </a:xfrm>
          <a:prstGeom prst="rect">
            <a:avLst/>
          </a:prstGeom>
          <a:noFill/>
        </p:spPr>
        <p:txBody>
          <a:bodyPr wrap="square" lIns="0" rIns="0" tIns="0" bIns="0" anchor="t">
            <a:spAutoFit/>
          </a:bodyPr>
          <a:lstStyle/>
          <a:p>
            <a:pPr algn="l"/>
            <a:r>
              <a:rPr sz="1100" b="0" i="0">
                <a:solidFill>
                  <a:srgbClr val="1E293B"/>
                </a:solidFill>
                <a:latin typeface="Calibri"/>
              </a:rPr>
              <a:t>Independent assessment, cross-site comparison with end-user data</a:t>
            </a:r>
          </a:p>
        </p:txBody>
      </p:sp>
      <p:sp>
        <p:nvSpPr>
          <p:cNvPr id="45" name="Oval 44"/>
          <p:cNvSpPr/>
          <p:nvPr/>
        </p:nvSpPr>
        <p:spPr>
          <a:xfrm>
            <a:off x="457200" y="6062472"/>
            <a:ext cx="365760" cy="365760"/>
          </a:xfrm>
          <a:prstGeom prst="ellipse">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6062472"/>
            <a:ext cx="365760" cy="365760"/>
          </a:xfrm>
          <a:prstGeom prst="rect">
            <a:avLst/>
          </a:prstGeom>
          <a:noFill/>
        </p:spPr>
        <p:txBody>
          <a:bodyPr wrap="square" lIns="0" rIns="0" tIns="0" bIns="0" anchor="ctr">
            <a:spAutoFit/>
          </a:bodyPr>
          <a:lstStyle/>
          <a:p>
            <a:pPr algn="ctr"/>
            <a:r>
              <a:rPr sz="1000" b="1" i="0">
                <a:solidFill>
                  <a:srgbClr val="FFFFFF"/>
                </a:solidFill>
                <a:latin typeface="Calibri"/>
              </a:rPr>
              <a:t>Q4</a:t>
            </a:r>
          </a:p>
        </p:txBody>
      </p:sp>
      <p:sp>
        <p:nvSpPr>
          <p:cNvPr id="47" name="TextBox 46"/>
          <p:cNvSpPr txBox="1"/>
          <p:nvPr/>
        </p:nvSpPr>
        <p:spPr>
          <a:xfrm>
            <a:off x="960120" y="6108192"/>
            <a:ext cx="10515600" cy="320040"/>
          </a:xfrm>
          <a:prstGeom prst="rect">
            <a:avLst/>
          </a:prstGeom>
          <a:noFill/>
        </p:spPr>
        <p:txBody>
          <a:bodyPr wrap="square" lIns="0" rIns="0" tIns="0" bIns="0" anchor="t">
            <a:spAutoFit/>
          </a:bodyPr>
          <a:lstStyle/>
          <a:p>
            <a:pPr algn="l"/>
            <a:r>
              <a:rPr sz="1100" b="0" i="0">
                <a:solidFill>
                  <a:srgbClr val="1E293B"/>
                </a:solidFill>
                <a:latin typeface="Calibri"/>
              </a:rPr>
              <a:t>Co-authored paper draft, final independent validation report</a:t>
            </a:r>
          </a:p>
        </p:txBody>
      </p:sp>
      <p:sp>
        <p:nvSpPr>
          <p:cNvPr id="48" name="TextBox 47"/>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49" name="TextBox 48"/>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IP, RISK &amp; GOVERNANCE</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Clean terms, clear boundaries, low surprise</a:t>
            </a:r>
          </a:p>
        </p:txBody>
      </p:sp>
      <p:sp>
        <p:nvSpPr>
          <p:cNvPr id="6" name="Rectangle 5"/>
          <p:cNvSpPr/>
          <p:nvPr/>
        </p:nvSpPr>
        <p:spPr>
          <a:xfrm>
            <a:off x="457200" y="1554480"/>
            <a:ext cx="3794760" cy="4572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27632"/>
            <a:ext cx="3429000" cy="365760"/>
          </a:xfrm>
          <a:prstGeom prst="rect">
            <a:avLst/>
          </a:prstGeom>
          <a:noFill/>
        </p:spPr>
        <p:txBody>
          <a:bodyPr wrap="square" lIns="0" rIns="0" tIns="0" bIns="0" anchor="ctr">
            <a:spAutoFit/>
          </a:bodyPr>
          <a:lstStyle/>
          <a:p>
            <a:pPr algn="l"/>
            <a:r>
              <a:rPr sz="1100" b="1" i="0">
                <a:solidFill>
                  <a:srgbClr val="FFFFFF"/>
                </a:solidFill>
                <a:latin typeface="Calibri"/>
              </a:rPr>
              <a:t>INTELLECTUAL PROPERTY</a:t>
            </a:r>
          </a:p>
        </p:txBody>
      </p:sp>
      <p:sp>
        <p:nvSpPr>
          <p:cNvPr id="8" name="Rounded Rectangle 7"/>
          <p:cNvSpPr/>
          <p:nvPr/>
        </p:nvSpPr>
        <p:spPr>
          <a:xfrm>
            <a:off x="457200" y="2011680"/>
            <a:ext cx="3794760" cy="40690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48840"/>
            <a:ext cx="3429000" cy="274320"/>
          </a:xfrm>
          <a:prstGeom prst="rect">
            <a:avLst/>
          </a:prstGeom>
          <a:noFill/>
        </p:spPr>
        <p:txBody>
          <a:bodyPr wrap="square" lIns="0" rIns="0" tIns="0" bIns="0" anchor="t">
            <a:spAutoFit/>
          </a:bodyPr>
          <a:lstStyle/>
          <a:p>
            <a:pPr algn="l"/>
            <a:r>
              <a:rPr sz="1100" b="1" i="0">
                <a:solidFill>
                  <a:srgbClr val="065A82"/>
                </a:solidFill>
                <a:latin typeface="Calibri"/>
              </a:rPr>
              <a:t>OTShield platform IP</a:t>
            </a:r>
          </a:p>
        </p:txBody>
      </p:sp>
      <p:sp>
        <p:nvSpPr>
          <p:cNvPr id="10" name="TextBox 9"/>
          <p:cNvSpPr txBox="1"/>
          <p:nvPr/>
        </p:nvSpPr>
        <p:spPr>
          <a:xfrm>
            <a:off x="640080" y="2423160"/>
            <a:ext cx="3429000" cy="457200"/>
          </a:xfrm>
          <a:prstGeom prst="rect">
            <a:avLst/>
          </a:prstGeom>
          <a:noFill/>
        </p:spPr>
        <p:txBody>
          <a:bodyPr wrap="square" lIns="0" rIns="0" tIns="0" bIns="0" anchor="t">
            <a:spAutoFit/>
          </a:bodyPr>
          <a:lstStyle/>
          <a:p>
            <a:pPr algn="l"/>
            <a:r>
              <a:rPr sz="1000" b="0" i="0">
                <a:solidFill>
                  <a:srgbClr val="1E293B"/>
                </a:solidFill>
                <a:latin typeface="Calibri"/>
              </a:rPr>
              <a:t>Retained by Safetech Global Ltd</a:t>
            </a:r>
          </a:p>
        </p:txBody>
      </p:sp>
      <p:sp>
        <p:nvSpPr>
          <p:cNvPr id="11" name="TextBox 10"/>
          <p:cNvSpPr txBox="1"/>
          <p:nvPr/>
        </p:nvSpPr>
        <p:spPr>
          <a:xfrm>
            <a:off x="640080" y="2926080"/>
            <a:ext cx="3429000" cy="274320"/>
          </a:xfrm>
          <a:prstGeom prst="rect">
            <a:avLst/>
          </a:prstGeom>
          <a:noFill/>
        </p:spPr>
        <p:txBody>
          <a:bodyPr wrap="square" lIns="0" rIns="0" tIns="0" bIns="0" anchor="t">
            <a:spAutoFit/>
          </a:bodyPr>
          <a:lstStyle/>
          <a:p>
            <a:pPr algn="l"/>
            <a:r>
              <a:rPr sz="1100" b="1" i="0">
                <a:solidFill>
                  <a:srgbClr val="065A82"/>
                </a:solidFill>
                <a:latin typeface="Calibri"/>
              </a:rPr>
              <a:t>Background IP (CSIT)</a:t>
            </a:r>
          </a:p>
        </p:txBody>
      </p:sp>
      <p:sp>
        <p:nvSpPr>
          <p:cNvPr id="12" name="TextBox 11"/>
          <p:cNvSpPr txBox="1"/>
          <p:nvPr/>
        </p:nvSpPr>
        <p:spPr>
          <a:xfrm>
            <a:off x="640080" y="3200400"/>
            <a:ext cx="3429000" cy="457200"/>
          </a:xfrm>
          <a:prstGeom prst="rect">
            <a:avLst/>
          </a:prstGeom>
          <a:noFill/>
        </p:spPr>
        <p:txBody>
          <a:bodyPr wrap="square" lIns="0" rIns="0" tIns="0" bIns="0" anchor="t">
            <a:spAutoFit/>
          </a:bodyPr>
          <a:lstStyle/>
          <a:p>
            <a:pPr algn="l"/>
            <a:r>
              <a:rPr sz="1000" b="0" i="0">
                <a:solidFill>
                  <a:srgbClr val="1E293B"/>
                </a:solidFill>
                <a:latin typeface="Calibri"/>
              </a:rPr>
              <a:t>Fully retained by QUB; ring-fenced</a:t>
            </a:r>
          </a:p>
        </p:txBody>
      </p:sp>
      <p:sp>
        <p:nvSpPr>
          <p:cNvPr id="13" name="TextBox 12"/>
          <p:cNvSpPr txBox="1"/>
          <p:nvPr/>
        </p:nvSpPr>
        <p:spPr>
          <a:xfrm>
            <a:off x="640080" y="3703320"/>
            <a:ext cx="3429000" cy="274320"/>
          </a:xfrm>
          <a:prstGeom prst="rect">
            <a:avLst/>
          </a:prstGeom>
          <a:noFill/>
        </p:spPr>
        <p:txBody>
          <a:bodyPr wrap="square" lIns="0" rIns="0" tIns="0" bIns="0" anchor="t">
            <a:spAutoFit/>
          </a:bodyPr>
          <a:lstStyle/>
          <a:p>
            <a:pPr algn="l"/>
            <a:r>
              <a:rPr sz="1100" b="1" i="0">
                <a:solidFill>
                  <a:srgbClr val="065A82"/>
                </a:solidFill>
                <a:latin typeface="Calibri"/>
              </a:rPr>
              <a:t>Research outputs</a:t>
            </a:r>
          </a:p>
        </p:txBody>
      </p:sp>
      <p:sp>
        <p:nvSpPr>
          <p:cNvPr id="14" name="TextBox 13"/>
          <p:cNvSpPr txBox="1"/>
          <p:nvPr/>
        </p:nvSpPr>
        <p:spPr>
          <a:xfrm>
            <a:off x="640080" y="3977639"/>
            <a:ext cx="3429000" cy="457200"/>
          </a:xfrm>
          <a:prstGeom prst="rect">
            <a:avLst/>
          </a:prstGeom>
          <a:noFill/>
        </p:spPr>
        <p:txBody>
          <a:bodyPr wrap="square" lIns="0" rIns="0" tIns="0" bIns="0" anchor="t">
            <a:spAutoFit/>
          </a:bodyPr>
          <a:lstStyle/>
          <a:p>
            <a:pPr algn="l"/>
            <a:r>
              <a:rPr sz="1000" b="0" i="0">
                <a:solidFill>
                  <a:srgbClr val="1E293B"/>
                </a:solidFill>
                <a:latin typeface="Calibri"/>
              </a:rPr>
              <a:t>Co-owned where jointly created; QUB free to publish</a:t>
            </a:r>
          </a:p>
        </p:txBody>
      </p:sp>
      <p:sp>
        <p:nvSpPr>
          <p:cNvPr id="15" name="TextBox 14"/>
          <p:cNvSpPr txBox="1"/>
          <p:nvPr/>
        </p:nvSpPr>
        <p:spPr>
          <a:xfrm>
            <a:off x="640080" y="4480559"/>
            <a:ext cx="3429000" cy="274320"/>
          </a:xfrm>
          <a:prstGeom prst="rect">
            <a:avLst/>
          </a:prstGeom>
          <a:noFill/>
        </p:spPr>
        <p:txBody>
          <a:bodyPr wrap="square" lIns="0" rIns="0" tIns="0" bIns="0" anchor="t">
            <a:spAutoFit/>
          </a:bodyPr>
          <a:lstStyle/>
          <a:p>
            <a:pPr algn="l"/>
            <a:r>
              <a:rPr sz="1100" b="1" i="0">
                <a:solidFill>
                  <a:srgbClr val="065A82"/>
                </a:solidFill>
                <a:latin typeface="Calibri"/>
              </a:rPr>
              <a:t>End-user data</a:t>
            </a:r>
          </a:p>
        </p:txBody>
      </p:sp>
      <p:sp>
        <p:nvSpPr>
          <p:cNvPr id="16" name="TextBox 15"/>
          <p:cNvSpPr txBox="1"/>
          <p:nvPr/>
        </p:nvSpPr>
        <p:spPr>
          <a:xfrm>
            <a:off x="640080" y="4754879"/>
            <a:ext cx="3429000" cy="457200"/>
          </a:xfrm>
          <a:prstGeom prst="rect">
            <a:avLst/>
          </a:prstGeom>
          <a:noFill/>
        </p:spPr>
        <p:txBody>
          <a:bodyPr wrap="square" lIns="0" rIns="0" tIns="0" bIns="0" anchor="t">
            <a:spAutoFit/>
          </a:bodyPr>
          <a:lstStyle/>
          <a:p>
            <a:pPr algn="l"/>
            <a:r>
              <a:rPr sz="1000" b="0" i="0">
                <a:solidFill>
                  <a:srgbClr val="1E293B"/>
                </a:solidFill>
                <a:latin typeface="Calibri"/>
              </a:rPr>
              <a:t>Handled per data-sharing agreement; QUB access for validation only</a:t>
            </a:r>
          </a:p>
        </p:txBody>
      </p:sp>
      <p:sp>
        <p:nvSpPr>
          <p:cNvPr id="17" name="TextBox 16"/>
          <p:cNvSpPr txBox="1"/>
          <p:nvPr/>
        </p:nvSpPr>
        <p:spPr>
          <a:xfrm>
            <a:off x="640080" y="5257799"/>
            <a:ext cx="3429000" cy="274320"/>
          </a:xfrm>
          <a:prstGeom prst="rect">
            <a:avLst/>
          </a:prstGeom>
          <a:noFill/>
        </p:spPr>
        <p:txBody>
          <a:bodyPr wrap="square" lIns="0" rIns="0" tIns="0" bIns="0" anchor="t">
            <a:spAutoFit/>
          </a:bodyPr>
          <a:lstStyle/>
          <a:p>
            <a:pPr algn="l"/>
            <a:r>
              <a:rPr sz="1100" b="1" i="0">
                <a:solidFill>
                  <a:srgbClr val="065A82"/>
                </a:solidFill>
                <a:latin typeface="Calibri"/>
              </a:rPr>
              <a:t>Innovate UK</a:t>
            </a:r>
          </a:p>
        </p:txBody>
      </p:sp>
      <p:sp>
        <p:nvSpPr>
          <p:cNvPr id="18" name="TextBox 17"/>
          <p:cNvSpPr txBox="1"/>
          <p:nvPr/>
        </p:nvSpPr>
        <p:spPr>
          <a:xfrm>
            <a:off x="640080" y="5532119"/>
            <a:ext cx="3429000" cy="457200"/>
          </a:xfrm>
          <a:prstGeom prst="rect">
            <a:avLst/>
          </a:prstGeom>
          <a:noFill/>
        </p:spPr>
        <p:txBody>
          <a:bodyPr wrap="square" lIns="0" rIns="0" tIns="0" bIns="0" anchor="t">
            <a:spAutoFit/>
          </a:bodyPr>
          <a:lstStyle/>
          <a:p>
            <a:pPr algn="l"/>
            <a:r>
              <a:rPr sz="1000" b="0" i="0">
                <a:solidFill>
                  <a:srgbClr val="1E293B"/>
                </a:solidFill>
                <a:latin typeface="Calibri"/>
              </a:rPr>
              <a:t>Standard SBRI R&amp;D licence; commercial exploitation by OTShield</a:t>
            </a:r>
          </a:p>
        </p:txBody>
      </p:sp>
      <p:sp>
        <p:nvSpPr>
          <p:cNvPr id="19" name="Rectangle 18"/>
          <p:cNvSpPr/>
          <p:nvPr/>
        </p:nvSpPr>
        <p:spPr>
          <a:xfrm>
            <a:off x="4398264" y="1554480"/>
            <a:ext cx="3794760" cy="4572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81144" y="1627632"/>
            <a:ext cx="3429000" cy="365760"/>
          </a:xfrm>
          <a:prstGeom prst="rect">
            <a:avLst/>
          </a:prstGeom>
          <a:noFill/>
        </p:spPr>
        <p:txBody>
          <a:bodyPr wrap="square" lIns="0" rIns="0" tIns="0" bIns="0" anchor="ctr">
            <a:spAutoFit/>
          </a:bodyPr>
          <a:lstStyle/>
          <a:p>
            <a:pPr algn="l"/>
            <a:r>
              <a:rPr sz="1100" b="1" i="0">
                <a:solidFill>
                  <a:srgbClr val="FFFFFF"/>
                </a:solidFill>
                <a:latin typeface="Calibri"/>
              </a:rPr>
              <a:t>RISK &amp; MITIGATION</a:t>
            </a:r>
          </a:p>
        </p:txBody>
      </p:sp>
      <p:sp>
        <p:nvSpPr>
          <p:cNvPr id="21" name="Rounded Rectangle 20"/>
          <p:cNvSpPr/>
          <p:nvPr/>
        </p:nvSpPr>
        <p:spPr>
          <a:xfrm>
            <a:off x="4398264" y="2011680"/>
            <a:ext cx="3794760" cy="40690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81144" y="2148840"/>
            <a:ext cx="3429000" cy="274320"/>
          </a:xfrm>
          <a:prstGeom prst="rect">
            <a:avLst/>
          </a:prstGeom>
          <a:noFill/>
        </p:spPr>
        <p:txBody>
          <a:bodyPr wrap="square" lIns="0" rIns="0" tIns="0" bIns="0" anchor="t">
            <a:spAutoFit/>
          </a:bodyPr>
          <a:lstStyle/>
          <a:p>
            <a:pPr algn="l"/>
            <a:r>
              <a:rPr sz="1100" b="1" i="0">
                <a:solidFill>
                  <a:srgbClr val="1C7293"/>
                </a:solidFill>
                <a:latin typeface="Calibri"/>
              </a:rPr>
              <a:t>End-user delay</a:t>
            </a:r>
          </a:p>
        </p:txBody>
      </p:sp>
      <p:sp>
        <p:nvSpPr>
          <p:cNvPr id="23" name="TextBox 22"/>
          <p:cNvSpPr txBox="1"/>
          <p:nvPr/>
        </p:nvSpPr>
        <p:spPr>
          <a:xfrm>
            <a:off x="4581144" y="2423160"/>
            <a:ext cx="3429000" cy="457200"/>
          </a:xfrm>
          <a:prstGeom prst="rect">
            <a:avLst/>
          </a:prstGeom>
          <a:noFill/>
        </p:spPr>
        <p:txBody>
          <a:bodyPr wrap="square" lIns="0" rIns="0" tIns="0" bIns="0" anchor="t">
            <a:spAutoFit/>
          </a:bodyPr>
          <a:lstStyle/>
          <a:p>
            <a:pPr algn="l"/>
            <a:r>
              <a:rPr sz="1000" b="0" i="0">
                <a:solidFill>
                  <a:srgbClr val="1E293B"/>
                </a:solidFill>
                <a:latin typeface="Calibri"/>
              </a:rPr>
              <a:t>QUB warm-intro + parallel CyLon / Catapult outreach</a:t>
            </a:r>
          </a:p>
        </p:txBody>
      </p:sp>
      <p:sp>
        <p:nvSpPr>
          <p:cNvPr id="24" name="TextBox 23"/>
          <p:cNvSpPr txBox="1"/>
          <p:nvPr/>
        </p:nvSpPr>
        <p:spPr>
          <a:xfrm>
            <a:off x="4581144" y="2926080"/>
            <a:ext cx="3429000" cy="274320"/>
          </a:xfrm>
          <a:prstGeom prst="rect">
            <a:avLst/>
          </a:prstGeom>
          <a:noFill/>
        </p:spPr>
        <p:txBody>
          <a:bodyPr wrap="square" lIns="0" rIns="0" tIns="0" bIns="0" anchor="t">
            <a:spAutoFit/>
          </a:bodyPr>
          <a:lstStyle/>
          <a:p>
            <a:pPr algn="l"/>
            <a:r>
              <a:rPr sz="1100" b="1" i="0">
                <a:solidFill>
                  <a:srgbClr val="1C7293"/>
                </a:solidFill>
                <a:latin typeface="Calibri"/>
              </a:rPr>
              <a:t>Lab access scheduling</a:t>
            </a:r>
          </a:p>
        </p:txBody>
      </p:sp>
      <p:sp>
        <p:nvSpPr>
          <p:cNvPr id="25" name="TextBox 24"/>
          <p:cNvSpPr txBox="1"/>
          <p:nvPr/>
        </p:nvSpPr>
        <p:spPr>
          <a:xfrm>
            <a:off x="4581144" y="3200400"/>
            <a:ext cx="3429000" cy="457200"/>
          </a:xfrm>
          <a:prstGeom prst="rect">
            <a:avLst/>
          </a:prstGeom>
          <a:noFill/>
        </p:spPr>
        <p:txBody>
          <a:bodyPr wrap="square" lIns="0" rIns="0" tIns="0" bIns="0" anchor="t">
            <a:spAutoFit/>
          </a:bodyPr>
          <a:lstStyle/>
          <a:p>
            <a:pPr algn="l"/>
            <a:r>
              <a:rPr sz="1000" b="0" i="0">
                <a:solidFill>
                  <a:srgbClr val="1E293B"/>
                </a:solidFill>
                <a:latin typeface="Calibri"/>
              </a:rPr>
              <a:t>12-month window; QUB and OTShield jointly plan ahead</a:t>
            </a:r>
          </a:p>
        </p:txBody>
      </p:sp>
      <p:sp>
        <p:nvSpPr>
          <p:cNvPr id="26" name="TextBox 25"/>
          <p:cNvSpPr txBox="1"/>
          <p:nvPr/>
        </p:nvSpPr>
        <p:spPr>
          <a:xfrm>
            <a:off x="4581144" y="3703320"/>
            <a:ext cx="3429000" cy="274320"/>
          </a:xfrm>
          <a:prstGeom prst="rect">
            <a:avLst/>
          </a:prstGeom>
          <a:noFill/>
        </p:spPr>
        <p:txBody>
          <a:bodyPr wrap="square" lIns="0" rIns="0" tIns="0" bIns="0" anchor="t">
            <a:spAutoFit/>
          </a:bodyPr>
          <a:lstStyle/>
          <a:p>
            <a:pPr algn="l"/>
            <a:r>
              <a:rPr sz="1100" b="1" i="0">
                <a:solidFill>
                  <a:srgbClr val="1C7293"/>
                </a:solidFill>
                <a:latin typeface="Calibri"/>
              </a:rPr>
              <a:t>Publication timing</a:t>
            </a:r>
          </a:p>
        </p:txBody>
      </p:sp>
      <p:sp>
        <p:nvSpPr>
          <p:cNvPr id="27" name="TextBox 26"/>
          <p:cNvSpPr txBox="1"/>
          <p:nvPr/>
        </p:nvSpPr>
        <p:spPr>
          <a:xfrm>
            <a:off x="4581144" y="3977639"/>
            <a:ext cx="3429000" cy="457200"/>
          </a:xfrm>
          <a:prstGeom prst="rect">
            <a:avLst/>
          </a:prstGeom>
          <a:noFill/>
        </p:spPr>
        <p:txBody>
          <a:bodyPr wrap="square" lIns="0" rIns="0" tIns="0" bIns="0" anchor="t">
            <a:spAutoFit/>
          </a:bodyPr>
          <a:lstStyle/>
          <a:p>
            <a:pPr algn="l"/>
            <a:r>
              <a:rPr sz="1000" b="0" i="0">
                <a:solidFill>
                  <a:srgbClr val="1E293B"/>
                </a:solidFill>
                <a:latin typeface="Calibri"/>
              </a:rPr>
              <a:t>Coordinated with Innovate UK case-study release</a:t>
            </a:r>
          </a:p>
        </p:txBody>
      </p:sp>
      <p:sp>
        <p:nvSpPr>
          <p:cNvPr id="28" name="TextBox 27"/>
          <p:cNvSpPr txBox="1"/>
          <p:nvPr/>
        </p:nvSpPr>
        <p:spPr>
          <a:xfrm>
            <a:off x="4581144" y="4480559"/>
            <a:ext cx="3429000" cy="274320"/>
          </a:xfrm>
          <a:prstGeom prst="rect">
            <a:avLst/>
          </a:prstGeom>
          <a:noFill/>
        </p:spPr>
        <p:txBody>
          <a:bodyPr wrap="square" lIns="0" rIns="0" tIns="0" bIns="0" anchor="t">
            <a:spAutoFit/>
          </a:bodyPr>
          <a:lstStyle/>
          <a:p>
            <a:pPr algn="l"/>
            <a:r>
              <a:rPr sz="1100" b="1" i="0">
                <a:solidFill>
                  <a:srgbClr val="1C7293"/>
                </a:solidFill>
                <a:latin typeface="Calibri"/>
              </a:rPr>
              <a:t>Sensitive end-user data</a:t>
            </a:r>
          </a:p>
        </p:txBody>
      </p:sp>
      <p:sp>
        <p:nvSpPr>
          <p:cNvPr id="29" name="TextBox 28"/>
          <p:cNvSpPr txBox="1"/>
          <p:nvPr/>
        </p:nvSpPr>
        <p:spPr>
          <a:xfrm>
            <a:off x="4581144" y="4754879"/>
            <a:ext cx="3429000" cy="457200"/>
          </a:xfrm>
          <a:prstGeom prst="rect">
            <a:avLst/>
          </a:prstGeom>
          <a:noFill/>
        </p:spPr>
        <p:txBody>
          <a:bodyPr wrap="square" lIns="0" rIns="0" tIns="0" bIns="0" anchor="t">
            <a:spAutoFit/>
          </a:bodyPr>
          <a:lstStyle/>
          <a:p>
            <a:pPr algn="l"/>
            <a:r>
              <a:rPr sz="1000" b="0" i="0">
                <a:solidFill>
                  <a:srgbClr val="1E293B"/>
                </a:solidFill>
                <a:latin typeface="Calibri"/>
              </a:rPr>
              <a:t>Anonymised in any publication; QUB sees lab data only</a:t>
            </a:r>
          </a:p>
        </p:txBody>
      </p:sp>
      <p:sp>
        <p:nvSpPr>
          <p:cNvPr id="30" name="TextBox 29"/>
          <p:cNvSpPr txBox="1"/>
          <p:nvPr/>
        </p:nvSpPr>
        <p:spPr>
          <a:xfrm>
            <a:off x="4581144" y="5257799"/>
            <a:ext cx="3429000" cy="274320"/>
          </a:xfrm>
          <a:prstGeom prst="rect">
            <a:avLst/>
          </a:prstGeom>
          <a:noFill/>
        </p:spPr>
        <p:txBody>
          <a:bodyPr wrap="square" lIns="0" rIns="0" tIns="0" bIns="0" anchor="t">
            <a:spAutoFit/>
          </a:bodyPr>
          <a:lstStyle/>
          <a:p>
            <a:pPr algn="l"/>
            <a:r>
              <a:rPr sz="1100" b="1" i="0">
                <a:solidFill>
                  <a:srgbClr val="1C7293"/>
                </a:solidFill>
                <a:latin typeface="Calibri"/>
              </a:rPr>
              <a:t>Calluna competitive process</a:t>
            </a:r>
          </a:p>
        </p:txBody>
      </p:sp>
      <p:sp>
        <p:nvSpPr>
          <p:cNvPr id="31" name="TextBox 30"/>
          <p:cNvSpPr txBox="1"/>
          <p:nvPr/>
        </p:nvSpPr>
        <p:spPr>
          <a:xfrm>
            <a:off x="4581144" y="5532119"/>
            <a:ext cx="3429000" cy="457200"/>
          </a:xfrm>
          <a:prstGeom prst="rect">
            <a:avLst/>
          </a:prstGeom>
          <a:noFill/>
        </p:spPr>
        <p:txBody>
          <a:bodyPr wrap="square" lIns="0" rIns="0" tIns="0" bIns="0" anchor="t">
            <a:spAutoFit/>
          </a:bodyPr>
          <a:lstStyle/>
          <a:p>
            <a:pPr algn="l"/>
            <a:r>
              <a:rPr sz="1000" b="0" i="0">
                <a:solidFill>
                  <a:srgbClr val="1E293B"/>
                </a:solidFill>
                <a:latin typeface="Calibri"/>
              </a:rPr>
              <a:t>We assume some bid risk; QUB engagement is contingent</a:t>
            </a:r>
          </a:p>
        </p:txBody>
      </p:sp>
      <p:sp>
        <p:nvSpPr>
          <p:cNvPr id="32" name="Rectangle 31"/>
          <p:cNvSpPr/>
          <p:nvPr/>
        </p:nvSpPr>
        <p:spPr>
          <a:xfrm>
            <a:off x="8339328" y="1554480"/>
            <a:ext cx="3794760" cy="4572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22208" y="1627632"/>
            <a:ext cx="3429000" cy="365760"/>
          </a:xfrm>
          <a:prstGeom prst="rect">
            <a:avLst/>
          </a:prstGeom>
          <a:noFill/>
        </p:spPr>
        <p:txBody>
          <a:bodyPr wrap="square" lIns="0" rIns="0" tIns="0" bIns="0" anchor="ctr">
            <a:spAutoFit/>
          </a:bodyPr>
          <a:lstStyle/>
          <a:p>
            <a:pPr algn="l"/>
            <a:r>
              <a:rPr sz="1100" b="1" i="0">
                <a:solidFill>
                  <a:srgbClr val="FFFFFF"/>
                </a:solidFill>
                <a:latin typeface="Calibri"/>
              </a:rPr>
              <a:t>GOVERNANCE</a:t>
            </a:r>
          </a:p>
        </p:txBody>
      </p:sp>
      <p:sp>
        <p:nvSpPr>
          <p:cNvPr id="34" name="Rounded Rectangle 33"/>
          <p:cNvSpPr/>
          <p:nvPr/>
        </p:nvSpPr>
        <p:spPr>
          <a:xfrm>
            <a:off x="8339328" y="2011680"/>
            <a:ext cx="3794760" cy="406908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22208" y="2148840"/>
            <a:ext cx="3429000" cy="274320"/>
          </a:xfrm>
          <a:prstGeom prst="rect">
            <a:avLst/>
          </a:prstGeom>
          <a:noFill/>
        </p:spPr>
        <p:txBody>
          <a:bodyPr wrap="square" lIns="0" rIns="0" tIns="0" bIns="0" anchor="t">
            <a:spAutoFit/>
          </a:bodyPr>
          <a:lstStyle/>
          <a:p>
            <a:pPr algn="l"/>
            <a:r>
              <a:rPr sz="1100" b="1" i="0">
                <a:solidFill>
                  <a:srgbClr val="14B8A6"/>
                </a:solidFill>
                <a:latin typeface="Calibri"/>
              </a:rPr>
              <a:t>Steering group</a:t>
            </a:r>
          </a:p>
        </p:txBody>
      </p:sp>
      <p:sp>
        <p:nvSpPr>
          <p:cNvPr id="36" name="TextBox 35"/>
          <p:cNvSpPr txBox="1"/>
          <p:nvPr/>
        </p:nvSpPr>
        <p:spPr>
          <a:xfrm>
            <a:off x="8522208" y="2423160"/>
            <a:ext cx="3429000" cy="457200"/>
          </a:xfrm>
          <a:prstGeom prst="rect">
            <a:avLst/>
          </a:prstGeom>
          <a:noFill/>
        </p:spPr>
        <p:txBody>
          <a:bodyPr wrap="square" lIns="0" rIns="0" tIns="0" bIns="0" anchor="t">
            <a:spAutoFit/>
          </a:bodyPr>
          <a:lstStyle/>
          <a:p>
            <a:pPr algn="l"/>
            <a:r>
              <a:rPr sz="1000" b="0" i="0">
                <a:solidFill>
                  <a:srgbClr val="1E293B"/>
                </a:solidFill>
                <a:latin typeface="Calibri"/>
              </a:rPr>
              <a:t>Monthly — OTShield lead + QUB PI + end-user rep</a:t>
            </a:r>
          </a:p>
        </p:txBody>
      </p:sp>
      <p:sp>
        <p:nvSpPr>
          <p:cNvPr id="37" name="TextBox 36"/>
          <p:cNvSpPr txBox="1"/>
          <p:nvPr/>
        </p:nvSpPr>
        <p:spPr>
          <a:xfrm>
            <a:off x="8522208" y="2926080"/>
            <a:ext cx="3429000" cy="274320"/>
          </a:xfrm>
          <a:prstGeom prst="rect">
            <a:avLst/>
          </a:prstGeom>
          <a:noFill/>
        </p:spPr>
        <p:txBody>
          <a:bodyPr wrap="square" lIns="0" rIns="0" tIns="0" bIns="0" anchor="t">
            <a:spAutoFit/>
          </a:bodyPr>
          <a:lstStyle/>
          <a:p>
            <a:pPr algn="l"/>
            <a:r>
              <a:rPr sz="1100" b="1" i="0">
                <a:solidFill>
                  <a:srgbClr val="14B8A6"/>
                </a:solidFill>
                <a:latin typeface="Calibri"/>
              </a:rPr>
              <a:t>Working sessions</a:t>
            </a:r>
          </a:p>
        </p:txBody>
      </p:sp>
      <p:sp>
        <p:nvSpPr>
          <p:cNvPr id="38" name="TextBox 37"/>
          <p:cNvSpPr txBox="1"/>
          <p:nvPr/>
        </p:nvSpPr>
        <p:spPr>
          <a:xfrm>
            <a:off x="8522208" y="3200400"/>
            <a:ext cx="3429000" cy="457200"/>
          </a:xfrm>
          <a:prstGeom prst="rect">
            <a:avLst/>
          </a:prstGeom>
          <a:noFill/>
        </p:spPr>
        <p:txBody>
          <a:bodyPr wrap="square" lIns="0" rIns="0" tIns="0" bIns="0" anchor="t">
            <a:spAutoFit/>
          </a:bodyPr>
          <a:lstStyle/>
          <a:p>
            <a:pPr algn="l"/>
            <a:r>
              <a:rPr sz="1000" b="0" i="0">
                <a:solidFill>
                  <a:srgbClr val="1E293B"/>
                </a:solidFill>
                <a:latin typeface="Calibri"/>
              </a:rPr>
              <a:t>Bi-weekly tech sync (lab cadence)</a:t>
            </a:r>
          </a:p>
        </p:txBody>
      </p:sp>
      <p:sp>
        <p:nvSpPr>
          <p:cNvPr id="39" name="TextBox 38"/>
          <p:cNvSpPr txBox="1"/>
          <p:nvPr/>
        </p:nvSpPr>
        <p:spPr>
          <a:xfrm>
            <a:off x="8522208" y="3703320"/>
            <a:ext cx="3429000" cy="274320"/>
          </a:xfrm>
          <a:prstGeom prst="rect">
            <a:avLst/>
          </a:prstGeom>
          <a:noFill/>
        </p:spPr>
        <p:txBody>
          <a:bodyPr wrap="square" lIns="0" rIns="0" tIns="0" bIns="0" anchor="t">
            <a:spAutoFit/>
          </a:bodyPr>
          <a:lstStyle/>
          <a:p>
            <a:pPr algn="l"/>
            <a:r>
              <a:rPr sz="1100" b="1" i="0">
                <a:solidFill>
                  <a:srgbClr val="14B8A6"/>
                </a:solidFill>
                <a:latin typeface="Calibri"/>
              </a:rPr>
              <a:t>Reporting</a:t>
            </a:r>
          </a:p>
        </p:txBody>
      </p:sp>
      <p:sp>
        <p:nvSpPr>
          <p:cNvPr id="40" name="TextBox 39"/>
          <p:cNvSpPr txBox="1"/>
          <p:nvPr/>
        </p:nvSpPr>
        <p:spPr>
          <a:xfrm>
            <a:off x="8522208" y="3977639"/>
            <a:ext cx="3429000" cy="457200"/>
          </a:xfrm>
          <a:prstGeom prst="rect">
            <a:avLst/>
          </a:prstGeom>
          <a:noFill/>
        </p:spPr>
        <p:txBody>
          <a:bodyPr wrap="square" lIns="0" rIns="0" tIns="0" bIns="0" anchor="t">
            <a:spAutoFit/>
          </a:bodyPr>
          <a:lstStyle/>
          <a:p>
            <a:pPr algn="l"/>
            <a:r>
              <a:rPr sz="1000" b="0" i="0">
                <a:solidFill>
                  <a:srgbClr val="1E293B"/>
                </a:solidFill>
                <a:latin typeface="Calibri"/>
              </a:rPr>
              <a:t>Joint quarterly report to Innovate UK</a:t>
            </a:r>
          </a:p>
        </p:txBody>
      </p:sp>
      <p:sp>
        <p:nvSpPr>
          <p:cNvPr id="41" name="TextBox 40"/>
          <p:cNvSpPr txBox="1"/>
          <p:nvPr/>
        </p:nvSpPr>
        <p:spPr>
          <a:xfrm>
            <a:off x="8522208" y="4480559"/>
            <a:ext cx="3429000" cy="274320"/>
          </a:xfrm>
          <a:prstGeom prst="rect">
            <a:avLst/>
          </a:prstGeom>
          <a:noFill/>
        </p:spPr>
        <p:txBody>
          <a:bodyPr wrap="square" lIns="0" rIns="0" tIns="0" bIns="0" anchor="t">
            <a:spAutoFit/>
          </a:bodyPr>
          <a:lstStyle/>
          <a:p>
            <a:pPr algn="l"/>
            <a:r>
              <a:rPr sz="1100" b="1" i="0">
                <a:solidFill>
                  <a:srgbClr val="14B8A6"/>
                </a:solidFill>
                <a:latin typeface="Calibri"/>
              </a:rPr>
              <a:t>Change control</a:t>
            </a:r>
          </a:p>
        </p:txBody>
      </p:sp>
      <p:sp>
        <p:nvSpPr>
          <p:cNvPr id="42" name="TextBox 41"/>
          <p:cNvSpPr txBox="1"/>
          <p:nvPr/>
        </p:nvSpPr>
        <p:spPr>
          <a:xfrm>
            <a:off x="8522208" y="4754879"/>
            <a:ext cx="3429000" cy="457200"/>
          </a:xfrm>
          <a:prstGeom prst="rect">
            <a:avLst/>
          </a:prstGeom>
          <a:noFill/>
        </p:spPr>
        <p:txBody>
          <a:bodyPr wrap="square" lIns="0" rIns="0" tIns="0" bIns="0" anchor="t">
            <a:spAutoFit/>
          </a:bodyPr>
          <a:lstStyle/>
          <a:p>
            <a:pPr algn="l"/>
            <a:r>
              <a:rPr sz="1000" b="0" i="0">
                <a:solidFill>
                  <a:srgbClr val="1E293B"/>
                </a:solidFill>
                <a:latin typeface="Calibri"/>
              </a:rPr>
              <a:t>Joint sign-off on any scope changes</a:t>
            </a:r>
          </a:p>
        </p:txBody>
      </p:sp>
      <p:sp>
        <p:nvSpPr>
          <p:cNvPr id="43" name="TextBox 42"/>
          <p:cNvSpPr txBox="1"/>
          <p:nvPr/>
        </p:nvSpPr>
        <p:spPr>
          <a:xfrm>
            <a:off x="8522208" y="5257799"/>
            <a:ext cx="3429000" cy="274320"/>
          </a:xfrm>
          <a:prstGeom prst="rect">
            <a:avLst/>
          </a:prstGeom>
          <a:noFill/>
        </p:spPr>
        <p:txBody>
          <a:bodyPr wrap="square" lIns="0" rIns="0" tIns="0" bIns="0" anchor="t">
            <a:spAutoFit/>
          </a:bodyPr>
          <a:lstStyle/>
          <a:p>
            <a:pPr algn="l"/>
            <a:r>
              <a:rPr sz="1100" b="1" i="0">
                <a:solidFill>
                  <a:srgbClr val="14B8A6"/>
                </a:solidFill>
                <a:latin typeface="Calibri"/>
              </a:rPr>
              <a:t>Decision rights</a:t>
            </a:r>
          </a:p>
        </p:txBody>
      </p:sp>
      <p:sp>
        <p:nvSpPr>
          <p:cNvPr id="44" name="TextBox 43"/>
          <p:cNvSpPr txBox="1"/>
          <p:nvPr/>
        </p:nvSpPr>
        <p:spPr>
          <a:xfrm>
            <a:off x="8522208" y="5532119"/>
            <a:ext cx="3429000" cy="457200"/>
          </a:xfrm>
          <a:prstGeom prst="rect">
            <a:avLst/>
          </a:prstGeom>
          <a:noFill/>
        </p:spPr>
        <p:txBody>
          <a:bodyPr wrap="square" lIns="0" rIns="0" tIns="0" bIns="0" anchor="t">
            <a:spAutoFit/>
          </a:bodyPr>
          <a:lstStyle/>
          <a:p>
            <a:pPr algn="l"/>
            <a:r>
              <a:rPr sz="1000" b="0" i="0">
                <a:solidFill>
                  <a:srgbClr val="1E293B"/>
                </a:solidFill>
                <a:latin typeface="Calibri"/>
              </a:rPr>
              <a:t>OTShield owns delivery; QUB owns lab methodology</a:t>
            </a:r>
          </a:p>
        </p:txBody>
      </p:sp>
      <p:sp>
        <p:nvSpPr>
          <p:cNvPr id="45" name="TextBox 44"/>
          <p:cNvSpPr txBox="1"/>
          <p:nvPr/>
        </p:nvSpPr>
        <p:spPr>
          <a:xfrm>
            <a:off x="457200" y="6309360"/>
            <a:ext cx="11247120" cy="228600"/>
          </a:xfrm>
          <a:prstGeom prst="rect">
            <a:avLst/>
          </a:prstGeom>
          <a:noFill/>
        </p:spPr>
        <p:txBody>
          <a:bodyPr wrap="square" lIns="0" rIns="0" tIns="0" bIns="0" anchor="t">
            <a:spAutoFit/>
          </a:bodyPr>
          <a:lstStyle/>
          <a:p>
            <a:pPr algn="ctr"/>
            <a:r>
              <a:rPr sz="1000" b="0" i="1">
                <a:solidFill>
                  <a:srgbClr val="64748B"/>
                </a:solidFill>
                <a:latin typeface="Calibri"/>
              </a:rPr>
              <a:t>We'll formalise these in a Subcontract Agreement and Data Sharing Agreement before the Calluna submission.</a:t>
            </a:r>
          </a:p>
        </p:txBody>
      </p:sp>
      <p:sp>
        <p:nvSpPr>
          <p:cNvPr id="46" name="TextBox 45"/>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47" name="TextBox 46"/>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2860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84048"/>
            <a:ext cx="7315200" cy="274320"/>
          </a:xfrm>
          <a:prstGeom prst="rect">
            <a:avLst/>
          </a:prstGeom>
          <a:noFill/>
        </p:spPr>
        <p:txBody>
          <a:bodyPr wrap="square" lIns="0" rIns="0" tIns="0" bIns="0" anchor="t">
            <a:spAutoFit/>
          </a:bodyPr>
          <a:lstStyle/>
          <a:p>
            <a:pPr algn="l"/>
            <a:r>
              <a:rPr sz="1000" b="1" i="0">
                <a:solidFill>
                  <a:srgbClr val="1C7293"/>
                </a:solidFill>
                <a:latin typeface="Calibri"/>
              </a:rPr>
              <a:t>NEXT STEPS</a:t>
            </a:r>
          </a:p>
        </p:txBody>
      </p:sp>
      <p:sp>
        <p:nvSpPr>
          <p:cNvPr id="5" name="TextBox 4"/>
          <p:cNvSpPr txBox="1"/>
          <p:nvPr/>
        </p:nvSpPr>
        <p:spPr>
          <a:xfrm>
            <a:off x="457200" y="685800"/>
            <a:ext cx="11247120" cy="640080"/>
          </a:xfrm>
          <a:prstGeom prst="rect">
            <a:avLst/>
          </a:prstGeom>
          <a:noFill/>
        </p:spPr>
        <p:txBody>
          <a:bodyPr wrap="square" lIns="0" rIns="0" tIns="0" bIns="0" anchor="t">
            <a:spAutoFit/>
          </a:bodyPr>
          <a:lstStyle/>
          <a:p>
            <a:pPr algn="l"/>
            <a:r>
              <a:rPr sz="2800" b="1" i="0">
                <a:solidFill>
                  <a:srgbClr val="21295C"/>
                </a:solidFill>
                <a:latin typeface="Calibri"/>
              </a:rPr>
              <a:t>What we'd like to walk away with today</a:t>
            </a:r>
          </a:p>
        </p:txBody>
      </p:sp>
      <p:sp>
        <p:nvSpPr>
          <p:cNvPr id="6" name="Rounded Rectangle 5"/>
          <p:cNvSpPr/>
          <p:nvPr/>
        </p:nvSpPr>
        <p:spPr>
          <a:xfrm>
            <a:off x="457200" y="1645920"/>
            <a:ext cx="3794760" cy="36576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920240"/>
            <a:ext cx="2286000" cy="36576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0240"/>
            <a:ext cx="2286000" cy="365760"/>
          </a:xfrm>
          <a:prstGeom prst="rect">
            <a:avLst/>
          </a:prstGeom>
          <a:noFill/>
        </p:spPr>
        <p:txBody>
          <a:bodyPr wrap="square" lIns="0" rIns="0" tIns="0" bIns="0" anchor="ctr">
            <a:spAutoFit/>
          </a:bodyPr>
          <a:lstStyle/>
          <a:p>
            <a:pPr algn="ctr"/>
            <a:r>
              <a:rPr sz="1000" b="1" i="0">
                <a:solidFill>
                  <a:srgbClr val="FFFFFF"/>
                </a:solidFill>
                <a:latin typeface="Calibri"/>
              </a:rPr>
              <a:t>TODAY</a:t>
            </a:r>
          </a:p>
        </p:txBody>
      </p:sp>
      <p:sp>
        <p:nvSpPr>
          <p:cNvPr id="9" name="TextBox 8"/>
          <p:cNvSpPr txBox="1"/>
          <p:nvPr/>
        </p:nvSpPr>
        <p:spPr>
          <a:xfrm>
            <a:off x="731520" y="2468880"/>
            <a:ext cx="3246120" cy="914400"/>
          </a:xfrm>
          <a:prstGeom prst="rect">
            <a:avLst/>
          </a:prstGeom>
          <a:noFill/>
        </p:spPr>
        <p:txBody>
          <a:bodyPr wrap="square" lIns="0" rIns="0" tIns="0" bIns="0" anchor="t">
            <a:spAutoFit/>
          </a:bodyPr>
          <a:lstStyle/>
          <a:p>
            <a:pPr algn="l"/>
            <a:r>
              <a:rPr sz="1800" b="1" i="0">
                <a:solidFill>
                  <a:srgbClr val="21295C"/>
                </a:solidFill>
                <a:latin typeface="Calibri"/>
              </a:rPr>
              <a:t>Confirm interest in principle</a:t>
            </a:r>
          </a:p>
        </p:txBody>
      </p:sp>
      <p:sp>
        <p:nvSpPr>
          <p:cNvPr id="10" name="TextBox 9"/>
          <p:cNvSpPr txBox="1"/>
          <p:nvPr/>
        </p:nvSpPr>
        <p:spPr>
          <a:xfrm>
            <a:off x="731520" y="3520440"/>
            <a:ext cx="3246120" cy="1645920"/>
          </a:xfrm>
          <a:prstGeom prst="rect">
            <a:avLst/>
          </a:prstGeom>
          <a:noFill/>
        </p:spPr>
        <p:txBody>
          <a:bodyPr wrap="square" lIns="0" rIns="0" tIns="0" bIns="0" anchor="t">
            <a:spAutoFit/>
          </a:bodyPr>
          <a:lstStyle/>
          <a:p>
            <a:pPr algn="l"/>
            <a:r>
              <a:rPr sz="1200" b="0" i="0">
                <a:solidFill>
                  <a:srgbClr val="1E293B"/>
                </a:solidFill>
                <a:latin typeface="Calibri"/>
              </a:rPr>
              <a:t>A signal that QUB sees this as a fit — enough for us to keep building the bid around the partnership.</a:t>
            </a:r>
          </a:p>
        </p:txBody>
      </p:sp>
      <p:sp>
        <p:nvSpPr>
          <p:cNvPr id="11" name="Rounded Rectangle 10"/>
          <p:cNvSpPr/>
          <p:nvPr/>
        </p:nvSpPr>
        <p:spPr>
          <a:xfrm>
            <a:off x="4398264" y="1645920"/>
            <a:ext cx="3794760" cy="36576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72584" y="1920240"/>
            <a:ext cx="2286000" cy="3657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72584" y="1920240"/>
            <a:ext cx="2286000" cy="365760"/>
          </a:xfrm>
          <a:prstGeom prst="rect">
            <a:avLst/>
          </a:prstGeom>
          <a:noFill/>
        </p:spPr>
        <p:txBody>
          <a:bodyPr wrap="square" lIns="0" rIns="0" tIns="0" bIns="0" anchor="ctr">
            <a:spAutoFit/>
          </a:bodyPr>
          <a:lstStyle/>
          <a:p>
            <a:pPr algn="ctr"/>
            <a:r>
              <a:rPr sz="1000" b="1" i="0">
                <a:solidFill>
                  <a:srgbClr val="FFFFFF"/>
                </a:solidFill>
                <a:latin typeface="Calibri"/>
              </a:rPr>
              <a:t>NEXT 2 WEEKS</a:t>
            </a:r>
          </a:p>
        </p:txBody>
      </p:sp>
      <p:sp>
        <p:nvSpPr>
          <p:cNvPr id="14" name="TextBox 13"/>
          <p:cNvSpPr txBox="1"/>
          <p:nvPr/>
        </p:nvSpPr>
        <p:spPr>
          <a:xfrm>
            <a:off x="4672584" y="2468880"/>
            <a:ext cx="3246120" cy="914400"/>
          </a:xfrm>
          <a:prstGeom prst="rect">
            <a:avLst/>
          </a:prstGeom>
          <a:noFill/>
        </p:spPr>
        <p:txBody>
          <a:bodyPr wrap="square" lIns="0" rIns="0" tIns="0" bIns="0" anchor="t">
            <a:spAutoFit/>
          </a:bodyPr>
          <a:lstStyle/>
          <a:p>
            <a:pPr algn="l"/>
            <a:r>
              <a:rPr sz="1800" b="1" i="0">
                <a:solidFill>
                  <a:srgbClr val="21295C"/>
                </a:solidFill>
                <a:latin typeface="Calibri"/>
              </a:rPr>
              <a:t>Letter of Intent</a:t>
            </a:r>
          </a:p>
        </p:txBody>
      </p:sp>
      <p:sp>
        <p:nvSpPr>
          <p:cNvPr id="15" name="TextBox 14"/>
          <p:cNvSpPr txBox="1"/>
          <p:nvPr/>
        </p:nvSpPr>
        <p:spPr>
          <a:xfrm>
            <a:off x="4672584" y="3520440"/>
            <a:ext cx="3246120" cy="1645920"/>
          </a:xfrm>
          <a:prstGeom prst="rect">
            <a:avLst/>
          </a:prstGeom>
          <a:noFill/>
        </p:spPr>
        <p:txBody>
          <a:bodyPr wrap="square" lIns="0" rIns="0" tIns="0" bIns="0" anchor="t">
            <a:spAutoFit/>
          </a:bodyPr>
          <a:lstStyle/>
          <a:p>
            <a:pPr algn="l"/>
            <a:r>
              <a:rPr sz="1200" b="0" i="0">
                <a:solidFill>
                  <a:srgbClr val="1E293B"/>
                </a:solidFill>
                <a:latin typeface="Calibri"/>
              </a:rPr>
              <a:t>A non-binding LoI from QUB confirming intention to subcontract under specific terms. Critical evidence for the Innovate UK submission.</a:t>
            </a:r>
          </a:p>
        </p:txBody>
      </p:sp>
      <p:sp>
        <p:nvSpPr>
          <p:cNvPr id="16" name="Rounded Rectangle 15"/>
          <p:cNvSpPr/>
          <p:nvPr/>
        </p:nvSpPr>
        <p:spPr>
          <a:xfrm>
            <a:off x="8339328" y="1645920"/>
            <a:ext cx="3794760" cy="3657600"/>
          </a:xfrm>
          <a:prstGeom prst="roundRect">
            <a:avLst>
              <a:gd name="adj" fmla="val 8000"/>
            </a:avLst>
          </a:prstGeom>
          <a:solidFill>
            <a:srgbClr val="FFFFFF"/>
          </a:solidFill>
          <a:ln w="9525">
            <a:solidFill>
              <a:srgbClr val="D1D9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13648" y="1920240"/>
            <a:ext cx="2286000" cy="36576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13648" y="1920240"/>
            <a:ext cx="2286000" cy="365760"/>
          </a:xfrm>
          <a:prstGeom prst="rect">
            <a:avLst/>
          </a:prstGeom>
          <a:noFill/>
        </p:spPr>
        <p:txBody>
          <a:bodyPr wrap="square" lIns="0" rIns="0" tIns="0" bIns="0" anchor="ctr">
            <a:spAutoFit/>
          </a:bodyPr>
          <a:lstStyle/>
          <a:p>
            <a:pPr algn="ctr"/>
            <a:r>
              <a:rPr sz="1000" b="1" i="0">
                <a:solidFill>
                  <a:srgbClr val="FFFFFF"/>
                </a:solidFill>
                <a:latin typeface="Calibri"/>
              </a:rPr>
              <a:t>BEFORE SUBMISSION</a:t>
            </a:r>
          </a:p>
        </p:txBody>
      </p:sp>
      <p:sp>
        <p:nvSpPr>
          <p:cNvPr id="19" name="TextBox 18"/>
          <p:cNvSpPr txBox="1"/>
          <p:nvPr/>
        </p:nvSpPr>
        <p:spPr>
          <a:xfrm>
            <a:off x="8613648" y="2468880"/>
            <a:ext cx="3246120" cy="914400"/>
          </a:xfrm>
          <a:prstGeom prst="rect">
            <a:avLst/>
          </a:prstGeom>
          <a:noFill/>
        </p:spPr>
        <p:txBody>
          <a:bodyPr wrap="square" lIns="0" rIns="0" tIns="0" bIns="0" anchor="t">
            <a:spAutoFit/>
          </a:bodyPr>
          <a:lstStyle/>
          <a:p>
            <a:pPr algn="l"/>
            <a:r>
              <a:rPr sz="1800" b="1" i="0">
                <a:solidFill>
                  <a:srgbClr val="21295C"/>
                </a:solidFill>
                <a:latin typeface="Calibri"/>
              </a:rPr>
              <a:t>Warm-intro to Energy operator</a:t>
            </a:r>
          </a:p>
        </p:txBody>
      </p:sp>
      <p:sp>
        <p:nvSpPr>
          <p:cNvPr id="20" name="TextBox 19"/>
          <p:cNvSpPr txBox="1"/>
          <p:nvPr/>
        </p:nvSpPr>
        <p:spPr>
          <a:xfrm>
            <a:off x="8613648" y="3520440"/>
            <a:ext cx="3246120" cy="1645920"/>
          </a:xfrm>
          <a:prstGeom prst="rect">
            <a:avLst/>
          </a:prstGeom>
          <a:noFill/>
        </p:spPr>
        <p:txBody>
          <a:bodyPr wrap="square" lIns="0" rIns="0" tIns="0" bIns="0" anchor="t">
            <a:spAutoFit/>
          </a:bodyPr>
          <a:lstStyle/>
          <a:p>
            <a:pPr algn="l"/>
            <a:r>
              <a:rPr sz="1200" b="0" i="0">
                <a:solidFill>
                  <a:srgbClr val="1E293B"/>
                </a:solidFill>
                <a:latin typeface="Calibri"/>
              </a:rPr>
              <a:t>CSIT's existing relationship with NIE Networks / SONI / UK Energy operator — even a 30-min intro call would unlock end-user LoI.</a:t>
            </a:r>
          </a:p>
        </p:txBody>
      </p:sp>
      <p:sp>
        <p:nvSpPr>
          <p:cNvPr id="21" name="Rounded Rectangle 20"/>
          <p:cNvSpPr/>
          <p:nvPr/>
        </p:nvSpPr>
        <p:spPr>
          <a:xfrm>
            <a:off x="457200" y="5577840"/>
            <a:ext cx="11247120" cy="960120"/>
          </a:xfrm>
          <a:prstGeom prst="roundRect">
            <a:avLst>
              <a:gd name="adj" fmla="val 8000"/>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669280"/>
            <a:ext cx="10698480" cy="320040"/>
          </a:xfrm>
          <a:prstGeom prst="rect">
            <a:avLst/>
          </a:prstGeom>
          <a:noFill/>
        </p:spPr>
        <p:txBody>
          <a:bodyPr wrap="square" lIns="0" rIns="0" tIns="0" bIns="0" anchor="t">
            <a:spAutoFit/>
          </a:bodyPr>
          <a:lstStyle/>
          <a:p>
            <a:pPr algn="l"/>
            <a:r>
              <a:rPr sz="1000" b="1" i="0">
                <a:solidFill>
                  <a:srgbClr val="14B8A6"/>
                </a:solidFill>
                <a:latin typeface="Calibri"/>
              </a:rPr>
              <a:t>OUR DEADLINE</a:t>
            </a:r>
          </a:p>
        </p:txBody>
      </p:sp>
      <p:sp>
        <p:nvSpPr>
          <p:cNvPr id="23" name="TextBox 22"/>
          <p:cNvSpPr txBox="1"/>
          <p:nvPr/>
        </p:nvSpPr>
        <p:spPr>
          <a:xfrm>
            <a:off x="731520" y="5943600"/>
            <a:ext cx="10698480" cy="548640"/>
          </a:xfrm>
          <a:prstGeom prst="rect">
            <a:avLst/>
          </a:prstGeom>
          <a:noFill/>
        </p:spPr>
        <p:txBody>
          <a:bodyPr wrap="square" lIns="0" rIns="0" tIns="0" bIns="0" anchor="t">
            <a:spAutoFit/>
          </a:bodyPr>
          <a:lstStyle/>
          <a:p>
            <a:pPr algn="l"/>
            <a:r>
              <a:rPr sz="1300" b="1" i="0">
                <a:solidFill>
                  <a:srgbClr val="FFFFFF"/>
                </a:solidFill>
                <a:latin typeface="Calibri"/>
              </a:rPr>
              <a:t>Calluna submission window — Innovate UK closes at 11am UK time on the published deadline.</a:t>
            </a:r>
          </a:p>
        </p:txBody>
      </p:sp>
      <p:sp>
        <p:nvSpPr>
          <p:cNvPr id="24" name="TextBox 23"/>
          <p:cNvSpPr txBox="1"/>
          <p:nvPr/>
        </p:nvSpPr>
        <p:spPr>
          <a:xfrm>
            <a:off x="731520" y="6263640"/>
            <a:ext cx="10698480" cy="274320"/>
          </a:xfrm>
          <a:prstGeom prst="rect">
            <a:avLst/>
          </a:prstGeom>
          <a:noFill/>
        </p:spPr>
        <p:txBody>
          <a:bodyPr wrap="square" lIns="0" rIns="0" tIns="0" bIns="0" anchor="t">
            <a:spAutoFit/>
          </a:bodyPr>
          <a:lstStyle/>
          <a:p>
            <a:pPr algn="l"/>
            <a:r>
              <a:rPr sz="1100" b="0" i="1">
                <a:solidFill>
                  <a:srgbClr val="CADCFC"/>
                </a:solidFill>
                <a:latin typeface="Calibri"/>
              </a:rPr>
              <a:t>We're working back from that: LoI in place 2 weeks before, end-user confirmed by then too.</a:t>
            </a:r>
          </a:p>
        </p:txBody>
      </p:sp>
      <p:sp>
        <p:nvSpPr>
          <p:cNvPr id="25" name="TextBox 24"/>
          <p:cNvSpPr txBox="1"/>
          <p:nvPr/>
        </p:nvSpPr>
        <p:spPr>
          <a:xfrm>
            <a:off x="457200" y="6565392"/>
            <a:ext cx="5486400" cy="228600"/>
          </a:xfrm>
          <a:prstGeom prst="rect">
            <a:avLst/>
          </a:prstGeom>
          <a:noFill/>
        </p:spPr>
        <p:txBody>
          <a:bodyPr wrap="square" lIns="0" rIns="0" tIns="0" bIns="0" anchor="t">
            <a:spAutoFit/>
          </a:bodyPr>
          <a:lstStyle/>
          <a:p>
            <a:pPr algn="l"/>
            <a:r>
              <a:rPr sz="900" b="0" i="0">
                <a:solidFill>
                  <a:srgbClr val="64748B"/>
                </a:solidFill>
                <a:latin typeface="Calibri"/>
              </a:rPr>
              <a:t>OTShield  |  Confidential — for Queen's University Belfast</a:t>
            </a:r>
          </a:p>
        </p:txBody>
      </p:sp>
      <p:sp>
        <p:nvSpPr>
          <p:cNvPr id="26" name="TextBox 25"/>
          <p:cNvSpPr txBox="1"/>
          <p:nvPr/>
        </p:nvSpPr>
        <p:spPr>
          <a:xfrm>
            <a:off x="11521440" y="6565392"/>
            <a:ext cx="594360" cy="228600"/>
          </a:xfrm>
          <a:prstGeom prst="rect">
            <a:avLst/>
          </a:prstGeom>
          <a:noFill/>
        </p:spPr>
        <p:txBody>
          <a:bodyPr wrap="square" lIns="0" rIns="0" tIns="0" bIns="0" anchor="t">
            <a:spAutoFit/>
          </a:bodyPr>
          <a:lstStyle/>
          <a:p>
            <a:pPr algn="r"/>
            <a:r>
              <a:rPr sz="900" b="0" i="0">
                <a:solidFill>
                  <a:srgbClr val="64748B"/>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0"/>
            <a:ext cx="1673352" cy="201168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914400" cy="109728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57200"/>
            <a:ext cx="3657600" cy="365760"/>
          </a:xfrm>
          <a:prstGeom prst="rect">
            <a:avLst/>
          </a:prstGeom>
          <a:noFill/>
        </p:spPr>
        <p:txBody>
          <a:bodyPr wrap="square" lIns="0" rIns="0" tIns="0" bIns="0" anchor="t">
            <a:spAutoFit/>
          </a:bodyPr>
          <a:lstStyle/>
          <a:p>
            <a:pPr algn="l"/>
            <a:r>
              <a:rPr sz="1400" b="1" i="0">
                <a:solidFill>
                  <a:srgbClr val="14B8A6"/>
                </a:solidFill>
                <a:latin typeface="Calibri"/>
              </a:rPr>
              <a:t>OTSHIELD</a:t>
            </a:r>
          </a:p>
        </p:txBody>
      </p:sp>
      <p:sp>
        <p:nvSpPr>
          <p:cNvPr id="7" name="TextBox 6"/>
          <p:cNvSpPr txBox="1"/>
          <p:nvPr/>
        </p:nvSpPr>
        <p:spPr>
          <a:xfrm>
            <a:off x="640080" y="2011680"/>
            <a:ext cx="10972800" cy="914400"/>
          </a:xfrm>
          <a:prstGeom prst="rect">
            <a:avLst/>
          </a:prstGeom>
          <a:noFill/>
        </p:spPr>
        <p:txBody>
          <a:bodyPr wrap="square" lIns="0" rIns="0" tIns="0" bIns="0" anchor="t">
            <a:spAutoFit/>
          </a:bodyPr>
          <a:lstStyle/>
          <a:p>
            <a:pPr algn="l"/>
            <a:r>
              <a:rPr sz="2000" b="0" i="0">
                <a:solidFill>
                  <a:srgbClr val="14B8A6"/>
                </a:solidFill>
                <a:latin typeface="Calibri"/>
              </a:rPr>
              <a:t>Questions, thoughts, concerns?</a:t>
            </a:r>
          </a:p>
        </p:txBody>
      </p:sp>
      <p:sp>
        <p:nvSpPr>
          <p:cNvPr id="8" name="TextBox 7"/>
          <p:cNvSpPr txBox="1"/>
          <p:nvPr/>
        </p:nvSpPr>
        <p:spPr>
          <a:xfrm>
            <a:off x="640080" y="2468880"/>
            <a:ext cx="10972800" cy="1463040"/>
          </a:xfrm>
          <a:prstGeom prst="rect">
            <a:avLst/>
          </a:prstGeom>
          <a:noFill/>
        </p:spPr>
        <p:txBody>
          <a:bodyPr wrap="square" lIns="0" rIns="0" tIns="0" bIns="0" anchor="t">
            <a:spAutoFit/>
          </a:bodyPr>
          <a:lstStyle/>
          <a:p>
            <a:pPr algn="l"/>
            <a:r>
              <a:rPr sz="5200" b="1" i="0">
                <a:solidFill>
                  <a:srgbClr val="FFFFFF"/>
                </a:solidFill>
                <a:latin typeface="Calibri"/>
              </a:rPr>
              <a:t>Let's discuss.</a:t>
            </a:r>
          </a:p>
        </p:txBody>
      </p:sp>
      <p:sp>
        <p:nvSpPr>
          <p:cNvPr id="9" name="Rectangle 8"/>
          <p:cNvSpPr/>
          <p:nvPr/>
        </p:nvSpPr>
        <p:spPr>
          <a:xfrm>
            <a:off x="640080" y="4114800"/>
            <a:ext cx="2743200" cy="2743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389120"/>
            <a:ext cx="9144000" cy="1828800"/>
          </a:xfrm>
          <a:prstGeom prst="rect">
            <a:avLst/>
          </a:prstGeom>
          <a:noFill/>
        </p:spPr>
        <p:txBody>
          <a:bodyPr wrap="square" lIns="0" rIns="0" tIns="0" bIns="0" anchor="t">
            <a:spAutoFit/>
          </a:bodyPr>
          <a:lstStyle/>
          <a:p>
            <a:pPr algn="l">
              <a:lnSpc>
                <a:spcPct val="120000"/>
              </a:lnSpc>
              <a:spcAft>
                <a:spcPts val="200"/>
              </a:spcAft>
            </a:pPr>
            <a:r>
              <a:rPr sz="2000" b="1" i="0">
                <a:solidFill>
                  <a:srgbClr val="FFFFFF"/>
                </a:solidFill>
                <a:latin typeface="Calibri"/>
              </a:rPr>
              <a:t>Fatma Erturk</a:t>
            </a:r>
          </a:p>
          <a:p>
            <a:pPr algn="l">
              <a:lnSpc>
                <a:spcPct val="120000"/>
              </a:lnSpc>
              <a:spcAft>
                <a:spcPts val="800"/>
              </a:spcAft>
            </a:pPr>
            <a:r>
              <a:rPr sz="1300" b="0" i="1">
                <a:solidFill>
                  <a:srgbClr val="CADCFC"/>
                </a:solidFill>
                <a:latin typeface="Calibri"/>
              </a:rPr>
              <a:t>Founder &amp; CEO, Safetech Global Ltd (trading as OTShield)</a:t>
            </a:r>
          </a:p>
          <a:p>
            <a:pPr algn="l">
              <a:lnSpc>
                <a:spcPct val="120000"/>
              </a:lnSpc>
              <a:spcAft>
                <a:spcPts val="200"/>
              </a:spcAft>
            </a:pPr>
            <a:r>
              <a:rPr sz="1400" b="1" i="0">
                <a:solidFill>
                  <a:srgbClr val="14B8A6"/>
                </a:solidFill>
                <a:latin typeface="Calibri"/>
              </a:rPr>
              <a:t>fatma.erturk@otshield.io</a:t>
            </a:r>
          </a:p>
          <a:p>
            <a:pPr algn="l">
              <a:lnSpc>
                <a:spcPct val="120000"/>
              </a:lnSpc>
              <a:spcAft>
                <a:spcPts val="200"/>
              </a:spcAft>
            </a:pPr>
            <a:r>
              <a:rPr sz="1200" b="0" i="0">
                <a:solidFill>
                  <a:srgbClr val="CADCFC"/>
                </a:solidFill>
                <a:latin typeface="Calibri"/>
              </a:rPr>
              <a:t>otshield.io  |  +44 (0) 7453 641903</a:t>
            </a:r>
          </a:p>
        </p:txBody>
      </p:sp>
      <p:sp>
        <p:nvSpPr>
          <p:cNvPr id="11" name="TextBox 10"/>
          <p:cNvSpPr txBox="1"/>
          <p:nvPr/>
        </p:nvSpPr>
        <p:spPr>
          <a:xfrm>
            <a:off x="640080" y="6400800"/>
            <a:ext cx="9144000" cy="274320"/>
          </a:xfrm>
          <a:prstGeom prst="rect">
            <a:avLst/>
          </a:prstGeom>
          <a:noFill/>
        </p:spPr>
        <p:txBody>
          <a:bodyPr wrap="square" lIns="0" rIns="0" tIns="0" bIns="0" anchor="t">
            <a:spAutoFit/>
          </a:bodyPr>
          <a:lstStyle/>
          <a:p>
            <a:pPr algn="l"/>
            <a:r>
              <a:rPr sz="1100" b="0" i="1">
                <a:solidFill>
                  <a:srgbClr val="CADCFC"/>
                </a:solidFill>
                <a:latin typeface="Calibri"/>
              </a:rPr>
              <a:t>Thank you to Queen's University Belfast — Centre for Secure Information Technologies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